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tags/tag35.xml" ContentType="application/vnd.openxmlformats-officedocument.presentationml.tags+xml"/>
  <Override PartName="/ppt/notesSlides/notesSlide36.xml" ContentType="application/vnd.openxmlformats-officedocument.presentationml.notesSlide+xml"/>
  <Override PartName="/ppt/tags/tag36.xml" ContentType="application/vnd.openxmlformats-officedocument.presentationml.tags+xml"/>
  <Override PartName="/ppt/notesSlides/notesSlide37.xml" ContentType="application/vnd.openxmlformats-officedocument.presentationml.notesSlide+xml"/>
  <Override PartName="/ppt/tags/tag37.xml" ContentType="application/vnd.openxmlformats-officedocument.presentationml.tags+xml"/>
  <Override PartName="/ppt/notesSlides/notesSlide38.xml" ContentType="application/vnd.openxmlformats-officedocument.presentationml.notesSlide+xml"/>
  <Override PartName="/ppt/tags/tag38.xml" ContentType="application/vnd.openxmlformats-officedocument.presentationml.tags+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 id="2147484054" r:id="rId2"/>
  </p:sldMasterIdLst>
  <p:notesMasterIdLst>
    <p:notesMasterId r:id="rId56"/>
  </p:notesMasterIdLst>
  <p:handoutMasterIdLst>
    <p:handoutMasterId r:id="rId57"/>
  </p:handoutMasterIdLst>
  <p:sldIdLst>
    <p:sldId id="295" r:id="rId3"/>
    <p:sldId id="326" r:id="rId4"/>
    <p:sldId id="318" r:id="rId5"/>
    <p:sldId id="319" r:id="rId6"/>
    <p:sldId id="292" r:id="rId7"/>
    <p:sldId id="263" r:id="rId8"/>
    <p:sldId id="262" r:id="rId9"/>
    <p:sldId id="267" r:id="rId10"/>
    <p:sldId id="265" r:id="rId11"/>
    <p:sldId id="293" r:id="rId12"/>
    <p:sldId id="324" r:id="rId13"/>
    <p:sldId id="294" r:id="rId14"/>
    <p:sldId id="320" r:id="rId15"/>
    <p:sldId id="321" r:id="rId16"/>
    <p:sldId id="322" r:id="rId17"/>
    <p:sldId id="379" r:id="rId18"/>
    <p:sldId id="336" r:id="rId19"/>
    <p:sldId id="338" r:id="rId20"/>
    <p:sldId id="339" r:id="rId21"/>
    <p:sldId id="340" r:id="rId22"/>
    <p:sldId id="341" r:id="rId23"/>
    <p:sldId id="381" r:id="rId24"/>
    <p:sldId id="382" r:id="rId25"/>
    <p:sldId id="383" r:id="rId26"/>
    <p:sldId id="384" r:id="rId27"/>
    <p:sldId id="342" r:id="rId28"/>
    <p:sldId id="343" r:id="rId29"/>
    <p:sldId id="344" r:id="rId30"/>
    <p:sldId id="345" r:id="rId31"/>
    <p:sldId id="346" r:id="rId32"/>
    <p:sldId id="347" r:id="rId33"/>
    <p:sldId id="348" r:id="rId34"/>
    <p:sldId id="349" r:id="rId35"/>
    <p:sldId id="350" r:id="rId36"/>
    <p:sldId id="351" r:id="rId37"/>
    <p:sldId id="352" r:id="rId38"/>
    <p:sldId id="353" r:id="rId39"/>
    <p:sldId id="354" r:id="rId40"/>
    <p:sldId id="356" r:id="rId41"/>
    <p:sldId id="357" r:id="rId42"/>
    <p:sldId id="380" r:id="rId43"/>
    <p:sldId id="359" r:id="rId44"/>
    <p:sldId id="360" r:id="rId45"/>
    <p:sldId id="361" r:id="rId46"/>
    <p:sldId id="362" r:id="rId47"/>
    <p:sldId id="363" r:id="rId48"/>
    <p:sldId id="364" r:id="rId49"/>
    <p:sldId id="365" r:id="rId50"/>
    <p:sldId id="366" r:id="rId51"/>
    <p:sldId id="368" r:id="rId52"/>
    <p:sldId id="369" r:id="rId53"/>
    <p:sldId id="370" r:id="rId54"/>
    <p:sldId id="371" r:id="rId55"/>
  </p:sldIdLst>
  <p:sldSz cx="9144000" cy="6858000" type="screen4x3"/>
  <p:notesSz cx="6858000" cy="9144000"/>
  <p:defaultTex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25433A"/>
    <a:srgbClr val="333333"/>
    <a:srgbClr val="777777"/>
    <a:srgbClr val="89FFFF"/>
    <a:srgbClr val="33CCCC"/>
    <a:srgbClr val="008080"/>
    <a:srgbClr val="C9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70" autoAdjust="0"/>
    <p:restoredTop sz="99644" autoAdjust="0"/>
  </p:normalViewPr>
  <p:slideViewPr>
    <p:cSldViewPr>
      <p:cViewPr varScale="1">
        <p:scale>
          <a:sx n="63" d="100"/>
          <a:sy n="63" d="100"/>
        </p:scale>
        <p:origin x="676" y="32"/>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832" y="-90"/>
      </p:cViewPr>
      <p:guideLst>
        <p:guide orient="horz" pos="2880"/>
        <p:guide pos="2160"/>
      </p:guideLst>
    </p:cSldViewPr>
  </p:notes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_rels/viewProps.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Arial" charset="0"/>
              </a:defRPr>
            </a:lvl1pPr>
          </a:lstStyle>
          <a:p>
            <a:pPr>
              <a:defRPr/>
            </a:pPr>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cs typeface="Arial" charset="0"/>
              </a:defRPr>
            </a:lvl1pPr>
          </a:lstStyle>
          <a:p>
            <a:pPr>
              <a:defRPr/>
            </a:pPr>
            <a:fld id="{CED74D2A-216B-4EDB-9E98-26A640C6D4CE}" type="datetimeFigureOut">
              <a:rPr lang="fr-FR"/>
              <a:pPr>
                <a:defRPr/>
              </a:pPr>
              <a:t>18/02/2025</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cs typeface="Arial" charset="0"/>
              </a:defRPr>
            </a:lvl1pPr>
          </a:lstStyle>
          <a:p>
            <a:pPr>
              <a:defRPr/>
            </a:pPr>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cs typeface="Arial" charset="0"/>
              </a:defRPr>
            </a:lvl1pPr>
          </a:lstStyle>
          <a:p>
            <a:pPr>
              <a:defRPr/>
            </a:pPr>
            <a:fld id="{86A3FE46-83C6-4080-8347-A72D71B0E639}" type="slidenum">
              <a:rPr lang="fr-FR"/>
              <a:pPr>
                <a:defRPr/>
              </a:pPr>
              <a:t>‹N°›</a:t>
            </a:fld>
            <a:endParaRPr lang="fr-FR"/>
          </a:p>
        </p:txBody>
      </p:sp>
    </p:spTree>
    <p:extLst>
      <p:ext uri="{BB962C8B-B14F-4D97-AF65-F5344CB8AC3E}">
        <p14:creationId xmlns:p14="http://schemas.microsoft.com/office/powerpoint/2010/main" val="660569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Arial" charset="0"/>
                <a:cs typeface="Arial" charset="0"/>
              </a:defRPr>
            </a:lvl1pPr>
          </a:lstStyle>
          <a:p>
            <a:pPr>
              <a:defRPr/>
            </a:pPr>
            <a:endParaRPr lang="fr-FR"/>
          </a:p>
        </p:txBody>
      </p:sp>
      <p:sp>
        <p:nvSpPr>
          <p:cNvPr id="296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Arial" charset="0"/>
                <a:cs typeface="Arial" charset="0"/>
              </a:defRPr>
            </a:lvl1pPr>
          </a:lstStyle>
          <a:p>
            <a:pPr>
              <a:defRPr/>
            </a:pPr>
            <a:endParaRPr lang="fr-FR"/>
          </a:p>
        </p:txBody>
      </p:sp>
      <p:sp>
        <p:nvSpPr>
          <p:cNvPr id="788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96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Arial" charset="0"/>
                <a:cs typeface="Arial" charset="0"/>
              </a:defRPr>
            </a:lvl1pPr>
          </a:lstStyle>
          <a:p>
            <a:pPr>
              <a:defRPr/>
            </a:pPr>
            <a:endParaRPr lang="fr-FR"/>
          </a:p>
        </p:txBody>
      </p:sp>
      <p:sp>
        <p:nvSpPr>
          <p:cNvPr id="296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Arial" charset="0"/>
                <a:cs typeface="Arial" charset="0"/>
              </a:defRPr>
            </a:lvl1pPr>
          </a:lstStyle>
          <a:p>
            <a:pPr>
              <a:defRPr/>
            </a:pPr>
            <a:fld id="{57C2A223-2316-45C5-8A34-58E21CB78D07}" type="slidenum">
              <a:rPr lang="fr-FR"/>
              <a:pPr>
                <a:defRPr/>
              </a:pPr>
              <a:t>‹N°›</a:t>
            </a:fld>
            <a:endParaRPr lang="fr-FR"/>
          </a:p>
        </p:txBody>
      </p:sp>
    </p:spTree>
    <p:extLst>
      <p:ext uri="{BB962C8B-B14F-4D97-AF65-F5344CB8AC3E}">
        <p14:creationId xmlns:p14="http://schemas.microsoft.com/office/powerpoint/2010/main" val="186588692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52D4F3B-C037-4F14-AFBF-EF1F53408E71}" type="slidenum">
              <a:rPr lang="fr-FR" sz="1200" smtClean="0">
                <a:latin typeface="Arial" pitchFamily="34" charset="0"/>
              </a:rPr>
              <a:pPr eaLnBrk="1" hangingPunct="1"/>
              <a:t>1</a:t>
            </a:fld>
            <a:endParaRPr lang="fr-FR" sz="1200">
              <a:latin typeface="Arial"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0A24E493-F381-45F4-80DE-8691E7AD9671}" type="slidenum">
              <a:rPr lang="fr-FR" sz="1200" smtClean="0">
                <a:latin typeface="Arial" pitchFamily="34" charset="0"/>
              </a:rPr>
              <a:pPr eaLnBrk="1" hangingPunct="1"/>
              <a:t>2</a:t>
            </a:fld>
            <a:endParaRPr lang="fr-FR" sz="1200">
              <a:latin typeface="Arial" pitchFamily="34" charset="0"/>
            </a:endParaRPr>
          </a:p>
        </p:txBody>
      </p:sp>
      <p:sp>
        <p:nvSpPr>
          <p:cNvPr id="8089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616A466A-78A9-4CB1-B0ED-6F33F8C1CAD1}" type="datetime5">
              <a:rPr lang="en-US" sz="900">
                <a:solidFill>
                  <a:srgbClr val="5F5F5F"/>
                </a:solidFill>
                <a:latin typeface="Arial" pitchFamily="34" charset="0"/>
              </a:rPr>
              <a:pPr eaLnBrk="1" hangingPunct="1">
                <a:spcBef>
                  <a:spcPct val="0"/>
                </a:spcBef>
                <a:buClrTx/>
                <a:buFontTx/>
                <a:buNone/>
              </a:pPr>
              <a:t>18-Feb-25</a:t>
            </a:fld>
            <a:endParaRPr lang="en-US" sz="900">
              <a:solidFill>
                <a:srgbClr val="5F5F5F"/>
              </a:solidFill>
              <a:latin typeface="Arial" pitchFamily="34" charset="0"/>
            </a:endParaRPr>
          </a:p>
        </p:txBody>
      </p:sp>
      <p:sp>
        <p:nvSpPr>
          <p:cNvPr id="8090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57C1C01E-6D15-40A8-BE5D-1AAD95B9FDF7}" type="slidenum">
              <a:rPr lang="fr-FR" sz="900">
                <a:solidFill>
                  <a:srgbClr val="5F5F5F"/>
                </a:solidFill>
                <a:latin typeface="Arial" pitchFamily="34" charset="0"/>
              </a:rPr>
              <a:pPr algn="r" eaLnBrk="1" hangingPunct="1">
                <a:spcBef>
                  <a:spcPct val="0"/>
                </a:spcBef>
                <a:buClrTx/>
                <a:buFontTx/>
                <a:buNone/>
              </a:pPr>
              <a:t>2</a:t>
            </a:fld>
            <a:endParaRPr lang="en-US" sz="900">
              <a:solidFill>
                <a:srgbClr val="5F5F5F"/>
              </a:solidFill>
              <a:latin typeface="Arial" pitchFamily="34" charset="0"/>
            </a:endParaRPr>
          </a:p>
        </p:txBody>
      </p:sp>
      <p:sp>
        <p:nvSpPr>
          <p:cNvPr id="8090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090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0903" name="Rectangle 69633"/>
          <p:cNvSpPr>
            <a:spLocks noGrp="1" noRot="1" noChangeAspect="1" noChangeArrowheads="1" noTextEdit="1"/>
          </p:cNvSpPr>
          <p:nvPr>
            <p:ph type="sldImg"/>
          </p:nvPr>
        </p:nvSpPr>
        <p:spPr>
          <a:noFill/>
          <a:ln cap="flat" algn="ctr">
            <a:headEnd type="none" w="med" len="med"/>
            <a:tailEnd type="none" w="med" len="med"/>
          </a:ln>
        </p:spPr>
      </p:sp>
      <p:sp>
        <p:nvSpPr>
          <p:cNvPr id="8090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A631C7D9-F905-48BA-A7E8-5D4A6C30A130}" type="slidenum">
              <a:rPr lang="fr-FR" sz="1200" smtClean="0">
                <a:latin typeface="Arial" pitchFamily="34" charset="0"/>
              </a:rPr>
              <a:pPr eaLnBrk="1" hangingPunct="1"/>
              <a:t>3</a:t>
            </a:fld>
            <a:endParaRPr lang="fr-FR" sz="1200">
              <a:latin typeface="Arial" pitchFamily="34" charset="0"/>
            </a:endParaRPr>
          </a:p>
        </p:txBody>
      </p:sp>
      <p:sp>
        <p:nvSpPr>
          <p:cNvPr id="12800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080B0DA4-762F-4174-BA1B-1C7D0485526B}" type="datetime5">
              <a:rPr lang="en-US" sz="900">
                <a:solidFill>
                  <a:srgbClr val="5F5F5F"/>
                </a:solidFill>
                <a:latin typeface="Arial" pitchFamily="34" charset="0"/>
              </a:rPr>
              <a:pPr eaLnBrk="1" hangingPunct="1">
                <a:spcBef>
                  <a:spcPct val="0"/>
                </a:spcBef>
                <a:buClrTx/>
                <a:buFontTx/>
                <a:buNone/>
              </a:pPr>
              <a:t>18-Feb-25</a:t>
            </a:fld>
            <a:endParaRPr lang="en-US" sz="900">
              <a:solidFill>
                <a:srgbClr val="5F5F5F"/>
              </a:solidFill>
              <a:latin typeface="Arial" pitchFamily="34" charset="0"/>
            </a:endParaRPr>
          </a:p>
        </p:txBody>
      </p:sp>
      <p:sp>
        <p:nvSpPr>
          <p:cNvPr id="12800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17D44ECA-4C78-44D7-A5C1-3C1585338525}" type="slidenum">
              <a:rPr lang="fr-FR" sz="900">
                <a:solidFill>
                  <a:srgbClr val="5F5F5F"/>
                </a:solidFill>
                <a:latin typeface="Arial" pitchFamily="34" charset="0"/>
              </a:rPr>
              <a:pPr algn="r" eaLnBrk="1" hangingPunct="1">
                <a:spcBef>
                  <a:spcPct val="0"/>
                </a:spcBef>
                <a:buClrTx/>
                <a:buFontTx/>
                <a:buNone/>
              </a:pPr>
              <a:t>3</a:t>
            </a:fld>
            <a:endParaRPr lang="en-US" sz="900">
              <a:solidFill>
                <a:srgbClr val="5F5F5F"/>
              </a:solidFill>
              <a:latin typeface="Arial" pitchFamily="34" charset="0"/>
            </a:endParaRPr>
          </a:p>
        </p:txBody>
      </p:sp>
      <p:sp>
        <p:nvSpPr>
          <p:cNvPr id="12800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800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8007" name="Rectangle 69633"/>
          <p:cNvSpPr>
            <a:spLocks noGrp="1" noRot="1" noChangeAspect="1" noChangeArrowheads="1" noTextEdit="1"/>
          </p:cNvSpPr>
          <p:nvPr>
            <p:ph type="sldImg"/>
          </p:nvPr>
        </p:nvSpPr>
        <p:spPr>
          <a:noFill/>
          <a:ln cap="flat" algn="ctr">
            <a:headEnd type="none" w="med" len="med"/>
            <a:tailEnd type="none" w="med" len="med"/>
          </a:ln>
        </p:spPr>
      </p:sp>
      <p:sp>
        <p:nvSpPr>
          <p:cNvPr id="12800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D9D56E56-359D-4671-A247-2F5CC3AEE1BF}" type="slidenum">
              <a:rPr lang="fr-FR" sz="1200" smtClean="0">
                <a:latin typeface="Arial" pitchFamily="34" charset="0"/>
              </a:rPr>
              <a:pPr eaLnBrk="1" hangingPunct="1"/>
              <a:t>4</a:t>
            </a:fld>
            <a:endParaRPr lang="fr-FR" sz="1200">
              <a:latin typeface="Arial" pitchFamily="34" charset="0"/>
            </a:endParaRPr>
          </a:p>
        </p:txBody>
      </p:sp>
      <p:sp>
        <p:nvSpPr>
          <p:cNvPr id="12902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B2EBC55-4453-4B9B-8A1E-71FA6D52080F}" type="datetime5">
              <a:rPr lang="en-US" sz="900">
                <a:solidFill>
                  <a:srgbClr val="5F5F5F"/>
                </a:solidFill>
                <a:latin typeface="Arial" pitchFamily="34" charset="0"/>
              </a:rPr>
              <a:pPr eaLnBrk="1" hangingPunct="1">
                <a:spcBef>
                  <a:spcPct val="0"/>
                </a:spcBef>
                <a:buClrTx/>
                <a:buFontTx/>
                <a:buNone/>
              </a:pPr>
              <a:t>18-Feb-25</a:t>
            </a:fld>
            <a:endParaRPr lang="en-US" sz="900">
              <a:solidFill>
                <a:srgbClr val="5F5F5F"/>
              </a:solidFill>
              <a:latin typeface="Arial" pitchFamily="34" charset="0"/>
            </a:endParaRPr>
          </a:p>
        </p:txBody>
      </p:sp>
      <p:sp>
        <p:nvSpPr>
          <p:cNvPr id="12902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AF14FAEF-82AB-4EF8-BAA0-E98AC1CA87B5}" type="slidenum">
              <a:rPr lang="fr-FR" sz="900">
                <a:solidFill>
                  <a:srgbClr val="5F5F5F"/>
                </a:solidFill>
                <a:latin typeface="Arial" pitchFamily="34" charset="0"/>
              </a:rPr>
              <a:pPr algn="r" eaLnBrk="1" hangingPunct="1">
                <a:spcBef>
                  <a:spcPct val="0"/>
                </a:spcBef>
                <a:buClrTx/>
                <a:buFontTx/>
                <a:buNone/>
              </a:pPr>
              <a:t>4</a:t>
            </a:fld>
            <a:endParaRPr lang="en-US" sz="900">
              <a:solidFill>
                <a:srgbClr val="5F5F5F"/>
              </a:solidFill>
              <a:latin typeface="Arial" pitchFamily="34" charset="0"/>
            </a:endParaRPr>
          </a:p>
        </p:txBody>
      </p:sp>
      <p:sp>
        <p:nvSpPr>
          <p:cNvPr id="12902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903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9031" name="Rectangle 69633"/>
          <p:cNvSpPr>
            <a:spLocks noGrp="1" noRot="1" noChangeAspect="1" noChangeArrowheads="1" noTextEdit="1"/>
          </p:cNvSpPr>
          <p:nvPr>
            <p:ph type="sldImg"/>
          </p:nvPr>
        </p:nvSpPr>
        <p:spPr>
          <a:noFill/>
          <a:ln cap="flat" algn="ctr">
            <a:headEnd type="none" w="med" len="med"/>
            <a:tailEnd type="none" w="med" len="med"/>
          </a:ln>
        </p:spPr>
      </p:sp>
      <p:sp>
        <p:nvSpPr>
          <p:cNvPr id="12903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450ECB77-F207-4B71-B8AA-638FAEA84B37}" type="slidenum">
              <a:rPr lang="fr-FR" sz="1200" smtClean="0">
                <a:latin typeface="Arial" pitchFamily="34" charset="0"/>
              </a:rPr>
              <a:pPr eaLnBrk="1" hangingPunct="1"/>
              <a:t>9</a:t>
            </a:fld>
            <a:endParaRPr lang="fr-FR" sz="1200">
              <a:latin typeface="Arial" pitchFamily="34"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468C8B98-2D03-4699-8DD9-B4064E9042E1}" type="slidenum">
              <a:rPr lang="fr-FR" sz="1200" smtClean="0">
                <a:latin typeface="Arial" pitchFamily="34" charset="0"/>
              </a:rPr>
              <a:pPr eaLnBrk="1" hangingPunct="1"/>
              <a:t>16</a:t>
            </a:fld>
            <a:endParaRPr lang="fr-FR" sz="1200">
              <a:latin typeface="Arial"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4F30EAB9-DC8E-4923-9CDA-A93630CA715B}" type="slidenum">
              <a:rPr lang="fr-FR" sz="1200" smtClean="0">
                <a:latin typeface="Arial" charset="0"/>
              </a:rPr>
              <a:pPr eaLnBrk="1" hangingPunct="1"/>
              <a:t>17</a:t>
            </a:fld>
            <a:endParaRPr lang="fr-FR" sz="1200">
              <a:latin typeface="Arial" charset="0"/>
            </a:endParaRPr>
          </a:p>
        </p:txBody>
      </p:sp>
      <p:sp>
        <p:nvSpPr>
          <p:cNvPr id="7680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87F19C1D-53AB-467D-96EA-BA9EF8B395A5}"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7680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67FCF44D-3B97-4139-8383-FB347FA0A846}" type="slidenum">
              <a:rPr lang="fr-FR" sz="900">
                <a:solidFill>
                  <a:srgbClr val="5F5F5F"/>
                </a:solidFill>
                <a:latin typeface="Arial" charset="0"/>
              </a:rPr>
              <a:pPr algn="r" eaLnBrk="1" hangingPunct="1">
                <a:spcBef>
                  <a:spcPct val="0"/>
                </a:spcBef>
                <a:buClrTx/>
                <a:buFontTx/>
                <a:buNone/>
              </a:pPr>
              <a:t>17</a:t>
            </a:fld>
            <a:endParaRPr lang="en-US" sz="900">
              <a:solidFill>
                <a:srgbClr val="5F5F5F"/>
              </a:solidFill>
              <a:latin typeface="Arial" charset="0"/>
            </a:endParaRPr>
          </a:p>
        </p:txBody>
      </p:sp>
      <p:sp>
        <p:nvSpPr>
          <p:cNvPr id="7680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7680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76807" name="Rectangle 69633"/>
          <p:cNvSpPr>
            <a:spLocks noGrp="1" noRot="1" noChangeAspect="1" noChangeArrowheads="1" noTextEdit="1"/>
          </p:cNvSpPr>
          <p:nvPr>
            <p:ph type="sldImg"/>
          </p:nvPr>
        </p:nvSpPr>
        <p:spPr>
          <a:noFill/>
          <a:ln cap="flat" algn="ctr">
            <a:headEnd type="none" w="med" len="med"/>
            <a:tailEnd type="none" w="med" len="med"/>
          </a:ln>
        </p:spPr>
      </p:sp>
      <p:sp>
        <p:nvSpPr>
          <p:cNvPr id="7680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AEFFFE19-FA51-42A8-9136-91EEB9290794}" type="slidenum">
              <a:rPr lang="fr-FR" sz="1200" smtClean="0">
                <a:latin typeface="Arial" charset="0"/>
              </a:rPr>
              <a:pPr eaLnBrk="1" hangingPunct="1"/>
              <a:t>18</a:t>
            </a:fld>
            <a:endParaRPr lang="fr-FR" sz="1200">
              <a:latin typeface="Arial" charset="0"/>
            </a:endParaRPr>
          </a:p>
        </p:txBody>
      </p:sp>
      <p:sp>
        <p:nvSpPr>
          <p:cNvPr id="7885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994C0BC6-D6AE-4BD2-8D1E-78BEE798CF3E}"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7885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5858B739-CDD7-44CF-9FB7-72157F464B11}" type="slidenum">
              <a:rPr lang="fr-FR" sz="900">
                <a:solidFill>
                  <a:srgbClr val="5F5F5F"/>
                </a:solidFill>
                <a:latin typeface="Arial" charset="0"/>
              </a:rPr>
              <a:pPr algn="r" eaLnBrk="1" hangingPunct="1">
                <a:spcBef>
                  <a:spcPct val="0"/>
                </a:spcBef>
                <a:buClrTx/>
                <a:buFontTx/>
                <a:buNone/>
              </a:pPr>
              <a:t>18</a:t>
            </a:fld>
            <a:endParaRPr lang="en-US" sz="900">
              <a:solidFill>
                <a:srgbClr val="5F5F5F"/>
              </a:solidFill>
              <a:latin typeface="Arial" charset="0"/>
            </a:endParaRPr>
          </a:p>
        </p:txBody>
      </p:sp>
      <p:sp>
        <p:nvSpPr>
          <p:cNvPr id="7885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7885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78855" name="Rectangle 69633"/>
          <p:cNvSpPr>
            <a:spLocks noGrp="1" noRot="1" noChangeAspect="1" noChangeArrowheads="1" noTextEdit="1"/>
          </p:cNvSpPr>
          <p:nvPr>
            <p:ph type="sldImg"/>
          </p:nvPr>
        </p:nvSpPr>
        <p:spPr>
          <a:noFill/>
          <a:ln cap="flat" algn="ctr">
            <a:headEnd type="none" w="med" len="med"/>
            <a:tailEnd type="none" w="med" len="med"/>
          </a:ln>
        </p:spPr>
      </p:sp>
      <p:sp>
        <p:nvSpPr>
          <p:cNvPr id="7885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98717550-D920-47F5-BAEC-CF5B49B59363}" type="slidenum">
              <a:rPr lang="fr-FR" sz="1200" smtClean="0">
                <a:latin typeface="Arial" charset="0"/>
              </a:rPr>
              <a:pPr eaLnBrk="1" hangingPunct="1"/>
              <a:t>19</a:t>
            </a:fld>
            <a:endParaRPr lang="fr-FR" sz="1200">
              <a:latin typeface="Arial" charset="0"/>
            </a:endParaRPr>
          </a:p>
        </p:txBody>
      </p:sp>
      <p:sp>
        <p:nvSpPr>
          <p:cNvPr id="7987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4FB58FD7-C8F6-424B-BD7F-A5E7F7D4C5FC}"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7987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5F03FCCB-7BC1-44B3-8D0B-FA9FEBC3E055}" type="slidenum">
              <a:rPr lang="fr-FR" sz="900">
                <a:solidFill>
                  <a:srgbClr val="5F5F5F"/>
                </a:solidFill>
                <a:latin typeface="Arial" charset="0"/>
              </a:rPr>
              <a:pPr algn="r" eaLnBrk="1" hangingPunct="1">
                <a:spcBef>
                  <a:spcPct val="0"/>
                </a:spcBef>
                <a:buClrTx/>
                <a:buFontTx/>
                <a:buNone/>
              </a:pPr>
              <a:t>19</a:t>
            </a:fld>
            <a:endParaRPr lang="en-US" sz="900">
              <a:solidFill>
                <a:srgbClr val="5F5F5F"/>
              </a:solidFill>
              <a:latin typeface="Arial" charset="0"/>
            </a:endParaRPr>
          </a:p>
        </p:txBody>
      </p:sp>
      <p:sp>
        <p:nvSpPr>
          <p:cNvPr id="7987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7987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79879" name="Rectangle 69633"/>
          <p:cNvSpPr>
            <a:spLocks noGrp="1" noRot="1" noChangeAspect="1" noChangeArrowheads="1" noTextEdit="1"/>
          </p:cNvSpPr>
          <p:nvPr>
            <p:ph type="sldImg"/>
          </p:nvPr>
        </p:nvSpPr>
        <p:spPr>
          <a:noFill/>
          <a:ln cap="flat" algn="ctr">
            <a:headEnd type="none" w="med" len="med"/>
            <a:tailEnd type="none" w="med" len="med"/>
          </a:ln>
        </p:spPr>
      </p:sp>
      <p:sp>
        <p:nvSpPr>
          <p:cNvPr id="7988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EA834806-61AA-4AA3-9309-2F42F985E918}" type="slidenum">
              <a:rPr lang="fr-FR" sz="1200" smtClean="0">
                <a:latin typeface="Arial" charset="0"/>
              </a:rPr>
              <a:pPr eaLnBrk="1" hangingPunct="1"/>
              <a:t>20</a:t>
            </a:fld>
            <a:endParaRPr lang="fr-FR" sz="1200">
              <a:latin typeface="Arial" charset="0"/>
            </a:endParaRPr>
          </a:p>
        </p:txBody>
      </p:sp>
      <p:sp>
        <p:nvSpPr>
          <p:cNvPr id="8089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D16FE8B4-DCAB-483B-8D47-E89F5A773670}"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090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9D58F47A-7916-409E-AAE4-08E31D9CCE51}" type="slidenum">
              <a:rPr lang="fr-FR" sz="900">
                <a:solidFill>
                  <a:srgbClr val="5F5F5F"/>
                </a:solidFill>
                <a:latin typeface="Arial" charset="0"/>
              </a:rPr>
              <a:pPr algn="r" eaLnBrk="1" hangingPunct="1">
                <a:spcBef>
                  <a:spcPct val="0"/>
                </a:spcBef>
                <a:buClrTx/>
                <a:buFontTx/>
                <a:buNone/>
              </a:pPr>
              <a:t>20</a:t>
            </a:fld>
            <a:endParaRPr lang="en-US" sz="900">
              <a:solidFill>
                <a:srgbClr val="5F5F5F"/>
              </a:solidFill>
              <a:latin typeface="Arial" charset="0"/>
            </a:endParaRPr>
          </a:p>
        </p:txBody>
      </p:sp>
      <p:sp>
        <p:nvSpPr>
          <p:cNvPr id="8090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090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0903" name="Rectangle 69633"/>
          <p:cNvSpPr>
            <a:spLocks noGrp="1" noRot="1" noChangeAspect="1" noChangeArrowheads="1" noTextEdit="1"/>
          </p:cNvSpPr>
          <p:nvPr>
            <p:ph type="sldImg"/>
          </p:nvPr>
        </p:nvSpPr>
        <p:spPr>
          <a:noFill/>
          <a:ln cap="flat" algn="ctr">
            <a:headEnd type="none" w="med" len="med"/>
            <a:tailEnd type="none" w="med" len="med"/>
          </a:ln>
        </p:spPr>
      </p:sp>
      <p:sp>
        <p:nvSpPr>
          <p:cNvPr id="8090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F7F39B80-330E-411C-9ABB-C8D45DD762ED}" type="slidenum">
              <a:rPr lang="fr-FR" sz="1200" smtClean="0">
                <a:latin typeface="Arial" charset="0"/>
              </a:rPr>
              <a:pPr eaLnBrk="1" hangingPunct="1"/>
              <a:t>21</a:t>
            </a:fld>
            <a:endParaRPr lang="fr-FR" sz="1200">
              <a:latin typeface="Arial" charset="0"/>
            </a:endParaRPr>
          </a:p>
        </p:txBody>
      </p:sp>
      <p:sp>
        <p:nvSpPr>
          <p:cNvPr id="8192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C529D2EE-5DF6-46BA-9E26-0FEF4E5042FB}"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192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702681DA-5587-4E1D-825E-D57E6AB98A34}" type="slidenum">
              <a:rPr lang="fr-FR" sz="900">
                <a:solidFill>
                  <a:srgbClr val="5F5F5F"/>
                </a:solidFill>
                <a:latin typeface="Arial" charset="0"/>
              </a:rPr>
              <a:pPr algn="r" eaLnBrk="1" hangingPunct="1">
                <a:spcBef>
                  <a:spcPct val="0"/>
                </a:spcBef>
                <a:buClrTx/>
                <a:buFontTx/>
                <a:buNone/>
              </a:pPr>
              <a:t>21</a:t>
            </a:fld>
            <a:endParaRPr lang="en-US" sz="900">
              <a:solidFill>
                <a:srgbClr val="5F5F5F"/>
              </a:solidFill>
              <a:latin typeface="Arial" charset="0"/>
            </a:endParaRPr>
          </a:p>
        </p:txBody>
      </p:sp>
      <p:sp>
        <p:nvSpPr>
          <p:cNvPr id="8192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192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1927" name="Rectangle 69633"/>
          <p:cNvSpPr>
            <a:spLocks noGrp="1" noRot="1" noChangeAspect="1" noChangeArrowheads="1" noTextEdit="1"/>
          </p:cNvSpPr>
          <p:nvPr>
            <p:ph type="sldImg"/>
          </p:nvPr>
        </p:nvSpPr>
        <p:spPr>
          <a:noFill/>
          <a:ln cap="flat" algn="ctr">
            <a:headEnd type="none" w="med" len="med"/>
            <a:tailEnd type="none" w="med" len="med"/>
          </a:ln>
        </p:spPr>
      </p:sp>
      <p:sp>
        <p:nvSpPr>
          <p:cNvPr id="8192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40CA7022-9301-4B1B-9053-571ED8E7E98F}" type="slidenum">
              <a:rPr lang="fr-FR" sz="1200" smtClean="0">
                <a:latin typeface="Arial" charset="0"/>
              </a:rPr>
              <a:pPr eaLnBrk="1" hangingPunct="1"/>
              <a:t>26</a:t>
            </a:fld>
            <a:endParaRPr lang="fr-FR" sz="1200">
              <a:latin typeface="Arial" charset="0"/>
            </a:endParaRPr>
          </a:p>
        </p:txBody>
      </p:sp>
      <p:sp>
        <p:nvSpPr>
          <p:cNvPr id="8294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14651A35-03B9-4D3D-8DBA-D6E8D672D1A7}"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294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AC19D960-67A1-47C8-B356-5CC00AA1E3C5}" type="slidenum">
              <a:rPr lang="fr-FR" sz="900">
                <a:solidFill>
                  <a:srgbClr val="5F5F5F"/>
                </a:solidFill>
                <a:latin typeface="Arial" charset="0"/>
              </a:rPr>
              <a:pPr algn="r" eaLnBrk="1" hangingPunct="1">
                <a:spcBef>
                  <a:spcPct val="0"/>
                </a:spcBef>
                <a:buClrTx/>
                <a:buFontTx/>
                <a:buNone/>
              </a:pPr>
              <a:t>26</a:t>
            </a:fld>
            <a:endParaRPr lang="en-US" sz="900">
              <a:solidFill>
                <a:srgbClr val="5F5F5F"/>
              </a:solidFill>
              <a:latin typeface="Arial" charset="0"/>
            </a:endParaRPr>
          </a:p>
        </p:txBody>
      </p:sp>
      <p:sp>
        <p:nvSpPr>
          <p:cNvPr id="8294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295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2951" name="Rectangle 69633"/>
          <p:cNvSpPr>
            <a:spLocks noGrp="1" noRot="1" noChangeAspect="1" noChangeArrowheads="1" noTextEdit="1"/>
          </p:cNvSpPr>
          <p:nvPr>
            <p:ph type="sldImg"/>
          </p:nvPr>
        </p:nvSpPr>
        <p:spPr>
          <a:noFill/>
          <a:ln cap="flat" algn="ctr">
            <a:headEnd type="none" w="med" len="med"/>
            <a:tailEnd type="none" w="med" len="med"/>
          </a:ln>
        </p:spPr>
      </p:sp>
      <p:sp>
        <p:nvSpPr>
          <p:cNvPr id="8295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07292795-6593-4EC4-84DC-ECFAB97F0FB1}" type="slidenum">
              <a:rPr lang="fr-FR" sz="1200" smtClean="0">
                <a:latin typeface="Arial" charset="0"/>
              </a:rPr>
              <a:pPr eaLnBrk="1" hangingPunct="1"/>
              <a:t>27</a:t>
            </a:fld>
            <a:endParaRPr lang="fr-FR" sz="1200">
              <a:latin typeface="Arial" charset="0"/>
            </a:endParaRPr>
          </a:p>
        </p:txBody>
      </p:sp>
      <p:sp>
        <p:nvSpPr>
          <p:cNvPr id="8397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D09BEB5B-B588-4256-8BFE-568680ED9A52}"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397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5FAEF8E7-C623-4944-A2DF-5AAB124D1C66}" type="slidenum">
              <a:rPr lang="fr-FR" sz="900">
                <a:solidFill>
                  <a:srgbClr val="5F5F5F"/>
                </a:solidFill>
                <a:latin typeface="Arial" charset="0"/>
              </a:rPr>
              <a:pPr algn="r" eaLnBrk="1" hangingPunct="1">
                <a:spcBef>
                  <a:spcPct val="0"/>
                </a:spcBef>
                <a:buClrTx/>
                <a:buFontTx/>
                <a:buNone/>
              </a:pPr>
              <a:t>27</a:t>
            </a:fld>
            <a:endParaRPr lang="en-US" sz="900">
              <a:solidFill>
                <a:srgbClr val="5F5F5F"/>
              </a:solidFill>
              <a:latin typeface="Arial" charset="0"/>
            </a:endParaRPr>
          </a:p>
        </p:txBody>
      </p:sp>
      <p:sp>
        <p:nvSpPr>
          <p:cNvPr id="8397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397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3975" name="Rectangle 69633"/>
          <p:cNvSpPr>
            <a:spLocks noGrp="1" noRot="1" noChangeAspect="1" noChangeArrowheads="1" noTextEdit="1"/>
          </p:cNvSpPr>
          <p:nvPr>
            <p:ph type="sldImg"/>
          </p:nvPr>
        </p:nvSpPr>
        <p:spPr>
          <a:noFill/>
          <a:ln cap="flat" algn="ctr">
            <a:headEnd type="none" w="med" len="med"/>
            <a:tailEnd type="none" w="med" len="med"/>
          </a:ln>
        </p:spPr>
      </p:sp>
      <p:sp>
        <p:nvSpPr>
          <p:cNvPr id="8397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6D7F1A51-1462-4433-BD9B-F561EBF74949}" type="slidenum">
              <a:rPr lang="fr-FR" sz="1200" smtClean="0">
                <a:latin typeface="Arial" charset="0"/>
              </a:rPr>
              <a:pPr eaLnBrk="1" hangingPunct="1"/>
              <a:t>28</a:t>
            </a:fld>
            <a:endParaRPr lang="fr-FR" sz="1200">
              <a:latin typeface="Arial" charset="0"/>
            </a:endParaRPr>
          </a:p>
        </p:txBody>
      </p:sp>
      <p:sp>
        <p:nvSpPr>
          <p:cNvPr id="8499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D18D998C-F6FA-4223-B14C-5DBD9B07B559}"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499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5490E2F1-5789-4583-ABD3-D6288E6A162C}" type="slidenum">
              <a:rPr lang="fr-FR" sz="900">
                <a:solidFill>
                  <a:srgbClr val="5F5F5F"/>
                </a:solidFill>
                <a:latin typeface="Arial" charset="0"/>
              </a:rPr>
              <a:pPr algn="r" eaLnBrk="1" hangingPunct="1">
                <a:spcBef>
                  <a:spcPct val="0"/>
                </a:spcBef>
                <a:buClrTx/>
                <a:buFontTx/>
                <a:buNone/>
              </a:pPr>
              <a:t>28</a:t>
            </a:fld>
            <a:endParaRPr lang="en-US" sz="900">
              <a:solidFill>
                <a:srgbClr val="5F5F5F"/>
              </a:solidFill>
              <a:latin typeface="Arial" charset="0"/>
            </a:endParaRPr>
          </a:p>
        </p:txBody>
      </p:sp>
      <p:sp>
        <p:nvSpPr>
          <p:cNvPr id="8499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499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4999" name="Rectangle 69633"/>
          <p:cNvSpPr>
            <a:spLocks noGrp="1" noRot="1" noChangeAspect="1" noChangeArrowheads="1" noTextEdit="1"/>
          </p:cNvSpPr>
          <p:nvPr>
            <p:ph type="sldImg"/>
          </p:nvPr>
        </p:nvSpPr>
        <p:spPr>
          <a:noFill/>
          <a:ln cap="flat" algn="ctr">
            <a:headEnd type="none" w="med" len="med"/>
            <a:tailEnd type="none" w="med" len="med"/>
          </a:ln>
        </p:spPr>
      </p:sp>
      <p:sp>
        <p:nvSpPr>
          <p:cNvPr id="8500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CC7F7CDD-660D-4DE0-8976-9CF1D09E6F76}" type="slidenum">
              <a:rPr lang="fr-FR" sz="1200" smtClean="0">
                <a:latin typeface="Arial" charset="0"/>
              </a:rPr>
              <a:pPr eaLnBrk="1" hangingPunct="1"/>
              <a:t>29</a:t>
            </a:fld>
            <a:endParaRPr lang="fr-FR" sz="1200">
              <a:latin typeface="Arial" charset="0"/>
            </a:endParaRPr>
          </a:p>
        </p:txBody>
      </p:sp>
      <p:sp>
        <p:nvSpPr>
          <p:cNvPr id="8601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921AC810-0C61-4BB6-B67A-6743B539F26B}"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602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C6B7B12B-6E0E-425C-9982-6C6CF3725914}" type="slidenum">
              <a:rPr lang="fr-FR" sz="900">
                <a:solidFill>
                  <a:srgbClr val="5F5F5F"/>
                </a:solidFill>
                <a:latin typeface="Arial" charset="0"/>
              </a:rPr>
              <a:pPr algn="r" eaLnBrk="1" hangingPunct="1">
                <a:spcBef>
                  <a:spcPct val="0"/>
                </a:spcBef>
                <a:buClrTx/>
                <a:buFontTx/>
                <a:buNone/>
              </a:pPr>
              <a:t>29</a:t>
            </a:fld>
            <a:endParaRPr lang="en-US" sz="900">
              <a:solidFill>
                <a:srgbClr val="5F5F5F"/>
              </a:solidFill>
              <a:latin typeface="Arial" charset="0"/>
            </a:endParaRPr>
          </a:p>
        </p:txBody>
      </p:sp>
      <p:sp>
        <p:nvSpPr>
          <p:cNvPr id="8602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602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6023" name="Rectangle 69633"/>
          <p:cNvSpPr>
            <a:spLocks noGrp="1" noRot="1" noChangeAspect="1" noChangeArrowheads="1" noTextEdit="1"/>
          </p:cNvSpPr>
          <p:nvPr>
            <p:ph type="sldImg"/>
          </p:nvPr>
        </p:nvSpPr>
        <p:spPr>
          <a:noFill/>
          <a:ln cap="flat" algn="ctr">
            <a:headEnd type="none" w="med" len="med"/>
            <a:tailEnd type="none" w="med" len="med"/>
          </a:ln>
        </p:spPr>
      </p:sp>
      <p:sp>
        <p:nvSpPr>
          <p:cNvPr id="8602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A9A6F259-FE73-4CDA-9EEA-17DFCCFBD64E}" type="slidenum">
              <a:rPr lang="fr-FR" sz="1200" smtClean="0">
                <a:latin typeface="Arial" charset="0"/>
              </a:rPr>
              <a:pPr eaLnBrk="1" hangingPunct="1"/>
              <a:t>30</a:t>
            </a:fld>
            <a:endParaRPr lang="fr-FR" sz="1200">
              <a:latin typeface="Arial" charset="0"/>
            </a:endParaRPr>
          </a:p>
        </p:txBody>
      </p:sp>
      <p:sp>
        <p:nvSpPr>
          <p:cNvPr id="8704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136B762B-6F3A-4621-9008-E9194C0B6663}"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704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CDD30580-A60A-4CFC-B941-4BC87FD9F547}" type="slidenum">
              <a:rPr lang="fr-FR" sz="900">
                <a:solidFill>
                  <a:srgbClr val="5F5F5F"/>
                </a:solidFill>
                <a:latin typeface="Arial" charset="0"/>
              </a:rPr>
              <a:pPr algn="r" eaLnBrk="1" hangingPunct="1">
                <a:spcBef>
                  <a:spcPct val="0"/>
                </a:spcBef>
                <a:buClrTx/>
                <a:buFontTx/>
                <a:buNone/>
              </a:pPr>
              <a:t>30</a:t>
            </a:fld>
            <a:endParaRPr lang="en-US" sz="900">
              <a:solidFill>
                <a:srgbClr val="5F5F5F"/>
              </a:solidFill>
              <a:latin typeface="Arial" charset="0"/>
            </a:endParaRPr>
          </a:p>
        </p:txBody>
      </p:sp>
      <p:sp>
        <p:nvSpPr>
          <p:cNvPr id="8704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704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7047" name="Rectangle 69633"/>
          <p:cNvSpPr>
            <a:spLocks noGrp="1" noRot="1" noChangeAspect="1" noChangeArrowheads="1" noTextEdit="1"/>
          </p:cNvSpPr>
          <p:nvPr>
            <p:ph type="sldImg"/>
          </p:nvPr>
        </p:nvSpPr>
        <p:spPr>
          <a:noFill/>
          <a:ln cap="flat" algn="ctr">
            <a:headEnd type="none" w="med" len="med"/>
            <a:tailEnd type="none" w="med" len="med"/>
          </a:ln>
        </p:spPr>
      </p:sp>
      <p:sp>
        <p:nvSpPr>
          <p:cNvPr id="8704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5C03FEA5-6CF7-44FB-A35C-D024F35296EA}" type="slidenum">
              <a:rPr lang="fr-FR" sz="1200" smtClean="0">
                <a:latin typeface="Arial" charset="0"/>
              </a:rPr>
              <a:pPr eaLnBrk="1" hangingPunct="1"/>
              <a:t>31</a:t>
            </a:fld>
            <a:endParaRPr lang="fr-FR" sz="1200">
              <a:latin typeface="Arial" charset="0"/>
            </a:endParaRPr>
          </a:p>
        </p:txBody>
      </p:sp>
      <p:sp>
        <p:nvSpPr>
          <p:cNvPr id="8806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A4760A20-E700-4F77-A1FC-8A5C7F653FC5}"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806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97451628-E7C7-4491-A80D-1CA8D3B6E940}" type="slidenum">
              <a:rPr lang="fr-FR" sz="900">
                <a:solidFill>
                  <a:srgbClr val="5F5F5F"/>
                </a:solidFill>
                <a:latin typeface="Arial" charset="0"/>
              </a:rPr>
              <a:pPr algn="r" eaLnBrk="1" hangingPunct="1">
                <a:spcBef>
                  <a:spcPct val="0"/>
                </a:spcBef>
                <a:buClrTx/>
                <a:buFontTx/>
                <a:buNone/>
              </a:pPr>
              <a:t>31</a:t>
            </a:fld>
            <a:endParaRPr lang="en-US" sz="900">
              <a:solidFill>
                <a:srgbClr val="5F5F5F"/>
              </a:solidFill>
              <a:latin typeface="Arial" charset="0"/>
            </a:endParaRPr>
          </a:p>
        </p:txBody>
      </p:sp>
      <p:sp>
        <p:nvSpPr>
          <p:cNvPr id="8806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807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8071" name="Rectangle 69633"/>
          <p:cNvSpPr>
            <a:spLocks noGrp="1" noRot="1" noChangeAspect="1" noChangeArrowheads="1" noTextEdit="1"/>
          </p:cNvSpPr>
          <p:nvPr>
            <p:ph type="sldImg"/>
          </p:nvPr>
        </p:nvSpPr>
        <p:spPr>
          <a:noFill/>
          <a:ln cap="flat" algn="ctr">
            <a:headEnd type="none" w="med" len="med"/>
            <a:tailEnd type="none" w="med" len="med"/>
          </a:ln>
        </p:spPr>
      </p:sp>
      <p:sp>
        <p:nvSpPr>
          <p:cNvPr id="8807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CB2B3D06-87A8-492B-BABC-43EA9EE62FA7}" type="slidenum">
              <a:rPr lang="fr-FR" sz="1200" smtClean="0">
                <a:latin typeface="Arial" charset="0"/>
              </a:rPr>
              <a:pPr eaLnBrk="1" hangingPunct="1"/>
              <a:t>32</a:t>
            </a:fld>
            <a:endParaRPr lang="fr-FR" sz="1200">
              <a:latin typeface="Arial" charset="0"/>
            </a:endParaRPr>
          </a:p>
        </p:txBody>
      </p:sp>
      <p:sp>
        <p:nvSpPr>
          <p:cNvPr id="8909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FC174B8E-54D7-4989-9A37-3526B9A5B043}"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8909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B1916A09-C0C8-4A92-AEAF-89F2D2E7A625}" type="slidenum">
              <a:rPr lang="fr-FR" sz="900">
                <a:solidFill>
                  <a:srgbClr val="5F5F5F"/>
                </a:solidFill>
                <a:latin typeface="Arial" charset="0"/>
              </a:rPr>
              <a:pPr algn="r" eaLnBrk="1" hangingPunct="1">
                <a:spcBef>
                  <a:spcPct val="0"/>
                </a:spcBef>
                <a:buClrTx/>
                <a:buFontTx/>
                <a:buNone/>
              </a:pPr>
              <a:t>32</a:t>
            </a:fld>
            <a:endParaRPr lang="en-US" sz="900">
              <a:solidFill>
                <a:srgbClr val="5F5F5F"/>
              </a:solidFill>
              <a:latin typeface="Arial" charset="0"/>
            </a:endParaRPr>
          </a:p>
        </p:txBody>
      </p:sp>
      <p:sp>
        <p:nvSpPr>
          <p:cNvPr id="8909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8909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89095" name="Rectangle 69633"/>
          <p:cNvSpPr>
            <a:spLocks noGrp="1" noRot="1" noChangeAspect="1" noChangeArrowheads="1" noTextEdit="1"/>
          </p:cNvSpPr>
          <p:nvPr>
            <p:ph type="sldImg"/>
          </p:nvPr>
        </p:nvSpPr>
        <p:spPr>
          <a:noFill/>
          <a:ln cap="flat" algn="ctr">
            <a:headEnd type="none" w="med" len="med"/>
            <a:tailEnd type="none" w="med" len="med"/>
          </a:ln>
        </p:spPr>
      </p:sp>
      <p:sp>
        <p:nvSpPr>
          <p:cNvPr id="8909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2BEA3576-B48B-4995-B6B5-66FB269C339E}" type="slidenum">
              <a:rPr lang="fr-FR" sz="1200" smtClean="0">
                <a:latin typeface="Arial" charset="0"/>
              </a:rPr>
              <a:pPr eaLnBrk="1" hangingPunct="1"/>
              <a:t>33</a:t>
            </a:fld>
            <a:endParaRPr lang="fr-FR" sz="1200">
              <a:latin typeface="Arial" charset="0"/>
            </a:endParaRPr>
          </a:p>
        </p:txBody>
      </p:sp>
      <p:sp>
        <p:nvSpPr>
          <p:cNvPr id="9011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9701BB20-3708-435A-9E03-A682AC8585E3}"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011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04E625F4-91F5-4719-8D7A-01BEFDCFC74B}" type="slidenum">
              <a:rPr lang="fr-FR" sz="900">
                <a:solidFill>
                  <a:srgbClr val="5F5F5F"/>
                </a:solidFill>
                <a:latin typeface="Arial" charset="0"/>
              </a:rPr>
              <a:pPr algn="r" eaLnBrk="1" hangingPunct="1">
                <a:spcBef>
                  <a:spcPct val="0"/>
                </a:spcBef>
                <a:buClrTx/>
                <a:buFontTx/>
                <a:buNone/>
              </a:pPr>
              <a:t>33</a:t>
            </a:fld>
            <a:endParaRPr lang="en-US" sz="900">
              <a:solidFill>
                <a:srgbClr val="5F5F5F"/>
              </a:solidFill>
              <a:latin typeface="Arial" charset="0"/>
            </a:endParaRPr>
          </a:p>
        </p:txBody>
      </p:sp>
      <p:sp>
        <p:nvSpPr>
          <p:cNvPr id="9011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011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0119" name="Rectangle 69633"/>
          <p:cNvSpPr>
            <a:spLocks noGrp="1" noRot="1" noChangeAspect="1" noChangeArrowheads="1" noTextEdit="1"/>
          </p:cNvSpPr>
          <p:nvPr>
            <p:ph type="sldImg"/>
          </p:nvPr>
        </p:nvSpPr>
        <p:spPr>
          <a:noFill/>
          <a:ln cap="flat" algn="ctr">
            <a:headEnd type="none" w="med" len="med"/>
            <a:tailEnd type="none" w="med" len="med"/>
          </a:ln>
        </p:spPr>
      </p:sp>
      <p:sp>
        <p:nvSpPr>
          <p:cNvPr id="9012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11295652-BAA6-496C-9C57-625A85E672A0}" type="slidenum">
              <a:rPr lang="fr-FR" sz="1200" smtClean="0">
                <a:latin typeface="Arial" charset="0"/>
              </a:rPr>
              <a:pPr eaLnBrk="1" hangingPunct="1"/>
              <a:t>34</a:t>
            </a:fld>
            <a:endParaRPr lang="fr-FR" sz="1200">
              <a:latin typeface="Arial" charset="0"/>
            </a:endParaRPr>
          </a:p>
        </p:txBody>
      </p:sp>
      <p:sp>
        <p:nvSpPr>
          <p:cNvPr id="9113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482BA434-AA7C-427F-858E-AA35FD0434DC}"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114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A42F9420-817E-4F60-BE53-76CBAE3723A3}" type="slidenum">
              <a:rPr lang="fr-FR" sz="900">
                <a:solidFill>
                  <a:srgbClr val="5F5F5F"/>
                </a:solidFill>
                <a:latin typeface="Arial" charset="0"/>
              </a:rPr>
              <a:pPr algn="r" eaLnBrk="1" hangingPunct="1">
                <a:spcBef>
                  <a:spcPct val="0"/>
                </a:spcBef>
                <a:buClrTx/>
                <a:buFontTx/>
                <a:buNone/>
              </a:pPr>
              <a:t>34</a:t>
            </a:fld>
            <a:endParaRPr lang="en-US" sz="900">
              <a:solidFill>
                <a:srgbClr val="5F5F5F"/>
              </a:solidFill>
              <a:latin typeface="Arial" charset="0"/>
            </a:endParaRPr>
          </a:p>
        </p:txBody>
      </p:sp>
      <p:sp>
        <p:nvSpPr>
          <p:cNvPr id="9114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114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1143" name="Rectangle 69633"/>
          <p:cNvSpPr>
            <a:spLocks noGrp="1" noRot="1" noChangeAspect="1" noChangeArrowheads="1" noTextEdit="1"/>
          </p:cNvSpPr>
          <p:nvPr>
            <p:ph type="sldImg"/>
          </p:nvPr>
        </p:nvSpPr>
        <p:spPr>
          <a:noFill/>
          <a:ln cap="flat" algn="ctr">
            <a:headEnd type="none" w="med" len="med"/>
            <a:tailEnd type="none" w="med" len="med"/>
          </a:ln>
        </p:spPr>
      </p:sp>
      <p:sp>
        <p:nvSpPr>
          <p:cNvPr id="9114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33919E36-96B6-4362-826C-7D212F602453}" type="slidenum">
              <a:rPr lang="fr-FR" sz="1200" smtClean="0">
                <a:latin typeface="Arial" charset="0"/>
              </a:rPr>
              <a:pPr eaLnBrk="1" hangingPunct="1"/>
              <a:t>35</a:t>
            </a:fld>
            <a:endParaRPr lang="fr-FR" sz="1200">
              <a:latin typeface="Arial" charset="0"/>
            </a:endParaRPr>
          </a:p>
        </p:txBody>
      </p:sp>
      <p:sp>
        <p:nvSpPr>
          <p:cNvPr id="9216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E79F5F91-2456-4B7A-84C1-51AACB0BE465}"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216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E163FBC1-81A0-4243-8056-FBACF25394F2}" type="slidenum">
              <a:rPr lang="fr-FR" sz="900">
                <a:solidFill>
                  <a:srgbClr val="5F5F5F"/>
                </a:solidFill>
                <a:latin typeface="Arial" charset="0"/>
              </a:rPr>
              <a:pPr algn="r" eaLnBrk="1" hangingPunct="1">
                <a:spcBef>
                  <a:spcPct val="0"/>
                </a:spcBef>
                <a:buClrTx/>
                <a:buFontTx/>
                <a:buNone/>
              </a:pPr>
              <a:t>35</a:t>
            </a:fld>
            <a:endParaRPr lang="en-US" sz="900">
              <a:solidFill>
                <a:srgbClr val="5F5F5F"/>
              </a:solidFill>
              <a:latin typeface="Arial" charset="0"/>
            </a:endParaRPr>
          </a:p>
        </p:txBody>
      </p:sp>
      <p:sp>
        <p:nvSpPr>
          <p:cNvPr id="9216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216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2167" name="Rectangle 69633"/>
          <p:cNvSpPr>
            <a:spLocks noGrp="1" noRot="1" noChangeAspect="1" noChangeArrowheads="1" noTextEdit="1"/>
          </p:cNvSpPr>
          <p:nvPr>
            <p:ph type="sldImg"/>
          </p:nvPr>
        </p:nvSpPr>
        <p:spPr>
          <a:noFill/>
          <a:ln cap="flat" algn="ctr">
            <a:headEnd type="none" w="med" len="med"/>
            <a:tailEnd type="none" w="med" len="med"/>
          </a:ln>
        </p:spPr>
      </p:sp>
      <p:sp>
        <p:nvSpPr>
          <p:cNvPr id="9216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735069E9-47EC-4ABD-B8E5-AF3FAAF0F2C8}" type="slidenum">
              <a:rPr lang="fr-FR" sz="1200" smtClean="0">
                <a:latin typeface="Arial" charset="0"/>
              </a:rPr>
              <a:pPr eaLnBrk="1" hangingPunct="1"/>
              <a:t>36</a:t>
            </a:fld>
            <a:endParaRPr lang="fr-FR" sz="1200">
              <a:latin typeface="Arial" charset="0"/>
            </a:endParaRPr>
          </a:p>
        </p:txBody>
      </p:sp>
      <p:sp>
        <p:nvSpPr>
          <p:cNvPr id="9318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BDF20211-9923-4350-80FF-A503D1B53F13}"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318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F509338D-3AEE-4E95-BEBF-452FED642AAD}" type="slidenum">
              <a:rPr lang="fr-FR" sz="900">
                <a:solidFill>
                  <a:srgbClr val="5F5F5F"/>
                </a:solidFill>
                <a:latin typeface="Arial" charset="0"/>
              </a:rPr>
              <a:pPr algn="r" eaLnBrk="1" hangingPunct="1">
                <a:spcBef>
                  <a:spcPct val="0"/>
                </a:spcBef>
                <a:buClrTx/>
                <a:buFontTx/>
                <a:buNone/>
              </a:pPr>
              <a:t>36</a:t>
            </a:fld>
            <a:endParaRPr lang="en-US" sz="900">
              <a:solidFill>
                <a:srgbClr val="5F5F5F"/>
              </a:solidFill>
              <a:latin typeface="Arial" charset="0"/>
            </a:endParaRPr>
          </a:p>
        </p:txBody>
      </p:sp>
      <p:sp>
        <p:nvSpPr>
          <p:cNvPr id="9318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319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3191" name="Rectangle 69633"/>
          <p:cNvSpPr>
            <a:spLocks noGrp="1" noRot="1" noChangeAspect="1" noChangeArrowheads="1" noTextEdit="1"/>
          </p:cNvSpPr>
          <p:nvPr>
            <p:ph type="sldImg"/>
          </p:nvPr>
        </p:nvSpPr>
        <p:spPr>
          <a:noFill/>
          <a:ln cap="flat" algn="ctr">
            <a:headEnd type="none" w="med" len="med"/>
            <a:tailEnd type="none" w="med" len="med"/>
          </a:ln>
        </p:spPr>
      </p:sp>
      <p:sp>
        <p:nvSpPr>
          <p:cNvPr id="9319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F97B84A4-DFA5-4237-B8FD-BF176222163A}" type="slidenum">
              <a:rPr lang="fr-FR" sz="1200" smtClean="0">
                <a:latin typeface="Arial" charset="0"/>
              </a:rPr>
              <a:pPr eaLnBrk="1" hangingPunct="1"/>
              <a:t>37</a:t>
            </a:fld>
            <a:endParaRPr lang="fr-FR" sz="1200">
              <a:latin typeface="Arial" charset="0"/>
            </a:endParaRPr>
          </a:p>
        </p:txBody>
      </p:sp>
      <p:sp>
        <p:nvSpPr>
          <p:cNvPr id="9421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1D8232EC-E2EB-4705-9BBD-FCC2C63F3EEE}"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421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E113C075-F3DC-4AE8-B621-998D7B312948}" type="slidenum">
              <a:rPr lang="fr-FR" sz="900">
                <a:solidFill>
                  <a:srgbClr val="5F5F5F"/>
                </a:solidFill>
                <a:latin typeface="Arial" charset="0"/>
              </a:rPr>
              <a:pPr algn="r" eaLnBrk="1" hangingPunct="1">
                <a:spcBef>
                  <a:spcPct val="0"/>
                </a:spcBef>
                <a:buClrTx/>
                <a:buFontTx/>
                <a:buNone/>
              </a:pPr>
              <a:t>37</a:t>
            </a:fld>
            <a:endParaRPr lang="en-US" sz="900">
              <a:solidFill>
                <a:srgbClr val="5F5F5F"/>
              </a:solidFill>
              <a:latin typeface="Arial" charset="0"/>
            </a:endParaRPr>
          </a:p>
        </p:txBody>
      </p:sp>
      <p:sp>
        <p:nvSpPr>
          <p:cNvPr id="9421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421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4215" name="Rectangle 69633"/>
          <p:cNvSpPr>
            <a:spLocks noGrp="1" noRot="1" noChangeAspect="1" noChangeArrowheads="1" noTextEdit="1"/>
          </p:cNvSpPr>
          <p:nvPr>
            <p:ph type="sldImg"/>
          </p:nvPr>
        </p:nvSpPr>
        <p:spPr>
          <a:noFill/>
          <a:ln cap="flat" algn="ctr">
            <a:headEnd type="none" w="med" len="med"/>
            <a:tailEnd type="none" w="med" len="med"/>
          </a:ln>
        </p:spPr>
      </p:sp>
      <p:sp>
        <p:nvSpPr>
          <p:cNvPr id="9421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365FB951-4CA6-47F1-887E-C1B35911F6A9}" type="slidenum">
              <a:rPr lang="fr-FR" sz="1200" smtClean="0">
                <a:latin typeface="Arial" charset="0"/>
              </a:rPr>
              <a:pPr eaLnBrk="1" hangingPunct="1"/>
              <a:t>38</a:t>
            </a:fld>
            <a:endParaRPr lang="fr-FR" sz="1200">
              <a:latin typeface="Arial" charset="0"/>
            </a:endParaRPr>
          </a:p>
        </p:txBody>
      </p:sp>
      <p:sp>
        <p:nvSpPr>
          <p:cNvPr id="9523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02706F14-3B64-4978-9D58-555B0C5B8A88}"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523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0C181475-EBC1-41F3-9ABE-1028AC5E9F15}" type="slidenum">
              <a:rPr lang="fr-FR" sz="900">
                <a:solidFill>
                  <a:srgbClr val="5F5F5F"/>
                </a:solidFill>
                <a:latin typeface="Arial" charset="0"/>
              </a:rPr>
              <a:pPr algn="r" eaLnBrk="1" hangingPunct="1">
                <a:spcBef>
                  <a:spcPct val="0"/>
                </a:spcBef>
                <a:buClrTx/>
                <a:buFontTx/>
                <a:buNone/>
              </a:pPr>
              <a:t>38</a:t>
            </a:fld>
            <a:endParaRPr lang="en-US" sz="900">
              <a:solidFill>
                <a:srgbClr val="5F5F5F"/>
              </a:solidFill>
              <a:latin typeface="Arial" charset="0"/>
            </a:endParaRPr>
          </a:p>
        </p:txBody>
      </p:sp>
      <p:sp>
        <p:nvSpPr>
          <p:cNvPr id="9523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523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5239" name="Rectangle 69633"/>
          <p:cNvSpPr>
            <a:spLocks noGrp="1" noRot="1" noChangeAspect="1" noChangeArrowheads="1" noTextEdit="1"/>
          </p:cNvSpPr>
          <p:nvPr>
            <p:ph type="sldImg"/>
          </p:nvPr>
        </p:nvSpPr>
        <p:spPr>
          <a:noFill/>
          <a:ln cap="flat" algn="ctr">
            <a:headEnd type="none" w="med" len="med"/>
            <a:tailEnd type="none" w="med" len="med"/>
          </a:ln>
        </p:spPr>
      </p:sp>
      <p:sp>
        <p:nvSpPr>
          <p:cNvPr id="9524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0F1487D1-D990-48FE-BEF7-890AB29F6822}" type="slidenum">
              <a:rPr lang="fr-FR" sz="1200" smtClean="0">
                <a:latin typeface="Arial" charset="0"/>
              </a:rPr>
              <a:pPr eaLnBrk="1" hangingPunct="1"/>
              <a:t>39</a:t>
            </a:fld>
            <a:endParaRPr lang="fr-FR" sz="1200">
              <a:latin typeface="Arial" charset="0"/>
            </a:endParaRPr>
          </a:p>
        </p:txBody>
      </p:sp>
      <p:sp>
        <p:nvSpPr>
          <p:cNvPr id="9728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56ED7B13-589B-4175-BB49-FE9B70F92176}"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728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1E79E2A2-7D76-42A4-B39E-8CCCD8C59CFB}" type="slidenum">
              <a:rPr lang="fr-FR" sz="900">
                <a:solidFill>
                  <a:srgbClr val="5F5F5F"/>
                </a:solidFill>
                <a:latin typeface="Arial" charset="0"/>
              </a:rPr>
              <a:pPr algn="r" eaLnBrk="1" hangingPunct="1">
                <a:spcBef>
                  <a:spcPct val="0"/>
                </a:spcBef>
                <a:buClrTx/>
                <a:buFontTx/>
                <a:buNone/>
              </a:pPr>
              <a:t>39</a:t>
            </a:fld>
            <a:endParaRPr lang="en-US" sz="900">
              <a:solidFill>
                <a:srgbClr val="5F5F5F"/>
              </a:solidFill>
              <a:latin typeface="Arial" charset="0"/>
            </a:endParaRPr>
          </a:p>
        </p:txBody>
      </p:sp>
      <p:sp>
        <p:nvSpPr>
          <p:cNvPr id="9728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728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7287" name="Rectangle 69633"/>
          <p:cNvSpPr>
            <a:spLocks noGrp="1" noRot="1" noChangeAspect="1" noChangeArrowheads="1" noTextEdit="1"/>
          </p:cNvSpPr>
          <p:nvPr>
            <p:ph type="sldImg"/>
          </p:nvPr>
        </p:nvSpPr>
        <p:spPr>
          <a:noFill/>
          <a:ln cap="flat" algn="ctr">
            <a:headEnd type="none" w="med" len="med"/>
            <a:tailEnd type="none" w="med" len="med"/>
          </a:ln>
        </p:spPr>
      </p:sp>
      <p:sp>
        <p:nvSpPr>
          <p:cNvPr id="9728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D0C89161-B3AF-4486-A0F4-6B0D87D19887}" type="slidenum">
              <a:rPr lang="fr-FR" sz="1200" smtClean="0">
                <a:latin typeface="Arial" charset="0"/>
              </a:rPr>
              <a:pPr eaLnBrk="1" hangingPunct="1"/>
              <a:t>40</a:t>
            </a:fld>
            <a:endParaRPr lang="fr-FR" sz="1200">
              <a:latin typeface="Arial" charset="0"/>
            </a:endParaRPr>
          </a:p>
        </p:txBody>
      </p:sp>
      <p:sp>
        <p:nvSpPr>
          <p:cNvPr id="9830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725E2199-2985-48EA-B3DD-792DF30E0EB1}"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830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9764BBBE-1EE2-4F9A-9A7F-5B62281C5BA2}" type="slidenum">
              <a:rPr lang="fr-FR" sz="900">
                <a:solidFill>
                  <a:srgbClr val="5F5F5F"/>
                </a:solidFill>
                <a:latin typeface="Arial" charset="0"/>
              </a:rPr>
              <a:pPr algn="r" eaLnBrk="1" hangingPunct="1">
                <a:spcBef>
                  <a:spcPct val="0"/>
                </a:spcBef>
                <a:buClrTx/>
                <a:buFontTx/>
                <a:buNone/>
              </a:pPr>
              <a:t>40</a:t>
            </a:fld>
            <a:endParaRPr lang="en-US" sz="900">
              <a:solidFill>
                <a:srgbClr val="5F5F5F"/>
              </a:solidFill>
              <a:latin typeface="Arial" charset="0"/>
            </a:endParaRPr>
          </a:p>
        </p:txBody>
      </p:sp>
      <p:sp>
        <p:nvSpPr>
          <p:cNvPr id="9830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831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8311" name="Rectangle 69633"/>
          <p:cNvSpPr>
            <a:spLocks noGrp="1" noRot="1" noChangeAspect="1" noChangeArrowheads="1" noTextEdit="1"/>
          </p:cNvSpPr>
          <p:nvPr>
            <p:ph type="sldImg"/>
          </p:nvPr>
        </p:nvSpPr>
        <p:spPr>
          <a:noFill/>
          <a:ln cap="flat" algn="ctr">
            <a:headEnd type="none" w="med" len="med"/>
            <a:tailEnd type="none" w="med" len="med"/>
          </a:ln>
        </p:spPr>
      </p:sp>
      <p:sp>
        <p:nvSpPr>
          <p:cNvPr id="9831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D0C89161-B3AF-4486-A0F4-6B0D87D19887}" type="slidenum">
              <a:rPr lang="fr-FR" sz="1200" smtClean="0">
                <a:latin typeface="Arial" charset="0"/>
              </a:rPr>
              <a:pPr eaLnBrk="1" hangingPunct="1"/>
              <a:t>41</a:t>
            </a:fld>
            <a:endParaRPr lang="fr-FR" sz="1200">
              <a:latin typeface="Arial" charset="0"/>
            </a:endParaRPr>
          </a:p>
        </p:txBody>
      </p:sp>
      <p:sp>
        <p:nvSpPr>
          <p:cNvPr id="9830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725E2199-2985-48EA-B3DD-792DF30E0EB1}"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9830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9764BBBE-1EE2-4F9A-9A7F-5B62281C5BA2}" type="slidenum">
              <a:rPr lang="fr-FR" sz="900">
                <a:solidFill>
                  <a:srgbClr val="5F5F5F"/>
                </a:solidFill>
                <a:latin typeface="Arial" charset="0"/>
              </a:rPr>
              <a:pPr algn="r" eaLnBrk="1" hangingPunct="1">
                <a:spcBef>
                  <a:spcPct val="0"/>
                </a:spcBef>
                <a:buClrTx/>
                <a:buFontTx/>
                <a:buNone/>
              </a:pPr>
              <a:t>41</a:t>
            </a:fld>
            <a:endParaRPr lang="en-US" sz="900">
              <a:solidFill>
                <a:srgbClr val="5F5F5F"/>
              </a:solidFill>
              <a:latin typeface="Arial" charset="0"/>
            </a:endParaRPr>
          </a:p>
        </p:txBody>
      </p:sp>
      <p:sp>
        <p:nvSpPr>
          <p:cNvPr id="9830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9831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98311" name="Rectangle 69633"/>
          <p:cNvSpPr>
            <a:spLocks noGrp="1" noRot="1" noChangeAspect="1" noChangeArrowheads="1" noTextEdit="1"/>
          </p:cNvSpPr>
          <p:nvPr>
            <p:ph type="sldImg"/>
          </p:nvPr>
        </p:nvSpPr>
        <p:spPr>
          <a:noFill/>
          <a:ln cap="flat" algn="ctr">
            <a:headEnd type="none" w="med" len="med"/>
            <a:tailEnd type="none" w="med" len="med"/>
          </a:ln>
        </p:spPr>
      </p:sp>
      <p:sp>
        <p:nvSpPr>
          <p:cNvPr id="9831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C8B917FC-4263-4506-8FF5-D12E6F863C7B}" type="slidenum">
              <a:rPr lang="fr-FR" sz="1200" smtClean="0">
                <a:latin typeface="Arial" charset="0"/>
              </a:rPr>
              <a:pPr eaLnBrk="1" hangingPunct="1"/>
              <a:t>42</a:t>
            </a:fld>
            <a:endParaRPr lang="fr-FR" sz="1200">
              <a:latin typeface="Arial" charset="0"/>
            </a:endParaRPr>
          </a:p>
        </p:txBody>
      </p:sp>
      <p:sp>
        <p:nvSpPr>
          <p:cNvPr id="1003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A44336B5-EA9D-4163-A7D5-B65F855C3820}"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03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E1174B3A-9F43-4F73-976B-288E25CE8A5E}" type="slidenum">
              <a:rPr lang="fr-FR" sz="900">
                <a:solidFill>
                  <a:srgbClr val="5F5F5F"/>
                </a:solidFill>
                <a:latin typeface="Arial" charset="0"/>
              </a:rPr>
              <a:pPr algn="r" eaLnBrk="1" hangingPunct="1">
                <a:spcBef>
                  <a:spcPct val="0"/>
                </a:spcBef>
                <a:buClrTx/>
                <a:buFontTx/>
                <a:buNone/>
              </a:pPr>
              <a:t>42</a:t>
            </a:fld>
            <a:endParaRPr lang="en-US" sz="900">
              <a:solidFill>
                <a:srgbClr val="5F5F5F"/>
              </a:solidFill>
              <a:latin typeface="Arial" charset="0"/>
            </a:endParaRPr>
          </a:p>
        </p:txBody>
      </p:sp>
      <p:sp>
        <p:nvSpPr>
          <p:cNvPr id="1003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03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0359" name="Rectangle 69633"/>
          <p:cNvSpPr>
            <a:spLocks noGrp="1" noRot="1" noChangeAspect="1" noChangeArrowheads="1" noTextEdit="1"/>
          </p:cNvSpPr>
          <p:nvPr>
            <p:ph type="sldImg"/>
          </p:nvPr>
        </p:nvSpPr>
        <p:spPr>
          <a:noFill/>
          <a:ln cap="flat" algn="ctr">
            <a:headEnd type="none" w="med" len="med"/>
            <a:tailEnd type="none" w="med" len="med"/>
          </a:ln>
        </p:spPr>
      </p:sp>
      <p:sp>
        <p:nvSpPr>
          <p:cNvPr id="1003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560E05B3-1D01-45A9-8350-88875D2480F1}" type="slidenum">
              <a:rPr lang="fr-FR" sz="1200" smtClean="0">
                <a:latin typeface="Arial" charset="0"/>
              </a:rPr>
              <a:pPr eaLnBrk="1" hangingPunct="1"/>
              <a:t>43</a:t>
            </a:fld>
            <a:endParaRPr lang="fr-FR" sz="1200">
              <a:latin typeface="Arial" charset="0"/>
            </a:endParaRPr>
          </a:p>
        </p:txBody>
      </p:sp>
      <p:sp>
        <p:nvSpPr>
          <p:cNvPr id="1013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F5F55530-A85C-41EC-A625-9BDAE81482E7}"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13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310638FE-F4C9-41A5-A955-3FB108489E88}" type="slidenum">
              <a:rPr lang="fr-FR" sz="900">
                <a:solidFill>
                  <a:srgbClr val="5F5F5F"/>
                </a:solidFill>
                <a:latin typeface="Arial" charset="0"/>
              </a:rPr>
              <a:pPr algn="r" eaLnBrk="1" hangingPunct="1">
                <a:spcBef>
                  <a:spcPct val="0"/>
                </a:spcBef>
                <a:buClrTx/>
                <a:buFontTx/>
                <a:buNone/>
              </a:pPr>
              <a:t>43</a:t>
            </a:fld>
            <a:endParaRPr lang="en-US" sz="900">
              <a:solidFill>
                <a:srgbClr val="5F5F5F"/>
              </a:solidFill>
              <a:latin typeface="Arial" charset="0"/>
            </a:endParaRPr>
          </a:p>
        </p:txBody>
      </p:sp>
      <p:sp>
        <p:nvSpPr>
          <p:cNvPr id="1013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13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1383" name="Rectangle 69633"/>
          <p:cNvSpPr>
            <a:spLocks noGrp="1" noRot="1" noChangeAspect="1" noChangeArrowheads="1" noTextEdit="1"/>
          </p:cNvSpPr>
          <p:nvPr>
            <p:ph type="sldImg"/>
          </p:nvPr>
        </p:nvSpPr>
        <p:spPr>
          <a:noFill/>
          <a:ln cap="flat" algn="ctr">
            <a:headEnd type="none" w="med" len="med"/>
            <a:tailEnd type="none" w="med" len="med"/>
          </a:ln>
        </p:spPr>
      </p:sp>
      <p:sp>
        <p:nvSpPr>
          <p:cNvPr id="1013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6DCCD855-B37D-4EA8-9075-42ACD69C4C07}" type="slidenum">
              <a:rPr lang="fr-FR" sz="1200" smtClean="0">
                <a:latin typeface="Arial" charset="0"/>
              </a:rPr>
              <a:pPr eaLnBrk="1" hangingPunct="1"/>
              <a:t>44</a:t>
            </a:fld>
            <a:endParaRPr lang="fr-FR" sz="1200">
              <a:latin typeface="Arial" charset="0"/>
            </a:endParaRPr>
          </a:p>
        </p:txBody>
      </p:sp>
      <p:sp>
        <p:nvSpPr>
          <p:cNvPr id="10240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3380A5F6-FCD2-4DB5-874A-81E7D0AF3BE3}"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240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1AD9AA71-95BB-4D92-948F-CC3426FB595F}" type="slidenum">
              <a:rPr lang="fr-FR" sz="900">
                <a:solidFill>
                  <a:srgbClr val="5F5F5F"/>
                </a:solidFill>
                <a:latin typeface="Arial" charset="0"/>
              </a:rPr>
              <a:pPr algn="r" eaLnBrk="1" hangingPunct="1">
                <a:spcBef>
                  <a:spcPct val="0"/>
                </a:spcBef>
                <a:buClrTx/>
                <a:buFontTx/>
                <a:buNone/>
              </a:pPr>
              <a:t>44</a:t>
            </a:fld>
            <a:endParaRPr lang="en-US" sz="900">
              <a:solidFill>
                <a:srgbClr val="5F5F5F"/>
              </a:solidFill>
              <a:latin typeface="Arial" charset="0"/>
            </a:endParaRPr>
          </a:p>
        </p:txBody>
      </p:sp>
      <p:sp>
        <p:nvSpPr>
          <p:cNvPr id="10240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240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2407" name="Rectangle 69633"/>
          <p:cNvSpPr>
            <a:spLocks noGrp="1" noRot="1" noChangeAspect="1" noChangeArrowheads="1" noTextEdit="1"/>
          </p:cNvSpPr>
          <p:nvPr>
            <p:ph type="sldImg"/>
          </p:nvPr>
        </p:nvSpPr>
        <p:spPr>
          <a:noFill/>
          <a:ln cap="flat" algn="ctr">
            <a:headEnd type="none" w="med" len="med"/>
            <a:tailEnd type="none" w="med" len="med"/>
          </a:ln>
        </p:spPr>
      </p:sp>
      <p:sp>
        <p:nvSpPr>
          <p:cNvPr id="10240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7BE066B0-3270-4E9D-B7ED-7EDE1E50335D}" type="slidenum">
              <a:rPr lang="fr-FR" sz="1200" smtClean="0">
                <a:latin typeface="Arial" charset="0"/>
              </a:rPr>
              <a:pPr eaLnBrk="1" hangingPunct="1"/>
              <a:t>45</a:t>
            </a:fld>
            <a:endParaRPr lang="fr-FR" sz="1200">
              <a:latin typeface="Arial" charset="0"/>
            </a:endParaRPr>
          </a:p>
        </p:txBody>
      </p:sp>
      <p:sp>
        <p:nvSpPr>
          <p:cNvPr id="10342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9FD7374C-CBAB-4AE9-873D-A7E42906350E}"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342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C3D7CBBB-5852-4C3E-A3E9-09636DB60C6D}" type="slidenum">
              <a:rPr lang="fr-FR" sz="900">
                <a:solidFill>
                  <a:srgbClr val="5F5F5F"/>
                </a:solidFill>
                <a:latin typeface="Arial" charset="0"/>
              </a:rPr>
              <a:pPr algn="r" eaLnBrk="1" hangingPunct="1">
                <a:spcBef>
                  <a:spcPct val="0"/>
                </a:spcBef>
                <a:buClrTx/>
                <a:buFontTx/>
                <a:buNone/>
              </a:pPr>
              <a:t>45</a:t>
            </a:fld>
            <a:endParaRPr lang="en-US" sz="900">
              <a:solidFill>
                <a:srgbClr val="5F5F5F"/>
              </a:solidFill>
              <a:latin typeface="Arial" charset="0"/>
            </a:endParaRPr>
          </a:p>
        </p:txBody>
      </p:sp>
      <p:sp>
        <p:nvSpPr>
          <p:cNvPr id="10342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343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3431" name="Rectangle 69633"/>
          <p:cNvSpPr>
            <a:spLocks noGrp="1" noRot="1" noChangeAspect="1" noChangeArrowheads="1" noTextEdit="1"/>
          </p:cNvSpPr>
          <p:nvPr>
            <p:ph type="sldImg"/>
          </p:nvPr>
        </p:nvSpPr>
        <p:spPr>
          <a:noFill/>
          <a:ln cap="flat" algn="ctr">
            <a:headEnd type="none" w="med" len="med"/>
            <a:tailEnd type="none" w="med" len="med"/>
          </a:ln>
        </p:spPr>
      </p:sp>
      <p:sp>
        <p:nvSpPr>
          <p:cNvPr id="10343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1D24135E-BC69-4A33-87EB-7AD1AD48B90E}" type="slidenum">
              <a:rPr lang="fr-FR" sz="1200" smtClean="0">
                <a:latin typeface="Arial" charset="0"/>
              </a:rPr>
              <a:pPr eaLnBrk="1" hangingPunct="1"/>
              <a:t>46</a:t>
            </a:fld>
            <a:endParaRPr lang="fr-FR" sz="1200">
              <a:latin typeface="Arial" charset="0"/>
            </a:endParaRPr>
          </a:p>
        </p:txBody>
      </p:sp>
      <p:sp>
        <p:nvSpPr>
          <p:cNvPr id="10445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12584C6F-4513-43C9-A990-47B7C582546A}"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445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2DAC1A58-92FA-49BC-B42B-F4F05980E4F5}" type="slidenum">
              <a:rPr lang="fr-FR" sz="900">
                <a:solidFill>
                  <a:srgbClr val="5F5F5F"/>
                </a:solidFill>
                <a:latin typeface="Arial" charset="0"/>
              </a:rPr>
              <a:pPr algn="r" eaLnBrk="1" hangingPunct="1">
                <a:spcBef>
                  <a:spcPct val="0"/>
                </a:spcBef>
                <a:buClrTx/>
                <a:buFontTx/>
                <a:buNone/>
              </a:pPr>
              <a:t>46</a:t>
            </a:fld>
            <a:endParaRPr lang="en-US" sz="900">
              <a:solidFill>
                <a:srgbClr val="5F5F5F"/>
              </a:solidFill>
              <a:latin typeface="Arial" charset="0"/>
            </a:endParaRPr>
          </a:p>
        </p:txBody>
      </p:sp>
      <p:sp>
        <p:nvSpPr>
          <p:cNvPr id="10445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445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4455" name="Rectangle 69633"/>
          <p:cNvSpPr>
            <a:spLocks noGrp="1" noRot="1" noChangeAspect="1" noChangeArrowheads="1" noTextEdit="1"/>
          </p:cNvSpPr>
          <p:nvPr>
            <p:ph type="sldImg"/>
          </p:nvPr>
        </p:nvSpPr>
        <p:spPr>
          <a:noFill/>
          <a:ln cap="flat" algn="ctr">
            <a:headEnd type="none" w="med" len="med"/>
            <a:tailEnd type="none" w="med" len="med"/>
          </a:ln>
        </p:spPr>
      </p:sp>
      <p:sp>
        <p:nvSpPr>
          <p:cNvPr id="10445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E512B5E3-3FC5-488B-978E-46093C92082C}" type="slidenum">
              <a:rPr lang="fr-FR" sz="1200" smtClean="0">
                <a:latin typeface="Arial" charset="0"/>
              </a:rPr>
              <a:pPr eaLnBrk="1" hangingPunct="1"/>
              <a:t>47</a:t>
            </a:fld>
            <a:endParaRPr lang="fr-FR" sz="1200">
              <a:latin typeface="Arial" charset="0"/>
            </a:endParaRPr>
          </a:p>
        </p:txBody>
      </p:sp>
      <p:sp>
        <p:nvSpPr>
          <p:cNvPr id="10547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A98E69FE-A135-493B-9CAC-BAD9604FE951}"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547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4860D79C-9292-4EDB-B980-981909BFC190}" type="slidenum">
              <a:rPr lang="fr-FR" sz="900">
                <a:solidFill>
                  <a:srgbClr val="5F5F5F"/>
                </a:solidFill>
                <a:latin typeface="Arial" charset="0"/>
              </a:rPr>
              <a:pPr algn="r" eaLnBrk="1" hangingPunct="1">
                <a:spcBef>
                  <a:spcPct val="0"/>
                </a:spcBef>
                <a:buClrTx/>
                <a:buFontTx/>
                <a:buNone/>
              </a:pPr>
              <a:t>47</a:t>
            </a:fld>
            <a:endParaRPr lang="en-US" sz="900">
              <a:solidFill>
                <a:srgbClr val="5F5F5F"/>
              </a:solidFill>
              <a:latin typeface="Arial" charset="0"/>
            </a:endParaRPr>
          </a:p>
        </p:txBody>
      </p:sp>
      <p:sp>
        <p:nvSpPr>
          <p:cNvPr id="10547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547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5479" name="Rectangle 69633"/>
          <p:cNvSpPr>
            <a:spLocks noGrp="1" noRot="1" noChangeAspect="1" noChangeArrowheads="1" noTextEdit="1"/>
          </p:cNvSpPr>
          <p:nvPr>
            <p:ph type="sldImg"/>
          </p:nvPr>
        </p:nvSpPr>
        <p:spPr>
          <a:noFill/>
          <a:ln cap="flat" algn="ctr">
            <a:headEnd type="none" w="med" len="med"/>
            <a:tailEnd type="none" w="med" len="med"/>
          </a:ln>
        </p:spPr>
      </p:sp>
      <p:sp>
        <p:nvSpPr>
          <p:cNvPr id="10548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ED96962E-12D6-4D7B-AA64-300C1AFE4465}" type="slidenum">
              <a:rPr lang="fr-FR" sz="1200" smtClean="0">
                <a:latin typeface="Arial" charset="0"/>
              </a:rPr>
              <a:pPr eaLnBrk="1" hangingPunct="1"/>
              <a:t>48</a:t>
            </a:fld>
            <a:endParaRPr lang="fr-FR" sz="1200">
              <a:latin typeface="Arial" charset="0"/>
            </a:endParaRPr>
          </a:p>
        </p:txBody>
      </p:sp>
      <p:sp>
        <p:nvSpPr>
          <p:cNvPr id="10649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B789ED38-D6D5-4601-8E61-A4D364556740}"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650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C0CDD958-C359-47D7-946C-B1C2E5982A6F}" type="slidenum">
              <a:rPr lang="fr-FR" sz="900">
                <a:solidFill>
                  <a:srgbClr val="5F5F5F"/>
                </a:solidFill>
                <a:latin typeface="Arial" charset="0"/>
              </a:rPr>
              <a:pPr algn="r" eaLnBrk="1" hangingPunct="1">
                <a:spcBef>
                  <a:spcPct val="0"/>
                </a:spcBef>
                <a:buClrTx/>
                <a:buFontTx/>
                <a:buNone/>
              </a:pPr>
              <a:t>48</a:t>
            </a:fld>
            <a:endParaRPr lang="en-US" sz="900">
              <a:solidFill>
                <a:srgbClr val="5F5F5F"/>
              </a:solidFill>
              <a:latin typeface="Arial" charset="0"/>
            </a:endParaRPr>
          </a:p>
        </p:txBody>
      </p:sp>
      <p:sp>
        <p:nvSpPr>
          <p:cNvPr id="10650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650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6503" name="Rectangle 69633"/>
          <p:cNvSpPr>
            <a:spLocks noGrp="1" noRot="1" noChangeAspect="1" noChangeArrowheads="1" noTextEdit="1"/>
          </p:cNvSpPr>
          <p:nvPr>
            <p:ph type="sldImg"/>
          </p:nvPr>
        </p:nvSpPr>
        <p:spPr>
          <a:noFill/>
          <a:ln cap="flat" algn="ctr">
            <a:headEnd type="none" w="med" len="med"/>
            <a:tailEnd type="none" w="med" len="med"/>
          </a:ln>
        </p:spPr>
      </p:sp>
      <p:sp>
        <p:nvSpPr>
          <p:cNvPr id="10650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88088AFC-003F-4C70-9535-065364929F69}" type="slidenum">
              <a:rPr lang="fr-FR" sz="1200" smtClean="0">
                <a:latin typeface="Arial" charset="0"/>
              </a:rPr>
              <a:pPr eaLnBrk="1" hangingPunct="1"/>
              <a:t>49</a:t>
            </a:fld>
            <a:endParaRPr lang="fr-FR" sz="1200">
              <a:latin typeface="Arial" charset="0"/>
            </a:endParaRPr>
          </a:p>
        </p:txBody>
      </p:sp>
      <p:sp>
        <p:nvSpPr>
          <p:cNvPr id="10752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CB66100F-5467-49B9-8DCD-F58C8ADAB6E5}"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752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6C5A0006-85DA-473D-A8EE-09F822E511CE}" type="slidenum">
              <a:rPr lang="fr-FR" sz="900">
                <a:solidFill>
                  <a:srgbClr val="5F5F5F"/>
                </a:solidFill>
                <a:latin typeface="Arial" charset="0"/>
              </a:rPr>
              <a:pPr algn="r" eaLnBrk="1" hangingPunct="1">
                <a:spcBef>
                  <a:spcPct val="0"/>
                </a:spcBef>
                <a:buClrTx/>
                <a:buFontTx/>
                <a:buNone/>
              </a:pPr>
              <a:t>49</a:t>
            </a:fld>
            <a:endParaRPr lang="en-US" sz="900">
              <a:solidFill>
                <a:srgbClr val="5F5F5F"/>
              </a:solidFill>
              <a:latin typeface="Arial" charset="0"/>
            </a:endParaRPr>
          </a:p>
        </p:txBody>
      </p:sp>
      <p:sp>
        <p:nvSpPr>
          <p:cNvPr id="10752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752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7527" name="Rectangle 69633"/>
          <p:cNvSpPr>
            <a:spLocks noGrp="1" noRot="1" noChangeAspect="1" noChangeArrowheads="1" noTextEdit="1"/>
          </p:cNvSpPr>
          <p:nvPr>
            <p:ph type="sldImg"/>
          </p:nvPr>
        </p:nvSpPr>
        <p:spPr>
          <a:noFill/>
          <a:ln cap="flat" algn="ctr">
            <a:headEnd type="none" w="med" len="med"/>
            <a:tailEnd type="none" w="med" len="med"/>
          </a:ln>
        </p:spPr>
      </p:sp>
      <p:sp>
        <p:nvSpPr>
          <p:cNvPr id="10752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210FDC84-C363-47A5-9029-6D5C6473630C}" type="slidenum">
              <a:rPr lang="fr-FR" sz="1200" smtClean="0">
                <a:latin typeface="Arial" charset="0"/>
              </a:rPr>
              <a:pPr eaLnBrk="1" hangingPunct="1"/>
              <a:t>50</a:t>
            </a:fld>
            <a:endParaRPr lang="fr-FR" sz="1200">
              <a:latin typeface="Arial" charset="0"/>
            </a:endParaRPr>
          </a:p>
        </p:txBody>
      </p:sp>
      <p:sp>
        <p:nvSpPr>
          <p:cNvPr id="10957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0131551F-95F1-4193-ACD6-602929D09D6E}"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0957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7A008877-B8E7-49FB-BA82-8BFD06B4D0F3}" type="slidenum">
              <a:rPr lang="fr-FR" sz="900">
                <a:solidFill>
                  <a:srgbClr val="5F5F5F"/>
                </a:solidFill>
                <a:latin typeface="Arial" charset="0"/>
              </a:rPr>
              <a:pPr algn="r" eaLnBrk="1" hangingPunct="1">
                <a:spcBef>
                  <a:spcPct val="0"/>
                </a:spcBef>
                <a:buClrTx/>
                <a:buFontTx/>
                <a:buNone/>
              </a:pPr>
              <a:t>50</a:t>
            </a:fld>
            <a:endParaRPr lang="en-US" sz="900">
              <a:solidFill>
                <a:srgbClr val="5F5F5F"/>
              </a:solidFill>
              <a:latin typeface="Arial" charset="0"/>
            </a:endParaRPr>
          </a:p>
        </p:txBody>
      </p:sp>
      <p:sp>
        <p:nvSpPr>
          <p:cNvPr id="10957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0957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09575" name="Rectangle 69633"/>
          <p:cNvSpPr>
            <a:spLocks noGrp="1" noRot="1" noChangeAspect="1" noChangeArrowheads="1" noTextEdit="1"/>
          </p:cNvSpPr>
          <p:nvPr>
            <p:ph type="sldImg"/>
          </p:nvPr>
        </p:nvSpPr>
        <p:spPr>
          <a:noFill/>
          <a:ln cap="flat" algn="ctr">
            <a:headEnd type="none" w="med" len="med"/>
            <a:tailEnd type="none" w="med" len="med"/>
          </a:ln>
        </p:spPr>
      </p:sp>
      <p:sp>
        <p:nvSpPr>
          <p:cNvPr id="10957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59BE71C8-9EA9-4E0E-8276-24DAA32A98FF}" type="slidenum">
              <a:rPr lang="fr-FR" sz="1200" smtClean="0">
                <a:latin typeface="Arial" charset="0"/>
              </a:rPr>
              <a:pPr eaLnBrk="1" hangingPunct="1"/>
              <a:t>51</a:t>
            </a:fld>
            <a:endParaRPr lang="fr-FR" sz="1200">
              <a:latin typeface="Arial" charset="0"/>
            </a:endParaRPr>
          </a:p>
        </p:txBody>
      </p:sp>
      <p:sp>
        <p:nvSpPr>
          <p:cNvPr id="11059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AEDD0873-2DE3-4DA0-BC5E-0A21C3FCF1F9}"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1059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28851DAB-2F53-4032-85D6-ED94D552E33E}" type="slidenum">
              <a:rPr lang="fr-FR" sz="900">
                <a:solidFill>
                  <a:srgbClr val="5F5F5F"/>
                </a:solidFill>
                <a:latin typeface="Arial" charset="0"/>
              </a:rPr>
              <a:pPr algn="r" eaLnBrk="1" hangingPunct="1">
                <a:spcBef>
                  <a:spcPct val="0"/>
                </a:spcBef>
                <a:buClrTx/>
                <a:buFontTx/>
                <a:buNone/>
              </a:pPr>
              <a:t>51</a:t>
            </a:fld>
            <a:endParaRPr lang="en-US" sz="900">
              <a:solidFill>
                <a:srgbClr val="5F5F5F"/>
              </a:solidFill>
              <a:latin typeface="Arial" charset="0"/>
            </a:endParaRPr>
          </a:p>
        </p:txBody>
      </p:sp>
      <p:sp>
        <p:nvSpPr>
          <p:cNvPr id="11059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1059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10599" name="Rectangle 69633"/>
          <p:cNvSpPr>
            <a:spLocks noGrp="1" noRot="1" noChangeAspect="1" noChangeArrowheads="1" noTextEdit="1"/>
          </p:cNvSpPr>
          <p:nvPr>
            <p:ph type="sldImg"/>
          </p:nvPr>
        </p:nvSpPr>
        <p:spPr>
          <a:noFill/>
          <a:ln cap="flat" algn="ctr">
            <a:headEnd type="none" w="med" len="med"/>
            <a:tailEnd type="none" w="med" len="med"/>
          </a:ln>
        </p:spPr>
      </p:sp>
      <p:sp>
        <p:nvSpPr>
          <p:cNvPr id="11060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35B3F3D3-5472-4C2E-A90E-AFB90E419389}" type="slidenum">
              <a:rPr lang="fr-FR" sz="1200" smtClean="0">
                <a:latin typeface="Arial" charset="0"/>
              </a:rPr>
              <a:pPr eaLnBrk="1" hangingPunct="1"/>
              <a:t>52</a:t>
            </a:fld>
            <a:endParaRPr lang="fr-FR" sz="1200">
              <a:latin typeface="Arial" charset="0"/>
            </a:endParaRPr>
          </a:p>
        </p:txBody>
      </p:sp>
      <p:sp>
        <p:nvSpPr>
          <p:cNvPr id="11161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DB7BD365-601D-4F79-A774-E7AC1FADB42F}"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1162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DE49194B-3CD4-47EF-A700-E504D6E15DF7}" type="slidenum">
              <a:rPr lang="fr-FR" sz="900">
                <a:solidFill>
                  <a:srgbClr val="5F5F5F"/>
                </a:solidFill>
                <a:latin typeface="Arial" charset="0"/>
              </a:rPr>
              <a:pPr algn="r" eaLnBrk="1" hangingPunct="1">
                <a:spcBef>
                  <a:spcPct val="0"/>
                </a:spcBef>
                <a:buClrTx/>
                <a:buFontTx/>
                <a:buNone/>
              </a:pPr>
              <a:t>52</a:t>
            </a:fld>
            <a:endParaRPr lang="en-US" sz="900">
              <a:solidFill>
                <a:srgbClr val="5F5F5F"/>
              </a:solidFill>
              <a:latin typeface="Arial" charset="0"/>
            </a:endParaRPr>
          </a:p>
        </p:txBody>
      </p:sp>
      <p:sp>
        <p:nvSpPr>
          <p:cNvPr id="11162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1162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11623" name="Rectangle 69633"/>
          <p:cNvSpPr>
            <a:spLocks noGrp="1" noRot="1" noChangeAspect="1" noChangeArrowheads="1" noTextEdit="1"/>
          </p:cNvSpPr>
          <p:nvPr>
            <p:ph type="sldImg"/>
          </p:nvPr>
        </p:nvSpPr>
        <p:spPr>
          <a:noFill/>
          <a:ln cap="flat" algn="ctr">
            <a:headEnd type="none" w="med" len="med"/>
            <a:tailEnd type="none" w="med" len="med"/>
          </a:ln>
        </p:spPr>
      </p:sp>
      <p:sp>
        <p:nvSpPr>
          <p:cNvPr id="11162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fld id="{2C8B1658-1C11-4D60-A234-138DB7CE340E}" type="slidenum">
              <a:rPr lang="fr-FR" sz="1200" smtClean="0">
                <a:latin typeface="Arial" charset="0"/>
              </a:rPr>
              <a:pPr eaLnBrk="1" hangingPunct="1"/>
              <a:t>53</a:t>
            </a:fld>
            <a:endParaRPr lang="fr-FR" sz="1200">
              <a:latin typeface="Arial" charset="0"/>
            </a:endParaRPr>
          </a:p>
        </p:txBody>
      </p:sp>
      <p:sp>
        <p:nvSpPr>
          <p:cNvPr id="11264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fld id="{F2B1872E-3FEB-4C13-94BE-3FFC2BFC61D1}" type="datetime5">
              <a:rPr lang="en-US" sz="900">
                <a:solidFill>
                  <a:srgbClr val="5F5F5F"/>
                </a:solidFill>
                <a:latin typeface="Arial" charset="0"/>
              </a:rPr>
              <a:pPr eaLnBrk="1" hangingPunct="1">
                <a:spcBef>
                  <a:spcPct val="0"/>
                </a:spcBef>
                <a:buClrTx/>
                <a:buFontTx/>
                <a:buNone/>
              </a:pPr>
              <a:t>18-Feb-25</a:t>
            </a:fld>
            <a:endParaRPr lang="en-US" sz="900">
              <a:solidFill>
                <a:srgbClr val="5F5F5F"/>
              </a:solidFill>
              <a:latin typeface="Arial" charset="0"/>
            </a:endParaRPr>
          </a:p>
        </p:txBody>
      </p:sp>
      <p:sp>
        <p:nvSpPr>
          <p:cNvPr id="11264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fld id="{758F2CDD-5FC7-415F-B658-1B147033D34B}" type="slidenum">
              <a:rPr lang="fr-FR" sz="900">
                <a:solidFill>
                  <a:srgbClr val="5F5F5F"/>
                </a:solidFill>
                <a:latin typeface="Arial" charset="0"/>
              </a:rPr>
              <a:pPr algn="r" eaLnBrk="1" hangingPunct="1">
                <a:spcBef>
                  <a:spcPct val="0"/>
                </a:spcBef>
                <a:buClrTx/>
                <a:buFontTx/>
                <a:buNone/>
              </a:pPr>
              <a:t>53</a:t>
            </a:fld>
            <a:endParaRPr lang="en-US" sz="900">
              <a:solidFill>
                <a:srgbClr val="5F5F5F"/>
              </a:solidFill>
              <a:latin typeface="Arial" charset="0"/>
            </a:endParaRPr>
          </a:p>
        </p:txBody>
      </p:sp>
      <p:sp>
        <p:nvSpPr>
          <p:cNvPr id="11264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buClrTx/>
              <a:buFontTx/>
              <a:buNone/>
            </a:pPr>
            <a:r>
              <a:rPr lang="en-US" sz="900">
                <a:solidFill>
                  <a:srgbClr val="5F5F5F"/>
                </a:solidFill>
                <a:latin typeface="Arial" charset="0"/>
              </a:rPr>
              <a:t>Copyright © 2004-2005 NameOfTheOrganization. All rights reserved.</a:t>
            </a:r>
          </a:p>
        </p:txBody>
      </p:sp>
      <p:sp>
        <p:nvSpPr>
          <p:cNvPr id="11264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lgn="r" eaLnBrk="1" hangingPunct="1">
              <a:spcBef>
                <a:spcPct val="0"/>
              </a:spcBef>
              <a:buClrTx/>
              <a:buFontTx/>
              <a:buNone/>
            </a:pPr>
            <a:r>
              <a:rPr lang="en-US" sz="900">
                <a:solidFill>
                  <a:srgbClr val="5F5F5F"/>
                </a:solidFill>
                <a:latin typeface="Arial" charset="0"/>
              </a:rPr>
              <a:t>[Title of the course]</a:t>
            </a:r>
          </a:p>
        </p:txBody>
      </p:sp>
      <p:sp>
        <p:nvSpPr>
          <p:cNvPr id="112647" name="Rectangle 69633"/>
          <p:cNvSpPr>
            <a:spLocks noGrp="1" noRot="1" noChangeAspect="1" noChangeArrowheads="1" noTextEdit="1"/>
          </p:cNvSpPr>
          <p:nvPr>
            <p:ph type="sldImg"/>
          </p:nvPr>
        </p:nvSpPr>
        <p:spPr>
          <a:noFill/>
          <a:ln cap="flat" algn="ctr">
            <a:headEnd type="none" w="med" len="med"/>
            <a:tailEnd type="none" w="med" len="med"/>
          </a:ln>
        </p:spPr>
      </p:sp>
      <p:sp>
        <p:nvSpPr>
          <p:cNvPr id="11264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2.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3.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3.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5.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6.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6.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8.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1622425"/>
            <a:ext cx="9144000" cy="2263775"/>
          </a:xfrm>
          <a:prstGeom prst="rect">
            <a:avLst/>
          </a:prstGeom>
          <a:gradFill rotWithShape="1">
            <a:gsLst>
              <a:gs pos="0">
                <a:schemeClr val="accent2">
                  <a:alpha val="75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sp>
        <p:nvSpPr>
          <p:cNvPr id="340995" name="Rectangle 3"/>
          <p:cNvSpPr>
            <a:spLocks noGrp="1" noChangeArrowheads="1"/>
          </p:cNvSpPr>
          <p:nvPr>
            <p:ph type="subTitle" idx="1"/>
          </p:nvPr>
        </p:nvSpPr>
        <p:spPr>
          <a:xfrm>
            <a:off x="2514600" y="3962400"/>
            <a:ext cx="6248400" cy="1447800"/>
          </a:xfrm>
        </p:spPr>
        <p:txBody>
          <a:bodyPr/>
          <a:lstStyle>
            <a:lvl1pPr marL="0" indent="0">
              <a:buFont typeface="Wingdings" pitchFamily="2" charset="2"/>
              <a:buNone/>
              <a:defRPr/>
            </a:lvl1pPr>
          </a:lstStyle>
          <a:p>
            <a:r>
              <a:rPr lang="en-US"/>
              <a:t>Click to edit Master subtitle</a:t>
            </a:r>
          </a:p>
        </p:txBody>
      </p:sp>
      <p:sp>
        <p:nvSpPr>
          <p:cNvPr id="4" name="Rectangle 4"/>
          <p:cNvSpPr>
            <a:spLocks noGrp="1" noChangeArrowheads="1"/>
          </p:cNvSpPr>
          <p:nvPr>
            <p:ph type="ftr" sz="quarter" idx="10"/>
          </p:nvPr>
        </p:nvSpPr>
        <p:spPr>
          <a:xfrm>
            <a:off x="2928938" y="6500813"/>
            <a:ext cx="6357937" cy="357187"/>
          </a:xfrm>
        </p:spPr>
        <p:txBody>
          <a:bodyPr/>
          <a:lstStyle>
            <a:lvl1pPr algn="ctr">
              <a:defRPr sz="900">
                <a:solidFill>
                  <a:schemeClr val="bg2"/>
                </a:solidFill>
              </a:defRPr>
            </a:lvl1pPr>
          </a:lstStyle>
          <a:p>
            <a:pPr>
              <a:defRPr/>
            </a:pPr>
            <a:r>
              <a:rPr lang="it-IT"/>
              <a:t>A.DARIF            SUPMTI / ISI                      2015 / 2016   </a:t>
            </a:r>
            <a:endParaRPr lang="en-US" dirty="0"/>
          </a:p>
        </p:txBody>
      </p:sp>
    </p:spTree>
    <p:extLst>
      <p:ext uri="{BB962C8B-B14F-4D97-AF65-F5344CB8AC3E}">
        <p14:creationId xmlns:p14="http://schemas.microsoft.com/office/powerpoint/2010/main" val="3922795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15029BFB-FBEF-4D30-BB3E-020095688B84}"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3055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DFDBA563-A752-4858-B433-96674A1EA0D2}" type="slidenum">
              <a:rPr lang="fr-FR" sz="1200" smtClean="0"/>
              <a:pPr eaLnBrk="1" hangingPunct="1">
                <a:defRPr/>
              </a:pPr>
              <a:t>‹N°›</a:t>
            </a:fld>
            <a:endParaRPr lang="fr-FR"/>
          </a:p>
        </p:txBody>
      </p:sp>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8"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813068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5EF7DF74-90F2-4E2F-8897-25D965745A7D}"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044575" y="1524000"/>
            <a:ext cx="3783013"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979988" y="1524000"/>
            <a:ext cx="3783012"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931601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7"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8"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9624B6F7-B7EA-4C15-A172-C9F6AE498F6A}" type="slidenum">
              <a:rPr lang="fr-FR" sz="1200" smtClean="0"/>
              <a:pPr eaLnBrk="1" hangingPunct="1">
                <a:defRPr/>
              </a:pPr>
              <a:t>‹N°›</a:t>
            </a:fld>
            <a:endParaRPr lang="fr-FR"/>
          </a:p>
        </p:txBody>
      </p:sp>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230158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3"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4"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F2468322-2085-42CD-B38C-A4E3A653E565}"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7"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2831015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3"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55D005ED-8246-4A4A-AEC2-0FA3CB594EA5}" type="slidenum">
              <a:rPr lang="fr-FR" sz="1200" smtClean="0"/>
              <a:pPr eaLnBrk="1" hangingPunct="1">
                <a:defRPr/>
              </a:pPr>
              <a:t>‹N°›</a:t>
            </a:fld>
            <a:endParaRPr lang="fr-FR"/>
          </a:p>
        </p:txBody>
      </p:sp>
      <p:pic>
        <p:nvPicPr>
          <p:cNvPr id="6"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7"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57250"/>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B2433E6E-EF48-429F-A817-1B194D4AE956}" type="slidenum">
              <a:rPr lang="fr-FR" sz="1200" smtClean="0"/>
              <a:pPr eaLnBrk="1" hangingPunct="1">
                <a:defRPr/>
              </a:pPr>
              <a:t>‹N°›</a:t>
            </a:fld>
            <a:endParaRPr lang="fr-FR"/>
          </a:p>
        </p:txBody>
      </p:sp>
      <p:sp>
        <p:nvSpPr>
          <p:cNvPr id="9" name="ZoneTexte 18"/>
          <p:cNvSpPr txBox="1">
            <a:spLocks noChangeArrowheads="1"/>
          </p:cNvSpPr>
          <p:nvPr userDrawn="1"/>
        </p:nvSpPr>
        <p:spPr bwMode="auto">
          <a:xfrm>
            <a:off x="3857625" y="6572250"/>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endParaRPr lang="fr-FR"/>
          </a:p>
        </p:txBody>
      </p:sp>
      <p:sp>
        <p:nvSpPr>
          <p:cNvPr id="10"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374826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u avec légende">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9BBFF7A5-05E1-455F-B524-5EA9C6B53B9F}" type="slidenum">
              <a:rPr lang="fr-FR" sz="1200" smtClean="0"/>
              <a:pPr eaLnBrk="1" hangingPunct="1">
                <a:defRPr/>
              </a:pPr>
              <a:t>‹N°›</a:t>
            </a:fld>
            <a:endParaRPr lang="fr-FR"/>
          </a:p>
        </p:txBody>
      </p:sp>
      <p:pic>
        <p:nvPicPr>
          <p:cNvPr id="9"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3E7B0DE8-4388-443C-AA94-8C6080F23BCB}" type="slidenum">
              <a:rPr lang="fr-FR" sz="1200" smtClean="0"/>
              <a:pPr eaLnBrk="1" hangingPunct="1">
                <a:defRPr/>
              </a:pPr>
              <a:t>‹N°›</a:t>
            </a:fld>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2"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3113959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162F3AC2-B2A5-499D-9274-52E8EEF2437C}" type="slidenum">
              <a:rPr lang="fr-FR" sz="1200" smtClean="0"/>
              <a:pPr eaLnBrk="1" hangingPunct="1">
                <a:defRPr/>
              </a:pPr>
              <a:t>‹N°›</a:t>
            </a:fld>
            <a:endParaRPr lang="fr-FR"/>
          </a:p>
        </p:txBody>
      </p:sp>
      <p:pic>
        <p:nvPicPr>
          <p:cNvPr id="9"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F155DC7D-EC8E-43FE-811F-F2F7690311C0}" type="slidenum">
              <a:rPr lang="fr-FR" sz="1200" smtClean="0"/>
              <a:pPr eaLnBrk="1" hangingPunct="1">
                <a:defRPr/>
              </a:pPr>
              <a:t>‹N°›</a:t>
            </a:fld>
            <a:endParaRPr lang="fr-FR"/>
          </a:p>
        </p:txBody>
      </p:sp>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2"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3103114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A1A53C39-F0CA-4954-BDCE-BD3B5159CA75}" type="slidenum">
              <a:rPr lang="fr-FR" sz="1200" smtClean="0"/>
              <a:pPr eaLnBrk="1" hangingPunct="1">
                <a:defRPr/>
              </a:pPr>
              <a:t>‹N°›</a:t>
            </a:fld>
            <a:endParaRPr lang="fr-FR"/>
          </a:p>
        </p:txBody>
      </p:sp>
      <p:pic>
        <p:nvPicPr>
          <p:cNvPr id="8"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A44CA4C8-5B65-4E33-B48D-CE9633C3262B}"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532612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B5A108AA-AF65-4D62-AE5E-6794450F1951}" type="slidenum">
              <a:rPr lang="fr-FR" sz="1200" smtClean="0"/>
              <a:pPr eaLnBrk="1" hangingPunct="1">
                <a:defRPr/>
              </a:pPr>
              <a:t>‹N°›</a:t>
            </a:fld>
            <a:endParaRPr lang="fr-FR"/>
          </a:p>
        </p:txBody>
      </p:sp>
      <p:pic>
        <p:nvPicPr>
          <p:cNvPr id="8"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82BCABAC-6C47-4D6B-AD07-B99E9AC43352}" type="slidenum">
              <a:rPr lang="fr-FR" sz="1200" smtClean="0"/>
              <a:pPr eaLnBrk="1" hangingPunct="1">
                <a:defRPr/>
              </a:pPr>
              <a:t>‹N°›</a:t>
            </a:fld>
            <a:endParaRPr lang="fr-FR"/>
          </a:p>
        </p:txBody>
      </p:sp>
      <p:sp>
        <p:nvSpPr>
          <p:cNvPr id="2" name="Titre vertical 1"/>
          <p:cNvSpPr>
            <a:spLocks noGrp="1"/>
          </p:cNvSpPr>
          <p:nvPr>
            <p:ph type="title" orient="vert"/>
          </p:nvPr>
        </p:nvSpPr>
        <p:spPr>
          <a:xfrm>
            <a:off x="6831013" y="19050"/>
            <a:ext cx="1931987" cy="615315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033463" y="19050"/>
            <a:ext cx="5645150" cy="61531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133433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reserve="1">
  <p:cSld name="Titre et 4 contenus">
    <p:spTree>
      <p:nvGrpSpPr>
        <p:cNvPr id="1" name=""/>
        <p:cNvGrpSpPr/>
        <p:nvPr/>
      </p:nvGrpSpPr>
      <p:grpSpPr>
        <a:xfrm>
          <a:off x="0" y="0"/>
          <a:ext cx="0" cy="0"/>
          <a:chOff x="0" y="0"/>
          <a:chExt cx="0" cy="0"/>
        </a:xfrm>
      </p:grpSpPr>
      <p:sp>
        <p:nvSpPr>
          <p:cNvPr id="7"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8"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15D64568-981B-4373-AC11-C36239B553DA}" type="slidenum">
              <a:rPr lang="fr-FR" sz="1200" smtClean="0"/>
              <a:pPr eaLnBrk="1" hangingPunct="1">
                <a:defRPr/>
              </a:pPr>
              <a:t>‹N°›</a:t>
            </a:fld>
            <a:endParaRPr lang="fr-FR"/>
          </a:p>
        </p:txBody>
      </p:sp>
      <p:pic>
        <p:nvPicPr>
          <p:cNvPr id="11"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2"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4" name="ZoneTexte 18"/>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3AEC9F02-8532-4E49-9AD5-7B08B09A1B7D}" type="slidenum">
              <a:rPr lang="fr-FR" sz="1200" smtClean="0"/>
              <a:pPr eaLnBrk="1" hangingPunct="1">
                <a:defRPr/>
              </a:pPr>
              <a:t>‹N°›</a:t>
            </a:fld>
            <a:endParaRPr lang="fr-FR"/>
          </a:p>
        </p:txBody>
      </p:sp>
      <p:sp>
        <p:nvSpPr>
          <p:cNvPr id="2" name="Titre 1"/>
          <p:cNvSpPr>
            <a:spLocks noGrp="1"/>
          </p:cNvSpPr>
          <p:nvPr>
            <p:ph type="title" sz="quarter"/>
          </p:nvPr>
        </p:nvSpPr>
        <p:spPr>
          <a:xfrm>
            <a:off x="1033463" y="19050"/>
            <a:ext cx="7729537" cy="838200"/>
          </a:xfrm>
        </p:spPr>
        <p:txBody>
          <a:bodyPr/>
          <a:lstStyle/>
          <a:p>
            <a:r>
              <a:rPr lang="fr-FR" dirty="0"/>
              <a:t>Cliquez pour modifier le style du titre</a:t>
            </a:r>
          </a:p>
        </p:txBody>
      </p:sp>
      <p:sp>
        <p:nvSpPr>
          <p:cNvPr id="3" name="Espace réservé du contenu 2"/>
          <p:cNvSpPr>
            <a:spLocks noGrp="1"/>
          </p:cNvSpPr>
          <p:nvPr>
            <p:ph sz="quarter" idx="1"/>
          </p:nvPr>
        </p:nvSpPr>
        <p:spPr>
          <a:xfrm>
            <a:off x="1044575" y="1524000"/>
            <a:ext cx="3783013" cy="22479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contenu 3"/>
          <p:cNvSpPr>
            <a:spLocks noGrp="1"/>
          </p:cNvSpPr>
          <p:nvPr>
            <p:ph sz="quarter" idx="2"/>
          </p:nvPr>
        </p:nvSpPr>
        <p:spPr>
          <a:xfrm>
            <a:off x="4979988" y="1524000"/>
            <a:ext cx="3783012" cy="22479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contenu 4"/>
          <p:cNvSpPr>
            <a:spLocks noGrp="1"/>
          </p:cNvSpPr>
          <p:nvPr>
            <p:ph sz="quarter" idx="3"/>
          </p:nvPr>
        </p:nvSpPr>
        <p:spPr>
          <a:xfrm>
            <a:off x="1044575" y="3924300"/>
            <a:ext cx="3783013" cy="22479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contenu 5"/>
          <p:cNvSpPr>
            <a:spLocks noGrp="1"/>
          </p:cNvSpPr>
          <p:nvPr>
            <p:ph sz="quarter" idx="4"/>
          </p:nvPr>
        </p:nvSpPr>
        <p:spPr>
          <a:xfrm>
            <a:off x="4979988" y="3924300"/>
            <a:ext cx="3783012" cy="2247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Rectangle 4"/>
          <p:cNvSpPr>
            <a:spLocks noGrp="1" noChangeArrowheads="1"/>
          </p:cNvSpPr>
          <p:nvPr>
            <p:ph type="ftr" sz="quarter" idx="10"/>
          </p:nvPr>
        </p:nvSpPr>
        <p:spPr>
          <a:xfrm rot="16200000">
            <a:off x="-2004219" y="4496594"/>
            <a:ext cx="4365625" cy="357188"/>
          </a:xfrm>
        </p:spPr>
        <p:txBody>
          <a:bodyPr/>
          <a:lstStyle>
            <a:lvl1pPr algn="ctr">
              <a:defRPr sz="900" b="1">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2673617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TwoObj" preserve="1">
  <p:cSld name="Titre. Texte et 2 contenus">
    <p:spTree>
      <p:nvGrpSpPr>
        <p:cNvPr id="1" name=""/>
        <p:cNvGrpSpPr/>
        <p:nvPr/>
      </p:nvGrpSpPr>
      <p:grpSpPr>
        <a:xfrm>
          <a:off x="0" y="0"/>
          <a:ext cx="0" cy="0"/>
          <a:chOff x="0" y="0"/>
          <a:chExt cx="0" cy="0"/>
        </a:xfrm>
      </p:grpSpPr>
      <p:sp>
        <p:nvSpPr>
          <p:cNvPr id="6"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7"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48C67F8F-74B9-4EDF-B158-7B0FAC5A53B5}" type="slidenum">
              <a:rPr lang="fr-FR" sz="1200" smtClean="0"/>
              <a:pPr eaLnBrk="1" hangingPunct="1">
                <a:defRPr/>
              </a:pPr>
              <a:t>‹N°›</a:t>
            </a:fld>
            <a:endParaRPr lang="fr-FR"/>
          </a:p>
        </p:txBody>
      </p:sp>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1"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2"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 name="ZoneTexte 18"/>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2DF22047-59A0-4168-A910-65324593CA79}" type="slidenum">
              <a:rPr lang="fr-FR" sz="1200" smtClean="0"/>
              <a:pPr eaLnBrk="1" hangingPunct="1">
                <a:defRPr/>
              </a:pPr>
              <a:t>‹N°›</a:t>
            </a:fld>
            <a:endParaRPr lang="fr-FR"/>
          </a:p>
        </p:txBody>
      </p:sp>
      <p:sp>
        <p:nvSpPr>
          <p:cNvPr id="2" name="Titre 1"/>
          <p:cNvSpPr>
            <a:spLocks noGrp="1"/>
          </p:cNvSpPr>
          <p:nvPr>
            <p:ph type="title"/>
          </p:nvPr>
        </p:nvSpPr>
        <p:spPr>
          <a:xfrm>
            <a:off x="1033463" y="19050"/>
            <a:ext cx="7729537" cy="838200"/>
          </a:xfrm>
        </p:spPr>
        <p:txBody>
          <a:bodyPr/>
          <a:lstStyle/>
          <a:p>
            <a:r>
              <a:rPr lang="fr-FR"/>
              <a:t>Cliquez pour modifier le style du titre</a:t>
            </a:r>
          </a:p>
        </p:txBody>
      </p:sp>
      <p:sp>
        <p:nvSpPr>
          <p:cNvPr id="3" name="Espace réservé du texte 2"/>
          <p:cNvSpPr>
            <a:spLocks noGrp="1"/>
          </p:cNvSpPr>
          <p:nvPr>
            <p:ph type="body" sz="half" idx="1"/>
          </p:nvPr>
        </p:nvSpPr>
        <p:spPr>
          <a:xfrm>
            <a:off x="1044575" y="1524000"/>
            <a:ext cx="3783013"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2"/>
          </p:nvPr>
        </p:nvSpPr>
        <p:spPr>
          <a:xfrm>
            <a:off x="4979988" y="1524000"/>
            <a:ext cx="3783012" cy="2247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3"/>
          </p:nvPr>
        </p:nvSpPr>
        <p:spPr>
          <a:xfrm>
            <a:off x="4979988" y="3924300"/>
            <a:ext cx="3783012" cy="2247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2323207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AndObj" preserve="1">
  <p:cSld name="Titre. Texte et contenu">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0E7A700B-97D6-4163-A6F7-8EE87B4EB278}" type="slidenum">
              <a:rPr lang="fr-FR" sz="1200" smtClean="0"/>
              <a:pPr eaLnBrk="1" hangingPunct="1">
                <a:defRPr/>
              </a:pPr>
              <a:t>‹N°›</a:t>
            </a:fld>
            <a:endParaRPr lang="fr-FR"/>
          </a:p>
        </p:txBody>
      </p:sp>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50006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2" name="ZoneTexte 18"/>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BA907B2D-6974-4545-B9CB-AE9751548D3D}" type="slidenum">
              <a:rPr lang="fr-FR" sz="1200" smtClean="0"/>
              <a:pPr eaLnBrk="1" hangingPunct="1">
                <a:defRPr/>
              </a:pPr>
              <a:t>‹N°›</a:t>
            </a:fld>
            <a:endParaRPr lang="fr-FR"/>
          </a:p>
        </p:txBody>
      </p:sp>
      <p:sp>
        <p:nvSpPr>
          <p:cNvPr id="2" name="Titre 1"/>
          <p:cNvSpPr>
            <a:spLocks noGrp="1"/>
          </p:cNvSpPr>
          <p:nvPr>
            <p:ph type="title"/>
          </p:nvPr>
        </p:nvSpPr>
        <p:spPr>
          <a:xfrm>
            <a:off x="1033463" y="19050"/>
            <a:ext cx="7729537" cy="838200"/>
          </a:xfrm>
        </p:spPr>
        <p:txBody>
          <a:bodyPr/>
          <a:lstStyle/>
          <a:p>
            <a:r>
              <a:rPr lang="fr-FR"/>
              <a:t>Cliquez pour modifier le style du titre</a:t>
            </a:r>
          </a:p>
        </p:txBody>
      </p:sp>
      <p:sp>
        <p:nvSpPr>
          <p:cNvPr id="3" name="Espace réservé du texte 2"/>
          <p:cNvSpPr>
            <a:spLocks noGrp="1"/>
          </p:cNvSpPr>
          <p:nvPr>
            <p:ph type="body" sz="half" idx="1"/>
          </p:nvPr>
        </p:nvSpPr>
        <p:spPr>
          <a:xfrm>
            <a:off x="1044575" y="1524000"/>
            <a:ext cx="3783013"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979988" y="1524000"/>
            <a:ext cx="3783012"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989274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lvl1pPr>
              <a:defRPr/>
            </a:lvl1pPr>
          </a:lstStyle>
          <a:p>
            <a:pPr>
              <a:defRPr/>
            </a:pPr>
            <a:fld id="{F1C03189-2D6F-4F7F-92E2-27DED84C03EC}" type="datetimeFigureOut">
              <a:rPr lang="fr-FR"/>
              <a:pPr>
                <a:defRPr/>
              </a:pPr>
              <a:t>18/02/2025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399E9FCC-641A-438B-804E-07E95E82F4A6}" type="slidenum">
              <a:rPr lang="fr-FR"/>
              <a:pPr>
                <a:defRPr/>
              </a:pPr>
              <a:t>‹N°›</a:t>
            </a:fld>
            <a:endParaRPr lang="fr-FR"/>
          </a:p>
        </p:txBody>
      </p:sp>
    </p:spTree>
    <p:extLst>
      <p:ext uri="{BB962C8B-B14F-4D97-AF65-F5344CB8AC3E}">
        <p14:creationId xmlns:p14="http://schemas.microsoft.com/office/powerpoint/2010/main" val="3101811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fld id="{7E5F793D-361E-4CC2-9F91-A759C3247CE1}" type="datetimeFigureOut">
              <a:rPr lang="fr-FR"/>
              <a:pPr>
                <a:defRPr/>
              </a:pPr>
              <a:t>18/02/2025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71DCF539-D986-4CEB-A9F9-C83AF4FBEBE0}" type="slidenum">
              <a:rPr lang="fr-FR"/>
              <a:pPr>
                <a:defRPr/>
              </a:pPr>
              <a:t>‹N°›</a:t>
            </a:fld>
            <a:endParaRPr lang="fr-FR"/>
          </a:p>
        </p:txBody>
      </p:sp>
    </p:spTree>
    <p:extLst>
      <p:ext uri="{BB962C8B-B14F-4D97-AF65-F5344CB8AC3E}">
        <p14:creationId xmlns:p14="http://schemas.microsoft.com/office/powerpoint/2010/main" val="1990291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lvl1pPr>
              <a:defRPr/>
            </a:lvl1pPr>
          </a:lstStyle>
          <a:p>
            <a:pPr>
              <a:defRPr/>
            </a:pPr>
            <a:fld id="{5D4A93DB-DAAF-4665-B2EC-219D34FA765D}" type="datetimeFigureOut">
              <a:rPr lang="fr-FR"/>
              <a:pPr>
                <a:defRPr/>
              </a:pPr>
              <a:t>18/02/2025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39F6DC89-5E99-4F46-9962-0A121D29F8EF}" type="slidenum">
              <a:rPr lang="fr-FR"/>
              <a:pPr>
                <a:defRPr/>
              </a:pPr>
              <a:t>‹N°›</a:t>
            </a:fld>
            <a:endParaRPr lang="fr-FR"/>
          </a:p>
        </p:txBody>
      </p:sp>
    </p:spTree>
    <p:extLst>
      <p:ext uri="{BB962C8B-B14F-4D97-AF65-F5344CB8AC3E}">
        <p14:creationId xmlns:p14="http://schemas.microsoft.com/office/powerpoint/2010/main" val="32904996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p:cNvSpPr>
            <a:spLocks noGrp="1"/>
          </p:cNvSpPr>
          <p:nvPr>
            <p:ph type="dt" sz="half" idx="10"/>
          </p:nvPr>
        </p:nvSpPr>
        <p:spPr/>
        <p:txBody>
          <a:bodyPr/>
          <a:lstStyle>
            <a:lvl1pPr>
              <a:defRPr/>
            </a:lvl1pPr>
          </a:lstStyle>
          <a:p>
            <a:pPr>
              <a:defRPr/>
            </a:pPr>
            <a:fld id="{17CFF4FD-CC35-4CFC-857A-E01051D6200D}" type="datetimeFigureOut">
              <a:rPr lang="fr-FR"/>
              <a:pPr>
                <a:defRPr/>
              </a:pPr>
              <a:t>18/02/2025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9BA426FE-E43A-4B8B-8876-139C53E86D02}" type="slidenum">
              <a:rPr lang="fr-FR"/>
              <a:pPr>
                <a:defRPr/>
              </a:pPr>
              <a:t>‹N°›</a:t>
            </a:fld>
            <a:endParaRPr lang="fr-FR"/>
          </a:p>
        </p:txBody>
      </p:sp>
    </p:spTree>
    <p:extLst>
      <p:ext uri="{BB962C8B-B14F-4D97-AF65-F5344CB8AC3E}">
        <p14:creationId xmlns:p14="http://schemas.microsoft.com/office/powerpoint/2010/main" val="39248486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p:cNvSpPr>
            <a:spLocks noGrp="1"/>
          </p:cNvSpPr>
          <p:nvPr>
            <p:ph type="dt" sz="half" idx="10"/>
          </p:nvPr>
        </p:nvSpPr>
        <p:spPr/>
        <p:txBody>
          <a:bodyPr/>
          <a:lstStyle>
            <a:lvl1pPr>
              <a:defRPr/>
            </a:lvl1pPr>
          </a:lstStyle>
          <a:p>
            <a:pPr>
              <a:defRPr/>
            </a:pPr>
            <a:fld id="{20267331-7B5F-4B1B-A137-090B7D805462}" type="datetimeFigureOut">
              <a:rPr lang="fr-FR"/>
              <a:pPr>
                <a:defRPr/>
              </a:pPr>
              <a:t>18/02/2025</a:t>
            </a:fld>
            <a:endParaRPr lang="fr-FR"/>
          </a:p>
        </p:txBody>
      </p:sp>
      <p:sp>
        <p:nvSpPr>
          <p:cNvPr id="8" name="Espace réservé du pied de page 4"/>
          <p:cNvSpPr>
            <a:spLocks noGrp="1"/>
          </p:cNvSpPr>
          <p:nvPr>
            <p:ph type="ftr" sz="quarter" idx="11"/>
          </p:nvPr>
        </p:nvSpPr>
        <p:spPr/>
        <p:txBody>
          <a:bodyPr/>
          <a:lstStyle>
            <a:lvl1pPr>
              <a:defRPr/>
            </a:lvl1pPr>
          </a:lstStyle>
          <a:p>
            <a:pPr>
              <a:defRPr/>
            </a:pPr>
            <a:endParaRPr lang="fr-FR"/>
          </a:p>
        </p:txBody>
      </p:sp>
      <p:sp>
        <p:nvSpPr>
          <p:cNvPr id="9" name="Espace réservé du numéro de diapositive 5"/>
          <p:cNvSpPr>
            <a:spLocks noGrp="1"/>
          </p:cNvSpPr>
          <p:nvPr>
            <p:ph type="sldNum" sz="quarter" idx="12"/>
          </p:nvPr>
        </p:nvSpPr>
        <p:spPr/>
        <p:txBody>
          <a:bodyPr/>
          <a:lstStyle>
            <a:lvl1pPr>
              <a:defRPr/>
            </a:lvl1pPr>
          </a:lstStyle>
          <a:p>
            <a:pPr>
              <a:defRPr/>
            </a:pPr>
            <a:fld id="{9A22F584-B978-4865-8795-69ACF30645F5}" type="slidenum">
              <a:rPr lang="fr-FR"/>
              <a:pPr>
                <a:defRPr/>
              </a:pPr>
              <a:t>‹N°›</a:t>
            </a:fld>
            <a:endParaRPr lang="fr-FR"/>
          </a:p>
        </p:txBody>
      </p:sp>
    </p:spTree>
    <p:extLst>
      <p:ext uri="{BB962C8B-B14F-4D97-AF65-F5344CB8AC3E}">
        <p14:creationId xmlns:p14="http://schemas.microsoft.com/office/powerpoint/2010/main" val="4197905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3"/>
          <p:cNvSpPr>
            <a:spLocks noGrp="1"/>
          </p:cNvSpPr>
          <p:nvPr>
            <p:ph type="dt" sz="half" idx="10"/>
          </p:nvPr>
        </p:nvSpPr>
        <p:spPr/>
        <p:txBody>
          <a:bodyPr/>
          <a:lstStyle>
            <a:lvl1pPr>
              <a:defRPr/>
            </a:lvl1pPr>
          </a:lstStyle>
          <a:p>
            <a:pPr>
              <a:defRPr/>
            </a:pPr>
            <a:fld id="{1A2065E6-3CA9-4A3D-A465-C7AE70BB2C71}" type="datetimeFigureOut">
              <a:rPr lang="fr-FR"/>
              <a:pPr>
                <a:defRPr/>
              </a:pPr>
              <a:t>18/02/2025</a:t>
            </a:fld>
            <a:endParaRPr lang="fr-FR"/>
          </a:p>
        </p:txBody>
      </p:sp>
      <p:sp>
        <p:nvSpPr>
          <p:cNvPr id="4" name="Espace réservé du pied de page 4"/>
          <p:cNvSpPr>
            <a:spLocks noGrp="1"/>
          </p:cNvSpPr>
          <p:nvPr>
            <p:ph type="ftr" sz="quarter" idx="11"/>
          </p:nvPr>
        </p:nvSpPr>
        <p:spPr/>
        <p:txBody>
          <a:bodyPr/>
          <a:lstStyle>
            <a:lvl1pPr>
              <a:defRPr/>
            </a:lvl1pPr>
          </a:lstStyle>
          <a:p>
            <a:pPr>
              <a:defRPr/>
            </a:pPr>
            <a:endParaRPr lang="fr-FR"/>
          </a:p>
        </p:txBody>
      </p:sp>
      <p:sp>
        <p:nvSpPr>
          <p:cNvPr id="5" name="Espace réservé du numéro de diapositive 5"/>
          <p:cNvSpPr>
            <a:spLocks noGrp="1"/>
          </p:cNvSpPr>
          <p:nvPr>
            <p:ph type="sldNum" sz="quarter" idx="12"/>
          </p:nvPr>
        </p:nvSpPr>
        <p:spPr/>
        <p:txBody>
          <a:bodyPr/>
          <a:lstStyle>
            <a:lvl1pPr>
              <a:defRPr/>
            </a:lvl1pPr>
          </a:lstStyle>
          <a:p>
            <a:pPr>
              <a:defRPr/>
            </a:pPr>
            <a:fld id="{E3A35DBC-1028-44D0-827F-E70CE1E6F912}" type="slidenum">
              <a:rPr lang="fr-FR"/>
              <a:pPr>
                <a:defRPr/>
              </a:pPr>
              <a:t>‹N°›</a:t>
            </a:fld>
            <a:endParaRPr lang="fr-FR"/>
          </a:p>
        </p:txBody>
      </p:sp>
    </p:spTree>
    <p:extLst>
      <p:ext uri="{BB962C8B-B14F-4D97-AF65-F5344CB8AC3E}">
        <p14:creationId xmlns:p14="http://schemas.microsoft.com/office/powerpoint/2010/main" val="207782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477F5112-414F-495F-92C3-E6CA02A2A680}" type="datetimeFigureOut">
              <a:rPr lang="fr-FR"/>
              <a:pPr>
                <a:defRPr/>
              </a:pPr>
              <a:t>18/02/2025</a:t>
            </a:fld>
            <a:endParaRPr lang="fr-FR"/>
          </a:p>
        </p:txBody>
      </p:sp>
      <p:sp>
        <p:nvSpPr>
          <p:cNvPr id="3" name="Espace réservé du pied de page 4"/>
          <p:cNvSpPr>
            <a:spLocks noGrp="1"/>
          </p:cNvSpPr>
          <p:nvPr>
            <p:ph type="ftr" sz="quarter" idx="11"/>
          </p:nvPr>
        </p:nvSpPr>
        <p:spPr/>
        <p:txBody>
          <a:bodyPr/>
          <a:lstStyle>
            <a:lvl1pPr>
              <a:defRPr/>
            </a:lvl1pPr>
          </a:lstStyle>
          <a:p>
            <a:pPr>
              <a:defRPr/>
            </a:pPr>
            <a:endParaRPr lang="fr-FR"/>
          </a:p>
        </p:txBody>
      </p:sp>
      <p:sp>
        <p:nvSpPr>
          <p:cNvPr id="4" name="Espace réservé du numéro de diapositive 5"/>
          <p:cNvSpPr>
            <a:spLocks noGrp="1"/>
          </p:cNvSpPr>
          <p:nvPr>
            <p:ph type="sldNum" sz="quarter" idx="12"/>
          </p:nvPr>
        </p:nvSpPr>
        <p:spPr/>
        <p:txBody>
          <a:bodyPr/>
          <a:lstStyle>
            <a:lvl1pPr>
              <a:defRPr/>
            </a:lvl1pPr>
          </a:lstStyle>
          <a:p>
            <a:pPr>
              <a:defRPr/>
            </a:pPr>
            <a:fld id="{092C1060-AF9F-4CC6-8871-C684D1875A4E}" type="slidenum">
              <a:rPr lang="fr-FR"/>
              <a:pPr>
                <a:defRPr/>
              </a:pPr>
              <a:t>‹N°›</a:t>
            </a:fld>
            <a:endParaRPr lang="fr-FR"/>
          </a:p>
        </p:txBody>
      </p:sp>
    </p:spTree>
    <p:extLst>
      <p:ext uri="{BB962C8B-B14F-4D97-AF65-F5344CB8AC3E}">
        <p14:creationId xmlns:p14="http://schemas.microsoft.com/office/powerpoint/2010/main" val="127358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3"/>
          <p:cNvSpPr>
            <a:spLocks noGrp="1"/>
          </p:cNvSpPr>
          <p:nvPr>
            <p:ph type="dt" sz="half" idx="10"/>
          </p:nvPr>
        </p:nvSpPr>
        <p:spPr/>
        <p:txBody>
          <a:bodyPr/>
          <a:lstStyle>
            <a:lvl1pPr>
              <a:defRPr/>
            </a:lvl1pPr>
          </a:lstStyle>
          <a:p>
            <a:pPr>
              <a:defRPr/>
            </a:pPr>
            <a:fld id="{50502E6A-60B6-47B0-94FF-E769958AFBC8}" type="datetimeFigureOut">
              <a:rPr lang="fr-FR"/>
              <a:pPr>
                <a:defRPr/>
              </a:pPr>
              <a:t>18/02/2025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65AE1A49-646A-479E-BE64-B4A76E900FD3}" type="slidenum">
              <a:rPr lang="fr-FR"/>
              <a:pPr>
                <a:defRPr/>
              </a:pPr>
              <a:t>‹N°›</a:t>
            </a:fld>
            <a:endParaRPr lang="fr-FR"/>
          </a:p>
        </p:txBody>
      </p:sp>
    </p:spTree>
    <p:extLst>
      <p:ext uri="{BB962C8B-B14F-4D97-AF65-F5344CB8AC3E}">
        <p14:creationId xmlns:p14="http://schemas.microsoft.com/office/powerpoint/2010/main" val="40336511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3"/>
          <p:cNvSpPr>
            <a:spLocks noGrp="1"/>
          </p:cNvSpPr>
          <p:nvPr>
            <p:ph type="dt" sz="half" idx="10"/>
          </p:nvPr>
        </p:nvSpPr>
        <p:spPr/>
        <p:txBody>
          <a:bodyPr/>
          <a:lstStyle>
            <a:lvl1pPr>
              <a:defRPr/>
            </a:lvl1pPr>
          </a:lstStyle>
          <a:p>
            <a:pPr>
              <a:defRPr/>
            </a:pPr>
            <a:fld id="{7C064C3E-4E1C-47C4-954B-EDBB42351B16}" type="datetimeFigureOut">
              <a:rPr lang="fr-FR"/>
              <a:pPr>
                <a:defRPr/>
              </a:pPr>
              <a:t>18/02/2025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0A552709-DE1C-47B0-A148-351B4C8EC553}" type="slidenum">
              <a:rPr lang="fr-FR"/>
              <a:pPr>
                <a:defRPr/>
              </a:pPr>
              <a:t>‹N°›</a:t>
            </a:fld>
            <a:endParaRPr lang="fr-FR"/>
          </a:p>
        </p:txBody>
      </p:sp>
    </p:spTree>
    <p:extLst>
      <p:ext uri="{BB962C8B-B14F-4D97-AF65-F5344CB8AC3E}">
        <p14:creationId xmlns:p14="http://schemas.microsoft.com/office/powerpoint/2010/main" val="19242089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fld id="{DA2D2C6B-A6CA-4765-AB5E-D31C701C3F0A}" type="datetimeFigureOut">
              <a:rPr lang="fr-FR"/>
              <a:pPr>
                <a:defRPr/>
              </a:pPr>
              <a:t>18/02/2025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EC413BD7-F63E-4978-80F4-F5ED0225CD69}" type="slidenum">
              <a:rPr lang="fr-FR"/>
              <a:pPr>
                <a:defRPr/>
              </a:pPr>
              <a:t>‹N°›</a:t>
            </a:fld>
            <a:endParaRPr lang="fr-FR"/>
          </a:p>
        </p:txBody>
      </p:sp>
    </p:spTree>
    <p:extLst>
      <p:ext uri="{BB962C8B-B14F-4D97-AF65-F5344CB8AC3E}">
        <p14:creationId xmlns:p14="http://schemas.microsoft.com/office/powerpoint/2010/main" val="36936229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fld id="{68239268-3A60-47ED-BD3A-7CBA41E768D8}" type="datetimeFigureOut">
              <a:rPr lang="fr-FR"/>
              <a:pPr>
                <a:defRPr/>
              </a:pPr>
              <a:t>18/02/2025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3B4EAB25-D815-461A-B892-938691017F29}" type="slidenum">
              <a:rPr lang="fr-FR"/>
              <a:pPr>
                <a:defRPr/>
              </a:pPr>
              <a:t>‹N°›</a:t>
            </a:fld>
            <a:endParaRPr lang="fr-FR"/>
          </a:p>
        </p:txBody>
      </p:sp>
    </p:spTree>
    <p:extLst>
      <p:ext uri="{BB962C8B-B14F-4D97-AF65-F5344CB8AC3E}">
        <p14:creationId xmlns:p14="http://schemas.microsoft.com/office/powerpoint/2010/main" val="2506837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1044575" y="1524000"/>
            <a:ext cx="77184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27"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sp>
        <p:nvSpPr>
          <p:cNvPr id="1028" name="Rectangle 5"/>
          <p:cNvSpPr>
            <a:spLocks noGrp="1" noChangeArrowheads="1"/>
          </p:cNvSpPr>
          <p:nvPr>
            <p:ph type="title"/>
          </p:nvPr>
        </p:nvSpPr>
        <p:spPr bwMode="auto">
          <a:xfrm>
            <a:off x="1033463" y="19050"/>
            <a:ext cx="77295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39974" name="Rectangle 6"/>
          <p:cNvSpPr>
            <a:spLocks noGrp="1" noChangeArrowheads="1"/>
          </p:cNvSpPr>
          <p:nvPr>
            <p:ph type="ftr" sz="quarter" idx="3"/>
          </p:nvPr>
        </p:nvSpPr>
        <p:spPr bwMode="auto">
          <a:xfrm rot="16200000">
            <a:off x="-2514600" y="4038600"/>
            <a:ext cx="5334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800">
                <a:latin typeface="+mn-lt"/>
                <a:cs typeface="Arial" charset="0"/>
              </a:defRPr>
            </a:lvl1pPr>
          </a:lstStyle>
          <a:p>
            <a:pPr>
              <a:defRPr/>
            </a:pPr>
            <a:r>
              <a:rPr lang="it-IT"/>
              <a:t>A.DARIF            SUPMTI / ISI                      2015 / 2016   </a:t>
            </a:r>
            <a:endParaRPr lang="en-US"/>
          </a:p>
        </p:txBody>
      </p:sp>
      <p:graphicFrame>
        <p:nvGraphicFramePr>
          <p:cNvPr id="1030"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16" imgW="939641" imgH="876776" progId="CorelDRAW.Graphic.12">
                  <p:embed/>
                </p:oleObj>
              </mc:Choice>
              <mc:Fallback>
                <p:oleObj name="CorelDRAW" r:id="rId16" imgW="939641" imgH="876776" progId="CorelDRAW.Graphic.12">
                  <p:embed/>
                  <p:pic>
                    <p:nvPicPr>
                      <p:cNvPr id="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31" name="Picture 2"/>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32" name="ZoneTexte 9"/>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23040D75-01C8-41D3-8DA9-71096BF45E11}" type="slidenum">
              <a:rPr lang="fr-FR" sz="1200" smtClean="0"/>
              <a:pPr eaLnBrk="1" hangingPunct="1">
                <a:defRPr/>
              </a:pPr>
              <a:t>‹N°›</a:t>
            </a:fld>
            <a:endParaRPr lang="fr-FR"/>
          </a:p>
        </p:txBody>
      </p:sp>
      <p:sp>
        <p:nvSpPr>
          <p:cNvPr id="11" name="Rectangle 4"/>
          <p:cNvSpPr txBox="1">
            <a:spLocks noChangeArrowheads="1"/>
          </p:cNvSpPr>
          <p:nvPr userDrawn="1"/>
        </p:nvSpPr>
        <p:spPr>
          <a:xfrm rot="16200000">
            <a:off x="-2004219" y="4496594"/>
            <a:ext cx="4365625" cy="357188"/>
          </a:xfrm>
          <a:prstGeom prst="rect">
            <a:avLst/>
          </a:prstGeom>
        </p:spPr>
        <p:txBody>
          <a:bodyPr/>
          <a:lstStyle>
            <a:defPPr>
              <a:defRPr lang="fr-FR"/>
            </a:defPPr>
            <a:lvl1pPr algn="ctr" rtl="0" fontAlgn="base">
              <a:spcBef>
                <a:spcPct val="50000"/>
              </a:spcBef>
              <a:spcAft>
                <a:spcPct val="0"/>
              </a:spcAft>
              <a:buClr>
                <a:srgbClr val="336666"/>
              </a:buClr>
              <a:buFont typeface="Wingdings" pitchFamily="2" charset="2"/>
              <a:defRPr sz="900" kern="1200" dirty="0" smtClean="0">
                <a:solidFill>
                  <a:schemeClr val="bg2"/>
                </a:solidFill>
                <a:latin typeface="Verdana" pitchFamily="34" charset="0"/>
                <a:ea typeface="+mn-ea"/>
                <a:cs typeface="Arial"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5pPr>
            <a:lvl6pPr marL="2286000" algn="l" defTabSz="914400" rtl="0" eaLnBrk="1" latinLnBrk="0" hangingPunct="1">
              <a:defRPr sz="2000" kern="1200">
                <a:solidFill>
                  <a:schemeClr val="tx1"/>
                </a:solidFill>
                <a:latin typeface="Verdana" pitchFamily="34" charset="0"/>
                <a:ea typeface="+mn-ea"/>
                <a:cs typeface="Arial" charset="0"/>
              </a:defRPr>
            </a:lvl6pPr>
            <a:lvl7pPr marL="2743200" algn="l" defTabSz="914400" rtl="0" eaLnBrk="1" latinLnBrk="0" hangingPunct="1">
              <a:defRPr sz="2000" kern="1200">
                <a:solidFill>
                  <a:schemeClr val="tx1"/>
                </a:solidFill>
                <a:latin typeface="Verdana" pitchFamily="34" charset="0"/>
                <a:ea typeface="+mn-ea"/>
                <a:cs typeface="Arial" charset="0"/>
              </a:defRPr>
            </a:lvl7pPr>
            <a:lvl8pPr marL="3200400" algn="l" defTabSz="914400" rtl="0" eaLnBrk="1" latinLnBrk="0" hangingPunct="1">
              <a:defRPr sz="2000" kern="1200">
                <a:solidFill>
                  <a:schemeClr val="tx1"/>
                </a:solidFill>
                <a:latin typeface="Verdana" pitchFamily="34" charset="0"/>
                <a:ea typeface="+mn-ea"/>
                <a:cs typeface="Arial" charset="0"/>
              </a:defRPr>
            </a:lvl8pPr>
            <a:lvl9pPr marL="3657600" algn="l" defTabSz="914400" rtl="0" eaLnBrk="1" latinLnBrk="0" hangingPunct="1">
              <a:defRPr sz="2000" kern="1200">
                <a:solidFill>
                  <a:schemeClr val="tx1"/>
                </a:solidFill>
                <a:latin typeface="Verdana" pitchFamily="34" charset="0"/>
                <a:ea typeface="+mn-ea"/>
                <a:cs typeface="Arial" charset="0"/>
              </a:defRPr>
            </a:lvl9pPr>
          </a:lstStyle>
          <a:p>
            <a:pPr>
              <a:defRPr/>
            </a:pPr>
            <a:r>
              <a:rPr lang="it-IT"/>
              <a:t>Pr: Anouar DARIF                        Master STRI                    FPBM                         </a:t>
            </a:r>
            <a:endParaRPr lang="en-US"/>
          </a:p>
        </p:txBody>
      </p:sp>
    </p:spTree>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13" r:id="rId6"/>
    <p:sldLayoutId id="2147484214" r:id="rId7"/>
    <p:sldLayoutId id="2147484215" r:id="rId8"/>
    <p:sldLayoutId id="2147484216" r:id="rId9"/>
    <p:sldLayoutId id="2147484217" r:id="rId10"/>
    <p:sldLayoutId id="2147484218" r:id="rId11"/>
    <p:sldLayoutId id="2147484219" r:id="rId12"/>
    <p:sldLayoutId id="2147484220" r:id="rId13"/>
    <p:sldLayoutId id="2147484221" r:id="rId14"/>
  </p:sldLayoutIdLst>
  <p:hf sldNum="0" hdr="0" dt="0"/>
  <p:txStyles>
    <p:titleStyle>
      <a:lvl1pPr algn="l" rtl="0" eaLnBrk="0" fontAlgn="base" hangingPunct="0">
        <a:spcBef>
          <a:spcPct val="0"/>
        </a:spcBef>
        <a:spcAft>
          <a:spcPct val="0"/>
        </a:spcAft>
        <a:defRPr sz="3600" b="1">
          <a:solidFill>
            <a:srgbClr val="000000"/>
          </a:solidFill>
          <a:latin typeface="+mj-lt"/>
          <a:ea typeface="+mj-ea"/>
          <a:cs typeface="+mj-cs"/>
        </a:defRPr>
      </a:lvl1pPr>
      <a:lvl2pPr algn="l" rtl="0" eaLnBrk="0" fontAlgn="base" hangingPunct="0">
        <a:spcBef>
          <a:spcPct val="0"/>
        </a:spcBef>
        <a:spcAft>
          <a:spcPct val="0"/>
        </a:spcAft>
        <a:defRPr sz="3600" b="1">
          <a:solidFill>
            <a:srgbClr val="000000"/>
          </a:solidFill>
          <a:latin typeface="Arial" charset="0"/>
        </a:defRPr>
      </a:lvl2pPr>
      <a:lvl3pPr algn="l" rtl="0" eaLnBrk="0" fontAlgn="base" hangingPunct="0">
        <a:spcBef>
          <a:spcPct val="0"/>
        </a:spcBef>
        <a:spcAft>
          <a:spcPct val="0"/>
        </a:spcAft>
        <a:defRPr sz="3600" b="1">
          <a:solidFill>
            <a:srgbClr val="000000"/>
          </a:solidFill>
          <a:latin typeface="Arial" charset="0"/>
        </a:defRPr>
      </a:lvl3pPr>
      <a:lvl4pPr algn="l" rtl="0" eaLnBrk="0" fontAlgn="base" hangingPunct="0">
        <a:spcBef>
          <a:spcPct val="0"/>
        </a:spcBef>
        <a:spcAft>
          <a:spcPct val="0"/>
        </a:spcAft>
        <a:defRPr sz="3600" b="1">
          <a:solidFill>
            <a:srgbClr val="000000"/>
          </a:solidFill>
          <a:latin typeface="Arial" charset="0"/>
        </a:defRPr>
      </a:lvl4pPr>
      <a:lvl5pPr algn="l" rtl="0" eaLnBrk="0" fontAlgn="base" hangingPunct="0">
        <a:spcBef>
          <a:spcPct val="0"/>
        </a:spcBef>
        <a:spcAft>
          <a:spcPct val="0"/>
        </a:spcAft>
        <a:defRPr sz="3600" b="1">
          <a:solidFill>
            <a:srgbClr val="000000"/>
          </a:solidFill>
          <a:latin typeface="Arial" charset="0"/>
        </a:defRPr>
      </a:lvl5pPr>
      <a:lvl6pPr marL="457200" algn="l" rtl="0" fontAlgn="base">
        <a:spcBef>
          <a:spcPct val="0"/>
        </a:spcBef>
        <a:spcAft>
          <a:spcPct val="0"/>
        </a:spcAft>
        <a:defRPr sz="3600" b="1">
          <a:solidFill>
            <a:srgbClr val="000000"/>
          </a:solidFill>
          <a:latin typeface="Arial" charset="0"/>
        </a:defRPr>
      </a:lvl6pPr>
      <a:lvl7pPr marL="914400" algn="l" rtl="0" fontAlgn="base">
        <a:spcBef>
          <a:spcPct val="0"/>
        </a:spcBef>
        <a:spcAft>
          <a:spcPct val="0"/>
        </a:spcAft>
        <a:defRPr sz="3600" b="1">
          <a:solidFill>
            <a:srgbClr val="000000"/>
          </a:solidFill>
          <a:latin typeface="Arial" charset="0"/>
        </a:defRPr>
      </a:lvl7pPr>
      <a:lvl8pPr marL="1371600" algn="l" rtl="0" fontAlgn="base">
        <a:spcBef>
          <a:spcPct val="0"/>
        </a:spcBef>
        <a:spcAft>
          <a:spcPct val="0"/>
        </a:spcAft>
        <a:defRPr sz="3600" b="1">
          <a:solidFill>
            <a:srgbClr val="000000"/>
          </a:solidFill>
          <a:latin typeface="Arial" charset="0"/>
        </a:defRPr>
      </a:lvl8pPr>
      <a:lvl9pPr marL="1828800" algn="l" rtl="0" fontAlgn="base">
        <a:spcBef>
          <a:spcPct val="0"/>
        </a:spcBef>
        <a:spcAft>
          <a:spcPct val="0"/>
        </a:spcAft>
        <a:defRPr sz="3600" b="1">
          <a:solidFill>
            <a:srgbClr val="000000"/>
          </a:solidFill>
          <a:latin typeface="Arial" charset="0"/>
        </a:defRPr>
      </a:lvl9pPr>
    </p:titleStyle>
    <p:bodyStyle>
      <a:lvl1pPr marL="342900" indent="-342900" algn="l" rtl="0" eaLnBrk="0" fontAlgn="base" hangingPunct="0">
        <a:spcBef>
          <a:spcPct val="20000"/>
        </a:spcBef>
        <a:spcAft>
          <a:spcPct val="30000"/>
        </a:spcAft>
        <a:buClr>
          <a:schemeClr val="hlink"/>
        </a:buClr>
        <a:buFont typeface="Wingdings" pitchFamily="2" charset="2"/>
        <a:buChar char="n"/>
        <a:defRPr sz="2200">
          <a:solidFill>
            <a:schemeClr val="tx1"/>
          </a:solidFill>
          <a:latin typeface="+mn-lt"/>
          <a:ea typeface="+mn-ea"/>
          <a:cs typeface="+mn-cs"/>
        </a:defRPr>
      </a:lvl1pPr>
      <a:lvl2pPr marL="860425" indent="-342900" algn="l" rtl="0" eaLnBrk="0" fontAlgn="base" hangingPunct="0">
        <a:spcBef>
          <a:spcPct val="20000"/>
        </a:spcBef>
        <a:spcAft>
          <a:spcPct val="30000"/>
        </a:spcAft>
        <a:buClr>
          <a:schemeClr val="bg2"/>
        </a:buClr>
        <a:buFont typeface="Wingdings" pitchFamily="2" charset="2"/>
        <a:buChar char="n"/>
        <a:defRPr sz="2200">
          <a:solidFill>
            <a:schemeClr val="tx1"/>
          </a:solidFill>
          <a:latin typeface="+mn-lt"/>
        </a:defRPr>
      </a:lvl2pPr>
      <a:lvl3pPr marL="1203325" indent="-228600" algn="l" rtl="0" eaLnBrk="0" fontAlgn="base" hangingPunct="0">
        <a:spcBef>
          <a:spcPct val="20000"/>
        </a:spcBef>
        <a:spcAft>
          <a:spcPct val="30000"/>
        </a:spcAft>
        <a:buClr>
          <a:schemeClr val="bg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30000"/>
        </a:spcAft>
        <a:buChar char="–"/>
        <a:defRPr sz="2200">
          <a:solidFill>
            <a:schemeClr val="tx1"/>
          </a:solidFill>
          <a:latin typeface="+mn-lt"/>
        </a:defRPr>
      </a:lvl4pPr>
      <a:lvl5pPr marL="2057400" indent="-228600" algn="l" rtl="0" eaLnBrk="0" fontAlgn="base" hangingPunct="0">
        <a:spcBef>
          <a:spcPct val="20000"/>
        </a:spcBef>
        <a:spcAft>
          <a:spcPct val="30000"/>
        </a:spcAft>
        <a:buChar char="»"/>
        <a:defRPr sz="2200">
          <a:solidFill>
            <a:schemeClr val="tx1"/>
          </a:solidFill>
          <a:latin typeface="+mn-lt"/>
        </a:defRPr>
      </a:lvl5pPr>
      <a:lvl6pPr marL="2514600" indent="-228600" algn="l" rtl="0" fontAlgn="base">
        <a:spcBef>
          <a:spcPct val="20000"/>
        </a:spcBef>
        <a:spcAft>
          <a:spcPct val="30000"/>
        </a:spcAft>
        <a:buChar char="»"/>
        <a:defRPr sz="2200">
          <a:solidFill>
            <a:schemeClr val="tx1"/>
          </a:solidFill>
          <a:latin typeface="+mn-lt"/>
        </a:defRPr>
      </a:lvl6pPr>
      <a:lvl7pPr marL="2971800" indent="-228600" algn="l" rtl="0" fontAlgn="base">
        <a:spcBef>
          <a:spcPct val="20000"/>
        </a:spcBef>
        <a:spcAft>
          <a:spcPct val="30000"/>
        </a:spcAft>
        <a:buChar char="»"/>
        <a:defRPr sz="2200">
          <a:solidFill>
            <a:schemeClr val="tx1"/>
          </a:solidFill>
          <a:latin typeface="+mn-lt"/>
        </a:defRPr>
      </a:lvl7pPr>
      <a:lvl8pPr marL="3429000" indent="-228600" algn="l" rtl="0" fontAlgn="base">
        <a:spcBef>
          <a:spcPct val="20000"/>
        </a:spcBef>
        <a:spcAft>
          <a:spcPct val="30000"/>
        </a:spcAft>
        <a:buChar char="»"/>
        <a:defRPr sz="2200">
          <a:solidFill>
            <a:schemeClr val="tx1"/>
          </a:solidFill>
          <a:latin typeface="+mn-lt"/>
        </a:defRPr>
      </a:lvl8pPr>
      <a:lvl9pPr marL="3886200" indent="-228600" algn="l" rtl="0" fontAlgn="base">
        <a:spcBef>
          <a:spcPct val="20000"/>
        </a:spcBef>
        <a:spcAft>
          <a:spcPct val="30000"/>
        </a:spcAft>
        <a:buChar char="»"/>
        <a:defRPr sz="22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Cliquez pour modifier le style du titre</a:t>
            </a:r>
          </a:p>
        </p:txBody>
      </p:sp>
      <p:sp>
        <p:nvSpPr>
          <p:cNvPr id="2051"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cs typeface="Arial" charset="0"/>
              </a:defRPr>
            </a:lvl1pPr>
          </a:lstStyle>
          <a:p>
            <a:pPr>
              <a:defRPr/>
            </a:pPr>
            <a:fld id="{5BBC4323-A8CE-4FC6-966B-F45C195DB2C1}" type="datetimeFigureOut">
              <a:rPr lang="fr-FR"/>
              <a:pPr>
                <a:defRPr/>
              </a:pPr>
              <a:t>18/02/2025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cs typeface="Arial" charset="0"/>
              </a:defRPr>
            </a:lvl1pPr>
          </a:lstStyle>
          <a:p>
            <a:pPr>
              <a:defRPr/>
            </a:pPr>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cs typeface="Arial" charset="0"/>
              </a:defRPr>
            </a:lvl1pPr>
          </a:lstStyle>
          <a:p>
            <a:pPr>
              <a:defRPr/>
            </a:pPr>
            <a:fld id="{285A2D91-EA7E-4B9C-8EE3-992F41B230C5}" type="slidenum">
              <a:rPr lang="fr-FR"/>
              <a:pPr>
                <a:defRPr/>
              </a:pPr>
              <a:t>‹N°›</a:t>
            </a:fld>
            <a:endParaRPr lang="fr-FR"/>
          </a:p>
        </p:txBody>
      </p:sp>
    </p:spTree>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media/image6.gi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9.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3.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5.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tags" Target="../tags/tag16.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30.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33.jpeg"/><Relationship Id="rId2"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image" Target="../media/image27.jpeg"/><Relationship Id="rId5" Type="http://schemas.openxmlformats.org/officeDocument/2006/relationships/image" Target="../media/image32.jpe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20.xml"/><Relationship Id="rId5" Type="http://schemas.openxmlformats.org/officeDocument/2006/relationships/image" Target="../media/image35.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21.xm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2.xml"/><Relationship Id="rId5" Type="http://schemas.openxmlformats.org/officeDocument/2006/relationships/image" Target="../media/image38.png"/><Relationship Id="rId4" Type="http://schemas.openxmlformats.org/officeDocument/2006/relationships/image" Target="../media/image37.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3.xml"/><Relationship Id="rId6" Type="http://schemas.openxmlformats.org/officeDocument/2006/relationships/hyperlink" Target="http://www.w3.org/1999/xhtml" TargetMode="External"/><Relationship Id="rId5" Type="http://schemas.openxmlformats.org/officeDocument/2006/relationships/hyperlink" Target="http://www.w3.org/TR/xhtml1/DTD/xhtml1-transitional.dtd" TargetMode="External"/><Relationship Id="rId4" Type="http://schemas.openxmlformats.org/officeDocument/2006/relationships/image" Target="../media/image39.jpeg"/></Relationships>
</file>

<file path=ppt/slides/_rels/slide3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25.xml"/><Relationship Id="rId7" Type="http://schemas.openxmlformats.org/officeDocument/2006/relationships/image" Target="../media/image43.png"/><Relationship Id="rId2" Type="http://schemas.openxmlformats.org/officeDocument/2006/relationships/slideLayout" Target="../slideLayouts/slideLayout7.xml"/><Relationship Id="rId1" Type="http://schemas.openxmlformats.org/officeDocument/2006/relationships/tags" Target="../tags/tag24.xml"/><Relationship Id="rId6" Type="http://schemas.openxmlformats.org/officeDocument/2006/relationships/image" Target="../media/image42.png"/><Relationship Id="rId5" Type="http://schemas.openxmlformats.org/officeDocument/2006/relationships/image" Target="../media/image41.jpeg"/><Relationship Id="rId4" Type="http://schemas.openxmlformats.org/officeDocument/2006/relationships/image" Target="../media/image40.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25.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6.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7.xml"/><Relationship Id="rId5" Type="http://schemas.openxmlformats.org/officeDocument/2006/relationships/image" Target="../media/image48.jpeg"/><Relationship Id="rId4" Type="http://schemas.openxmlformats.org/officeDocument/2006/relationships/image" Target="../media/image47.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8.xml"/><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29.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30.xml"/><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31.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notesSlide" Target="../notesSlides/notesSlide33.xml"/><Relationship Id="rId7" Type="http://schemas.openxmlformats.org/officeDocument/2006/relationships/image" Target="../media/image56.jpeg"/><Relationship Id="rId2" Type="http://schemas.openxmlformats.org/officeDocument/2006/relationships/slideLayout" Target="../slideLayouts/slideLayout7.xml"/><Relationship Id="rId1" Type="http://schemas.openxmlformats.org/officeDocument/2006/relationships/tags" Target="../tags/tag32.xml"/><Relationship Id="rId6" Type="http://schemas.openxmlformats.org/officeDocument/2006/relationships/image" Target="../media/image55.jpeg"/><Relationship Id="rId5" Type="http://schemas.openxmlformats.org/officeDocument/2006/relationships/image" Target="../media/image54.png"/><Relationship Id="rId4" Type="http://schemas.openxmlformats.org/officeDocument/2006/relationships/image" Target="../media/image53.jpeg"/><Relationship Id="rId9" Type="http://schemas.openxmlformats.org/officeDocument/2006/relationships/image" Target="../media/image5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33.xml"/><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63.jpeg"/><Relationship Id="rId2" Type="http://schemas.openxmlformats.org/officeDocument/2006/relationships/slideLayout" Target="../slideLayouts/slideLayout7.xml"/><Relationship Id="rId1" Type="http://schemas.openxmlformats.org/officeDocument/2006/relationships/tags" Target="../tags/tag34.xml"/><Relationship Id="rId6" Type="http://schemas.openxmlformats.org/officeDocument/2006/relationships/image" Target="../media/image62.jpeg"/><Relationship Id="rId5" Type="http://schemas.openxmlformats.org/officeDocument/2006/relationships/image" Target="../media/image61.png"/><Relationship Id="rId4" Type="http://schemas.openxmlformats.org/officeDocument/2006/relationships/image" Target="../media/image60.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35.xml"/><Relationship Id="rId5" Type="http://schemas.openxmlformats.org/officeDocument/2006/relationships/image" Target="../media/image65.png"/><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36.xml"/><Relationship Id="rId5" Type="http://schemas.openxmlformats.org/officeDocument/2006/relationships/image" Target="../media/image67.png"/><Relationship Id="rId4" Type="http://schemas.openxmlformats.org/officeDocument/2006/relationships/image" Target="../media/image6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37.xml"/><Relationship Id="rId4" Type="http://schemas.openxmlformats.org/officeDocument/2006/relationships/image" Target="../media/image68.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3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0" y="1557338"/>
            <a:ext cx="9144000" cy="2557462"/>
          </a:xfrm>
          <a:prstGeom prst="rect">
            <a:avLst/>
          </a:prstGeom>
          <a:gradFill rotWithShape="1">
            <a:gsLst>
              <a:gs pos="0">
                <a:schemeClr val="accent2">
                  <a:alpha val="50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sp>
        <p:nvSpPr>
          <p:cNvPr id="17412" name="Rectangle 9"/>
          <p:cNvSpPr>
            <a:spLocks noGrp="1" noChangeArrowheads="1"/>
          </p:cNvSpPr>
          <p:nvPr>
            <p:ph type="ctrTitle" idx="4294967295"/>
          </p:nvPr>
        </p:nvSpPr>
        <p:spPr>
          <a:xfrm>
            <a:off x="242888" y="2525713"/>
            <a:ext cx="8001000" cy="1071562"/>
          </a:xfrm>
          <a:noFill/>
        </p:spPr>
        <p:txBody>
          <a:bodyPr/>
          <a:lstStyle/>
          <a:p>
            <a:pPr algn="ctr" eaLnBrk="1" hangingPunct="1"/>
            <a:r>
              <a:rPr lang="fr-FR" sz="3200" dirty="0">
                <a:solidFill>
                  <a:srgbClr val="C00000"/>
                </a:solidFill>
              </a:rPr>
              <a:t>Réseaux Informatiques</a:t>
            </a:r>
            <a:endParaRPr lang="fr-FR" sz="3200" b="0" dirty="0">
              <a:solidFill>
                <a:srgbClr val="C00000"/>
              </a:solidFill>
            </a:endParaRPr>
          </a:p>
        </p:txBody>
      </p:sp>
      <p:sp>
        <p:nvSpPr>
          <p:cNvPr id="17413" name="AutoShape 13" descr="Afficher l'image d'origine"/>
          <p:cNvSpPr>
            <a:spLocks noChangeAspect="1" noChangeArrowheads="1"/>
          </p:cNvSpPr>
          <p:nvPr/>
        </p:nvSpPr>
        <p:spPr bwMode="auto">
          <a:xfrm>
            <a:off x="153988"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 name="Rectangle 14"/>
          <p:cNvSpPr/>
          <p:nvPr/>
        </p:nvSpPr>
        <p:spPr>
          <a:xfrm>
            <a:off x="1366837" y="3640532"/>
            <a:ext cx="6410325" cy="922338"/>
          </a:xfrm>
          <a:prstGeom prst="rect">
            <a:avLst/>
          </a:prstGeom>
        </p:spPr>
        <p:txBody>
          <a:bodyPr>
            <a:spAutoFit/>
          </a:bodyPr>
          <a:lstStyle/>
          <a:p>
            <a:pPr algn="ctr">
              <a:spcAft>
                <a:spcPts val="1200"/>
              </a:spcAft>
              <a:defRPr/>
            </a:pPr>
            <a:r>
              <a:rPr lang="fr-FR" b="1" u="sng" dirty="0">
                <a:solidFill>
                  <a:srgbClr val="0070C0"/>
                </a:solidFill>
                <a:latin typeface="+mj-lt"/>
                <a:cs typeface="Arial" charset="0"/>
              </a:rPr>
              <a:t>Chapitre 2</a:t>
            </a:r>
          </a:p>
          <a:p>
            <a:pPr algn="ctr">
              <a:spcBef>
                <a:spcPts val="0"/>
              </a:spcBef>
              <a:defRPr/>
            </a:pPr>
            <a:r>
              <a:rPr lang="fr-FR" sz="2400" b="1" dirty="0">
                <a:solidFill>
                  <a:srgbClr val="002060"/>
                </a:solidFill>
                <a:latin typeface="+mj-lt"/>
                <a:cs typeface="Arial" charset="0"/>
              </a:rPr>
              <a:t>Modèles en couches: OSI et TCP/IP</a:t>
            </a:r>
          </a:p>
        </p:txBody>
      </p:sp>
    </p:spTree>
    <p:custDataLst>
      <p:tags r:id="rId1"/>
    </p:custDataLst>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9"/>
          <p:cNvSpPr txBox="1">
            <a:spLocks noChangeArrowheads="1"/>
          </p:cNvSpPr>
          <p:nvPr/>
        </p:nvSpPr>
        <p:spPr bwMode="auto">
          <a:xfrm>
            <a:off x="971550" y="0"/>
            <a:ext cx="8172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sz="1800" b="1">
                <a:solidFill>
                  <a:srgbClr val="000000"/>
                </a:solidFill>
                <a:latin typeface="Arial" pitchFamily="34" charset="0"/>
              </a:rPr>
              <a:t>Plan</a:t>
            </a:r>
          </a:p>
        </p:txBody>
      </p:sp>
      <p:sp>
        <p:nvSpPr>
          <p:cNvPr id="1843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dirty="0">
                <a:solidFill>
                  <a:srgbClr val="000000"/>
                </a:solidFill>
                <a:latin typeface="Arial" pitchFamily="34" charset="0"/>
              </a:rPr>
              <a:t>Modèles en couches: OSI et TCP/IP</a:t>
            </a:r>
          </a:p>
        </p:txBody>
      </p:sp>
      <p:sp>
        <p:nvSpPr>
          <p:cNvPr id="18436" name="Text Box 9"/>
          <p:cNvSpPr txBox="1">
            <a:spLocks noChangeArrowheads="1"/>
          </p:cNvSpPr>
          <p:nvPr/>
        </p:nvSpPr>
        <p:spPr bwMode="auto">
          <a:xfrm>
            <a:off x="428625" y="1319315"/>
            <a:ext cx="8607425"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342900" indent="-342900" eaLnBrk="0" hangingPunct="0">
              <a:defRPr sz="2000">
                <a:solidFill>
                  <a:schemeClr val="tx1"/>
                </a:solidFill>
                <a:latin typeface="Verdana" pitchFamily="34" charset="0"/>
                <a:cs typeface="Arial" pitchFamily="34" charset="0"/>
              </a:defRPr>
            </a:lvl1pPr>
            <a:lvl2pPr marL="812800" indent="-34290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lvl="1">
              <a:spcBef>
                <a:spcPts val="3600"/>
              </a:spcBef>
              <a:buClr>
                <a:srgbClr val="0070C0"/>
              </a:buClr>
              <a:buFont typeface="Wingdings" pitchFamily="2" charset="2"/>
              <a:buChar char="q"/>
              <a:defRPr/>
            </a:pPr>
            <a:r>
              <a:rPr lang="fr-FR" b="1" dirty="0">
                <a:latin typeface="Arial" pitchFamily="34" charset="0"/>
              </a:rPr>
              <a:t>Introduction </a:t>
            </a:r>
          </a:p>
          <a:p>
            <a:pPr lvl="1">
              <a:spcBef>
                <a:spcPts val="3600"/>
              </a:spcBef>
              <a:buClr>
                <a:srgbClr val="0070C0"/>
              </a:buClr>
              <a:buFont typeface="Wingdings" pitchFamily="2" charset="2"/>
              <a:buChar char="q"/>
              <a:defRPr/>
            </a:pPr>
            <a:r>
              <a:rPr lang="fr-FR" b="1" dirty="0">
                <a:latin typeface="Arial" pitchFamily="34" charset="0"/>
              </a:rPr>
              <a:t>Modèle OSI</a:t>
            </a:r>
          </a:p>
          <a:p>
            <a:pPr lvl="1">
              <a:spcBef>
                <a:spcPts val="3600"/>
              </a:spcBef>
              <a:buClr>
                <a:srgbClr val="0070C0"/>
              </a:buClr>
              <a:buFont typeface="Wingdings" pitchFamily="2" charset="2"/>
              <a:buChar char="q"/>
              <a:defRPr/>
            </a:pPr>
            <a:r>
              <a:rPr lang="fr-FR" b="1" dirty="0">
                <a:latin typeface="Arial" pitchFamily="34" charset="0"/>
              </a:rPr>
              <a:t>Les PDU</a:t>
            </a:r>
          </a:p>
          <a:p>
            <a:pPr lvl="1">
              <a:spcBef>
                <a:spcPts val="3600"/>
              </a:spcBef>
              <a:buClr>
                <a:srgbClr val="0070C0"/>
              </a:buClr>
              <a:buFont typeface="Wingdings" pitchFamily="2" charset="2"/>
              <a:buChar char="q"/>
              <a:defRPr/>
            </a:pPr>
            <a:r>
              <a:rPr lang="fr-FR" b="1" dirty="0">
                <a:latin typeface="Arial" pitchFamily="34" charset="0"/>
              </a:rPr>
              <a:t>Modèle TCP/IP</a:t>
            </a:r>
          </a:p>
          <a:p>
            <a:pPr lvl="1">
              <a:spcBef>
                <a:spcPts val="3600"/>
              </a:spcBef>
              <a:buClr>
                <a:srgbClr val="0070C0"/>
              </a:buClr>
              <a:buFont typeface="Wingdings" pitchFamily="2" charset="2"/>
              <a:buChar char="q"/>
              <a:defRPr/>
            </a:pPr>
            <a:r>
              <a:rPr lang="fr-FR" b="1" dirty="0">
                <a:latin typeface="Arial" pitchFamily="34" charset="0"/>
              </a:rPr>
              <a:t>Processus de Communication</a:t>
            </a:r>
          </a:p>
          <a:p>
            <a:pPr lvl="1">
              <a:spcBef>
                <a:spcPts val="3600"/>
              </a:spcBef>
              <a:buClr>
                <a:srgbClr val="0070C0"/>
              </a:buClr>
              <a:buFont typeface="Wingdings" pitchFamily="2" charset="2"/>
              <a:buChar char="q"/>
              <a:defRPr/>
            </a:pPr>
            <a:r>
              <a:rPr lang="fr-FR" b="1" dirty="0">
                <a:latin typeface="Arial" pitchFamily="34" charset="0"/>
              </a:rPr>
              <a:t>Fonctionnalité et protocoles des  couches applicatives</a:t>
            </a:r>
          </a:p>
        </p:txBody>
      </p:sp>
    </p:spTree>
    <p:custDataLst>
      <p:tags r:id="rId1"/>
    </p:custDataLst>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
        <p:nvSpPr>
          <p:cNvPr id="6553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Introduction</a:t>
            </a:r>
          </a:p>
        </p:txBody>
      </p:sp>
      <p:sp>
        <p:nvSpPr>
          <p:cNvPr id="15" name="Rectangle 14"/>
          <p:cNvSpPr/>
          <p:nvPr/>
        </p:nvSpPr>
        <p:spPr>
          <a:xfrm>
            <a:off x="357188" y="1000125"/>
            <a:ext cx="8786812" cy="5786199"/>
          </a:xfrm>
          <a:prstGeom prst="rect">
            <a:avLst/>
          </a:prstGeom>
        </p:spPr>
        <p:txBody>
          <a:bodyPr wrap="square">
            <a:spAutoFit/>
          </a:bodyPr>
          <a:lstStyle/>
          <a:p>
            <a:pPr marL="174625" indent="-161925" algn="just">
              <a:buClr>
                <a:srgbClr val="00007C"/>
              </a:buClr>
              <a:buFont typeface="Wingdings" pitchFamily="2" charset="2"/>
              <a:buChar char="§"/>
              <a:tabLst>
                <a:tab pos="87313" algn="l"/>
              </a:tabLst>
              <a:defRPr/>
            </a:pPr>
            <a:r>
              <a:rPr lang="fr-FR" b="1" dirty="0">
                <a:solidFill>
                  <a:schemeClr val="tx1">
                    <a:lumMod val="50000"/>
                  </a:schemeClr>
                </a:solidFill>
                <a:latin typeface="+mn-lt"/>
                <a:cs typeface="Arial" charset="0"/>
              </a:rPr>
              <a:t>Un modèle en couches décrit:</a:t>
            </a:r>
          </a:p>
          <a:p>
            <a:pPr marL="812800" lvl="1" indent="-342900" algn="just">
              <a:buClr>
                <a:srgbClr val="00007C"/>
              </a:buClr>
              <a:buFont typeface="Wingdings" pitchFamily="2" charset="2"/>
              <a:buChar char=""/>
              <a:tabLst>
                <a:tab pos="355600" algn="l"/>
              </a:tabLst>
              <a:defRPr/>
            </a:pPr>
            <a:r>
              <a:rPr lang="fr-FR" dirty="0">
                <a:solidFill>
                  <a:schemeClr val="tx1">
                    <a:lumMod val="50000"/>
                  </a:schemeClr>
                </a:solidFill>
                <a:latin typeface="+mn-lt"/>
                <a:cs typeface="Arial" charset="0"/>
              </a:rPr>
              <a:t>Le fonctionnement des protocoles au sein de chacune des couches,</a:t>
            </a:r>
          </a:p>
          <a:p>
            <a:pPr marL="812800" lvl="1" indent="-342900" algn="just">
              <a:buClr>
                <a:srgbClr val="00007C"/>
              </a:buClr>
              <a:buFont typeface="Wingdings" pitchFamily="2" charset="2"/>
              <a:buChar char=""/>
              <a:tabLst>
                <a:tab pos="355600" algn="l"/>
              </a:tabLst>
              <a:defRPr/>
            </a:pPr>
            <a:r>
              <a:rPr lang="fr-FR" dirty="0">
                <a:solidFill>
                  <a:schemeClr val="tx1">
                    <a:lumMod val="50000"/>
                  </a:schemeClr>
                </a:solidFill>
                <a:latin typeface="+mn-lt"/>
                <a:cs typeface="Arial" charset="0"/>
              </a:rPr>
              <a:t>L’interaction avec les couches supérieures et inférieures.</a:t>
            </a:r>
          </a:p>
          <a:p>
            <a:pPr marL="174625" indent="-161925" algn="just">
              <a:buClr>
                <a:srgbClr val="00007C"/>
              </a:buClr>
              <a:buFont typeface="Wingdings" pitchFamily="2" charset="2"/>
              <a:buChar char="§"/>
              <a:tabLst>
                <a:tab pos="87313" algn="l"/>
              </a:tabLst>
              <a:defRPr/>
            </a:pPr>
            <a:r>
              <a:rPr lang="fr-FR" b="1" dirty="0">
                <a:solidFill>
                  <a:schemeClr val="tx1">
                    <a:lumMod val="50000"/>
                  </a:schemeClr>
                </a:solidFill>
                <a:latin typeface="+mn-lt"/>
                <a:cs typeface="Arial" charset="0"/>
              </a:rPr>
              <a:t> Avantages de l’utilisation d’un modèle en couches:</a:t>
            </a:r>
            <a:endParaRPr lang="en-US" b="1" dirty="0">
              <a:solidFill>
                <a:schemeClr val="tx1">
                  <a:lumMod val="50000"/>
                </a:schemeClr>
              </a:solidFill>
              <a:latin typeface="+mn-lt"/>
              <a:cs typeface="Arial" charset="0"/>
            </a:endParaRPr>
          </a:p>
          <a:p>
            <a:pPr marL="812800" lvl="1" indent="-342900" algn="just">
              <a:buClr>
                <a:srgbClr val="00007C"/>
              </a:buClr>
              <a:buFont typeface="Wingdings" pitchFamily="2" charset="2"/>
              <a:buChar char=""/>
              <a:tabLst>
                <a:tab pos="355600" algn="l"/>
              </a:tabLst>
              <a:defRPr/>
            </a:pPr>
            <a:r>
              <a:rPr lang="fr-FR" dirty="0">
                <a:solidFill>
                  <a:schemeClr val="tx1">
                    <a:lumMod val="50000"/>
                  </a:schemeClr>
                </a:solidFill>
                <a:latin typeface="+mn-lt"/>
                <a:cs typeface="Arial" charset="0"/>
              </a:rPr>
              <a:t>Aide à la conception d’un protocole, car des protocoles qui fonctionnent à une couche spécifique disposent d’informations définies à partir desquelles ils agissent, ainsi que d’une interface définie par rapport aux couches supérieures et inférieures ;</a:t>
            </a:r>
          </a:p>
          <a:p>
            <a:pPr marL="812800" lvl="1" indent="-342900" algn="just">
              <a:buClr>
                <a:srgbClr val="00007C"/>
              </a:buClr>
              <a:buFont typeface="Wingdings" pitchFamily="2" charset="2"/>
              <a:buChar char=""/>
              <a:tabLst>
                <a:tab pos="355600" algn="l"/>
              </a:tabLst>
              <a:defRPr/>
            </a:pPr>
            <a:r>
              <a:rPr lang="fr-FR" dirty="0">
                <a:solidFill>
                  <a:schemeClr val="tx1">
                    <a:lumMod val="50000"/>
                  </a:schemeClr>
                </a:solidFill>
                <a:latin typeface="+mn-lt"/>
                <a:cs typeface="Arial" charset="0"/>
              </a:rPr>
              <a:t>Favorise la concurrence car des produits de différents fournisseurs peuvent fonctionner ensemble ;</a:t>
            </a:r>
          </a:p>
          <a:p>
            <a:pPr marL="812800" lvl="1" indent="-342900" algn="just">
              <a:buClr>
                <a:srgbClr val="00007C"/>
              </a:buClr>
              <a:buFont typeface="Wingdings" pitchFamily="2" charset="2"/>
              <a:buChar char=""/>
              <a:tabLst>
                <a:tab pos="355600" algn="l"/>
              </a:tabLst>
              <a:defRPr/>
            </a:pPr>
            <a:r>
              <a:rPr lang="fr-FR" dirty="0">
                <a:solidFill>
                  <a:schemeClr val="tx1">
                    <a:lumMod val="50000"/>
                  </a:schemeClr>
                </a:solidFill>
                <a:latin typeface="+mn-lt"/>
                <a:cs typeface="Arial" charset="0"/>
              </a:rPr>
              <a:t>Empêche que la modification de la technologie ou des fonctionnalités au niveau d’une couche affecte des couches supérieures et inférieures ;</a:t>
            </a:r>
          </a:p>
          <a:p>
            <a:pPr marL="812800" lvl="1" indent="-342900" algn="just">
              <a:buClr>
                <a:srgbClr val="00007C"/>
              </a:buClr>
              <a:buFont typeface="Wingdings" pitchFamily="2" charset="2"/>
              <a:buChar char=""/>
              <a:tabLst>
                <a:tab pos="355600" algn="l"/>
              </a:tabLst>
              <a:defRPr/>
            </a:pPr>
            <a:r>
              <a:rPr lang="fr-FR" dirty="0">
                <a:solidFill>
                  <a:schemeClr val="tx1">
                    <a:lumMod val="50000"/>
                  </a:schemeClr>
                </a:solidFill>
                <a:latin typeface="+mn-lt"/>
                <a:cs typeface="Arial" charset="0"/>
              </a:rPr>
              <a:t>Fournit un langage commun pour décrire des fonctions et des fonctionnalités réseau.</a:t>
            </a:r>
          </a:p>
        </p:txBody>
      </p:sp>
    </p:spTree>
    <p:custDataLst>
      <p:tags r:id="rId1"/>
    </p:custData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box(in)">
                                      <p:cBhvr>
                                        <p:cTn id="7" dur="500"/>
                                        <p:tgtEl>
                                          <p:spTgt spid="15">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5">
                                            <p:txEl>
                                              <p:pRg st="4" end="4"/>
                                            </p:txEl>
                                          </p:spTgt>
                                        </p:tgtEl>
                                        <p:attrNameLst>
                                          <p:attrName>style.visibility</p:attrName>
                                        </p:attrNameLst>
                                      </p:cBhvr>
                                      <p:to>
                                        <p:strVal val="visible"/>
                                      </p:to>
                                    </p:set>
                                    <p:animEffect transition="in" filter="box(in)">
                                      <p:cBhvr>
                                        <p:cTn id="10" dur="500"/>
                                        <p:tgtEl>
                                          <p:spTgt spid="15">
                                            <p:txEl>
                                              <p:pRg st="4" end="4"/>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15">
                                            <p:txEl>
                                              <p:pRg st="5" end="5"/>
                                            </p:txEl>
                                          </p:spTgt>
                                        </p:tgtEl>
                                        <p:attrNameLst>
                                          <p:attrName>style.visibility</p:attrName>
                                        </p:attrNameLst>
                                      </p:cBhvr>
                                      <p:to>
                                        <p:strVal val="visible"/>
                                      </p:to>
                                    </p:set>
                                    <p:animEffect transition="in" filter="box(in)">
                                      <p:cBhvr>
                                        <p:cTn id="15" dur="500"/>
                                        <p:tgtEl>
                                          <p:spTgt spid="15">
                                            <p:txEl>
                                              <p:pRg st="5" end="5"/>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15">
                                            <p:txEl>
                                              <p:pRg st="6" end="6"/>
                                            </p:txEl>
                                          </p:spTgt>
                                        </p:tgtEl>
                                        <p:attrNameLst>
                                          <p:attrName>style.visibility</p:attrName>
                                        </p:attrNameLst>
                                      </p:cBhvr>
                                      <p:to>
                                        <p:strVal val="visible"/>
                                      </p:to>
                                    </p:set>
                                    <p:animEffect transition="in" filter="box(in)">
                                      <p:cBhvr>
                                        <p:cTn id="20" dur="500"/>
                                        <p:tgtEl>
                                          <p:spTgt spid="15">
                                            <p:txEl>
                                              <p:pRg st="6" end="6"/>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15">
                                            <p:txEl>
                                              <p:pRg st="7" end="7"/>
                                            </p:txEl>
                                          </p:spTgt>
                                        </p:tgtEl>
                                        <p:attrNameLst>
                                          <p:attrName>style.visibility</p:attrName>
                                        </p:attrNameLst>
                                      </p:cBhvr>
                                      <p:to>
                                        <p:strVal val="visible"/>
                                      </p:to>
                                    </p:set>
                                    <p:animEffect transition="in" filter="box(in)">
                                      <p:cBhvr>
                                        <p:cTn id="25" dur="500"/>
                                        <p:tgtEl>
                                          <p:spTgt spid="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Modèle en couches</a:t>
            </a:r>
          </a:p>
        </p:txBody>
      </p:sp>
      <p:pic>
        <p:nvPicPr>
          <p:cNvPr id="6656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3988" y="1000125"/>
            <a:ext cx="6719887" cy="433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Rectangle 7"/>
          <p:cNvSpPr/>
          <p:nvPr/>
        </p:nvSpPr>
        <p:spPr>
          <a:xfrm>
            <a:off x="357188" y="5357813"/>
            <a:ext cx="8358187" cy="1370012"/>
          </a:xfrm>
          <a:prstGeom prst="rect">
            <a:avLst/>
          </a:prstGeom>
        </p:spPr>
        <p:txBody>
          <a:bodyPr>
            <a:spAutoFit/>
          </a:bodyPr>
          <a:lstStyle/>
          <a:p>
            <a:pPr marL="273050" indent="-273050">
              <a:buFont typeface="Wingdings" pitchFamily="2" charset="2"/>
              <a:buBlip>
                <a:blip r:embed="rId5"/>
              </a:buBlip>
              <a:defRPr/>
            </a:pPr>
            <a:r>
              <a:rPr lang="fr-FR" dirty="0">
                <a:solidFill>
                  <a:schemeClr val="tx1">
                    <a:lumMod val="50000"/>
                  </a:schemeClr>
                </a:solidFill>
                <a:latin typeface="+mj-lt"/>
                <a:cs typeface="Arial" charset="0"/>
              </a:rPr>
              <a:t> </a:t>
            </a:r>
            <a:r>
              <a:rPr lang="fr-FR" sz="1800" dirty="0">
                <a:solidFill>
                  <a:schemeClr val="tx1">
                    <a:lumMod val="50000"/>
                  </a:schemeClr>
                </a:solidFill>
                <a:latin typeface="+mn-lt"/>
                <a:cs typeface="Arial" charset="0"/>
              </a:rPr>
              <a:t>Un </a:t>
            </a:r>
            <a:r>
              <a:rPr lang="fr-FR" sz="1800" b="1" dirty="0">
                <a:solidFill>
                  <a:schemeClr val="tx1">
                    <a:lumMod val="50000"/>
                  </a:schemeClr>
                </a:solidFill>
                <a:latin typeface="+mn-lt"/>
                <a:cs typeface="Arial" charset="0"/>
              </a:rPr>
              <a:t>modèle de protocole </a:t>
            </a:r>
            <a:r>
              <a:rPr lang="fr-FR" sz="1800" dirty="0">
                <a:solidFill>
                  <a:schemeClr val="tx1">
                    <a:lumMod val="50000"/>
                  </a:schemeClr>
                </a:solidFill>
                <a:latin typeface="+mn-lt"/>
                <a:cs typeface="Arial" charset="0"/>
              </a:rPr>
              <a:t>fournit un modèle étroitement lié à la structure d’une suite de protocoles particulière.</a:t>
            </a:r>
          </a:p>
          <a:p>
            <a:pPr marL="273050" indent="-273050">
              <a:buFont typeface="Wingdings" pitchFamily="2" charset="2"/>
              <a:buBlip>
                <a:blip r:embed="rId5"/>
              </a:buBlip>
              <a:defRPr/>
            </a:pPr>
            <a:r>
              <a:rPr lang="fr-FR" sz="1800" dirty="0">
                <a:solidFill>
                  <a:schemeClr val="tx1">
                    <a:lumMod val="50000"/>
                  </a:schemeClr>
                </a:solidFill>
                <a:latin typeface="+mn-lt"/>
                <a:cs typeface="Arial" charset="0"/>
              </a:rPr>
              <a:t> Un </a:t>
            </a:r>
            <a:r>
              <a:rPr lang="fr-FR" sz="1800" b="1" dirty="0">
                <a:solidFill>
                  <a:schemeClr val="tx1">
                    <a:lumMod val="50000"/>
                  </a:schemeClr>
                </a:solidFill>
                <a:latin typeface="+mn-lt"/>
                <a:cs typeface="Arial" charset="0"/>
              </a:rPr>
              <a:t>modèle de référence </a:t>
            </a:r>
            <a:r>
              <a:rPr lang="fr-FR" sz="1800" dirty="0">
                <a:solidFill>
                  <a:schemeClr val="tx1">
                    <a:lumMod val="50000"/>
                  </a:schemeClr>
                </a:solidFill>
                <a:latin typeface="+mn-lt"/>
                <a:cs typeface="Arial" charset="0"/>
              </a:rPr>
              <a:t>fournit une référence commune pour maintenir la cohérence dans tous les types de protocoles et de services réseau.</a:t>
            </a:r>
          </a:p>
        </p:txBody>
      </p:sp>
      <p:sp>
        <p:nvSpPr>
          <p:cNvPr id="9"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ustDataLst>
      <p:tags r:id="rId1"/>
    </p:custDataLst>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pPr>
            <a:r>
              <a:rPr lang="fr-FR" b="1">
                <a:solidFill>
                  <a:srgbClr val="000000"/>
                </a:solidFill>
                <a:latin typeface="Arial" pitchFamily="34" charset="0"/>
              </a:rPr>
              <a:t>Les couches du modèle OSI </a:t>
            </a:r>
          </a:p>
        </p:txBody>
      </p:sp>
      <p:sp>
        <p:nvSpPr>
          <p:cNvPr id="400441" name="Text Box 57"/>
          <p:cNvSpPr txBox="1">
            <a:spLocks noChangeArrowheads="1"/>
          </p:cNvSpPr>
          <p:nvPr/>
        </p:nvSpPr>
        <p:spPr bwMode="gray">
          <a:xfrm>
            <a:off x="595313" y="3927475"/>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4</a:t>
            </a:r>
          </a:p>
        </p:txBody>
      </p:sp>
      <p:sp>
        <p:nvSpPr>
          <p:cNvPr id="400442" name="Text Box 58"/>
          <p:cNvSpPr txBox="1">
            <a:spLocks noChangeArrowheads="1"/>
          </p:cNvSpPr>
          <p:nvPr/>
        </p:nvSpPr>
        <p:spPr bwMode="gray">
          <a:xfrm>
            <a:off x="595313" y="4646613"/>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3</a:t>
            </a:r>
          </a:p>
        </p:txBody>
      </p:sp>
      <p:sp>
        <p:nvSpPr>
          <p:cNvPr id="400443" name="Text Box 59"/>
          <p:cNvSpPr txBox="1">
            <a:spLocks noChangeArrowheads="1"/>
          </p:cNvSpPr>
          <p:nvPr/>
        </p:nvSpPr>
        <p:spPr bwMode="gray">
          <a:xfrm>
            <a:off x="595313" y="5365750"/>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2</a:t>
            </a:r>
          </a:p>
        </p:txBody>
      </p:sp>
      <p:sp>
        <p:nvSpPr>
          <p:cNvPr id="400444" name="Text Box 60"/>
          <p:cNvSpPr txBox="1">
            <a:spLocks noChangeArrowheads="1"/>
          </p:cNvSpPr>
          <p:nvPr/>
        </p:nvSpPr>
        <p:spPr bwMode="gray">
          <a:xfrm>
            <a:off x="595313" y="608488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1</a:t>
            </a:r>
          </a:p>
        </p:txBody>
      </p:sp>
      <p:sp>
        <p:nvSpPr>
          <p:cNvPr id="400445" name="Text Box 61"/>
          <p:cNvSpPr txBox="1">
            <a:spLocks noChangeArrowheads="1"/>
          </p:cNvSpPr>
          <p:nvPr/>
        </p:nvSpPr>
        <p:spPr bwMode="auto">
          <a:xfrm>
            <a:off x="1443038" y="3927475"/>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Transport</a:t>
            </a:r>
          </a:p>
        </p:txBody>
      </p:sp>
      <p:sp>
        <p:nvSpPr>
          <p:cNvPr id="400446" name="Text Box 62"/>
          <p:cNvSpPr txBox="1">
            <a:spLocks noChangeArrowheads="1"/>
          </p:cNvSpPr>
          <p:nvPr/>
        </p:nvSpPr>
        <p:spPr bwMode="auto">
          <a:xfrm>
            <a:off x="1443038" y="4646613"/>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Réseau</a:t>
            </a:r>
          </a:p>
        </p:txBody>
      </p:sp>
      <p:sp>
        <p:nvSpPr>
          <p:cNvPr id="400447" name="Text Box 63"/>
          <p:cNvSpPr txBox="1">
            <a:spLocks noChangeArrowheads="1"/>
          </p:cNvSpPr>
          <p:nvPr/>
        </p:nvSpPr>
        <p:spPr bwMode="auto">
          <a:xfrm>
            <a:off x="1443038" y="5365750"/>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Liaison de données</a:t>
            </a:r>
          </a:p>
        </p:txBody>
      </p:sp>
      <p:sp>
        <p:nvSpPr>
          <p:cNvPr id="400448" name="Text Box 64"/>
          <p:cNvSpPr txBox="1">
            <a:spLocks noChangeArrowheads="1"/>
          </p:cNvSpPr>
          <p:nvPr/>
        </p:nvSpPr>
        <p:spPr bwMode="auto">
          <a:xfrm>
            <a:off x="1443038" y="608488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Physique</a:t>
            </a:r>
          </a:p>
        </p:txBody>
      </p:sp>
      <p:sp>
        <p:nvSpPr>
          <p:cNvPr id="400449" name="Text Box 65"/>
          <p:cNvSpPr txBox="1">
            <a:spLocks noChangeArrowheads="1"/>
          </p:cNvSpPr>
          <p:nvPr/>
        </p:nvSpPr>
        <p:spPr bwMode="auto">
          <a:xfrm>
            <a:off x="3500438" y="6084888"/>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Envoi sur le média physique</a:t>
            </a:r>
          </a:p>
        </p:txBody>
      </p:sp>
      <p:sp>
        <p:nvSpPr>
          <p:cNvPr id="400450" name="Text Box 66"/>
          <p:cNvSpPr txBox="1">
            <a:spLocks noChangeArrowheads="1"/>
          </p:cNvSpPr>
          <p:nvPr/>
        </p:nvSpPr>
        <p:spPr bwMode="auto">
          <a:xfrm>
            <a:off x="3500438" y="5365750"/>
            <a:ext cx="4643437"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Préparation de l’envoi sur le média</a:t>
            </a:r>
          </a:p>
        </p:txBody>
      </p:sp>
      <p:sp>
        <p:nvSpPr>
          <p:cNvPr id="400451" name="Text Box 67"/>
          <p:cNvSpPr txBox="1">
            <a:spLocks noChangeArrowheads="1"/>
          </p:cNvSpPr>
          <p:nvPr/>
        </p:nvSpPr>
        <p:spPr bwMode="auto">
          <a:xfrm>
            <a:off x="3500438" y="4646613"/>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Sélection du chemin</a:t>
            </a:r>
          </a:p>
        </p:txBody>
      </p:sp>
      <p:sp>
        <p:nvSpPr>
          <p:cNvPr id="400452" name="Text Box 68"/>
          <p:cNvSpPr txBox="1">
            <a:spLocks noChangeArrowheads="1"/>
          </p:cNvSpPr>
          <p:nvPr/>
        </p:nvSpPr>
        <p:spPr bwMode="auto">
          <a:xfrm>
            <a:off x="3500438" y="3927475"/>
            <a:ext cx="4643437"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Qualité de la transmission</a:t>
            </a:r>
          </a:p>
        </p:txBody>
      </p:sp>
      <p:sp>
        <p:nvSpPr>
          <p:cNvPr id="400453" name="Text Box 69"/>
          <p:cNvSpPr txBox="1">
            <a:spLocks noChangeArrowheads="1"/>
          </p:cNvSpPr>
          <p:nvPr/>
        </p:nvSpPr>
        <p:spPr bwMode="gray">
          <a:xfrm>
            <a:off x="585788" y="320833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5</a:t>
            </a:r>
          </a:p>
        </p:txBody>
      </p:sp>
      <p:sp>
        <p:nvSpPr>
          <p:cNvPr id="400454" name="Text Box 70"/>
          <p:cNvSpPr txBox="1">
            <a:spLocks noChangeArrowheads="1"/>
          </p:cNvSpPr>
          <p:nvPr/>
        </p:nvSpPr>
        <p:spPr bwMode="auto">
          <a:xfrm>
            <a:off x="1433513" y="320833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Session</a:t>
            </a:r>
          </a:p>
        </p:txBody>
      </p:sp>
      <p:sp>
        <p:nvSpPr>
          <p:cNvPr id="400455" name="Text Box 71"/>
          <p:cNvSpPr txBox="1">
            <a:spLocks noChangeArrowheads="1"/>
          </p:cNvSpPr>
          <p:nvPr/>
        </p:nvSpPr>
        <p:spPr bwMode="auto">
          <a:xfrm>
            <a:off x="3490913" y="3208338"/>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Contrôle du dialogue</a:t>
            </a:r>
          </a:p>
        </p:txBody>
      </p:sp>
      <p:sp>
        <p:nvSpPr>
          <p:cNvPr id="400456" name="Text Box 72"/>
          <p:cNvSpPr txBox="1">
            <a:spLocks noChangeArrowheads="1"/>
          </p:cNvSpPr>
          <p:nvPr/>
        </p:nvSpPr>
        <p:spPr bwMode="gray">
          <a:xfrm>
            <a:off x="585788" y="2489200"/>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6</a:t>
            </a:r>
          </a:p>
        </p:txBody>
      </p:sp>
      <p:sp>
        <p:nvSpPr>
          <p:cNvPr id="400457" name="Text Box 73"/>
          <p:cNvSpPr txBox="1">
            <a:spLocks noChangeArrowheads="1"/>
          </p:cNvSpPr>
          <p:nvPr/>
        </p:nvSpPr>
        <p:spPr bwMode="auto">
          <a:xfrm>
            <a:off x="1433513" y="2489200"/>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Présentation</a:t>
            </a:r>
          </a:p>
        </p:txBody>
      </p:sp>
      <p:sp>
        <p:nvSpPr>
          <p:cNvPr id="400458" name="Text Box 74"/>
          <p:cNvSpPr txBox="1">
            <a:spLocks noChangeArrowheads="1"/>
          </p:cNvSpPr>
          <p:nvPr/>
        </p:nvSpPr>
        <p:spPr bwMode="auto">
          <a:xfrm>
            <a:off x="3490913" y="2489200"/>
            <a:ext cx="4643437"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Gestion de la syntaxe</a:t>
            </a:r>
          </a:p>
        </p:txBody>
      </p:sp>
      <p:sp>
        <p:nvSpPr>
          <p:cNvPr id="400459" name="Text Box 75"/>
          <p:cNvSpPr txBox="1">
            <a:spLocks noChangeArrowheads="1"/>
          </p:cNvSpPr>
          <p:nvPr/>
        </p:nvSpPr>
        <p:spPr bwMode="gray">
          <a:xfrm>
            <a:off x="585788" y="176688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7</a:t>
            </a:r>
          </a:p>
        </p:txBody>
      </p:sp>
      <p:sp>
        <p:nvSpPr>
          <p:cNvPr id="400460" name="Text Box 76"/>
          <p:cNvSpPr txBox="1">
            <a:spLocks noChangeArrowheads="1"/>
          </p:cNvSpPr>
          <p:nvPr/>
        </p:nvSpPr>
        <p:spPr bwMode="auto">
          <a:xfrm>
            <a:off x="1433513" y="176688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Application</a:t>
            </a:r>
          </a:p>
        </p:txBody>
      </p:sp>
      <p:sp>
        <p:nvSpPr>
          <p:cNvPr id="400461" name="Text Box 77"/>
          <p:cNvSpPr txBox="1">
            <a:spLocks noChangeArrowheads="1"/>
          </p:cNvSpPr>
          <p:nvPr/>
        </p:nvSpPr>
        <p:spPr bwMode="auto">
          <a:xfrm>
            <a:off x="3490913" y="1766888"/>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Communication avec les logiciels</a:t>
            </a:r>
          </a:p>
        </p:txBody>
      </p:sp>
      <p:sp>
        <p:nvSpPr>
          <p:cNvPr id="26" name="Rectangle 25"/>
          <p:cNvSpPr/>
          <p:nvPr/>
        </p:nvSpPr>
        <p:spPr>
          <a:xfrm>
            <a:off x="500063" y="1000125"/>
            <a:ext cx="8643937" cy="646113"/>
          </a:xfrm>
          <a:prstGeom prst="rect">
            <a:avLst/>
          </a:prstGeom>
        </p:spPr>
        <p:txBody>
          <a:bodyPr>
            <a:spAutoFit/>
          </a:bodyPr>
          <a:lstStyle/>
          <a:p>
            <a:pPr>
              <a:defRPr/>
            </a:pPr>
            <a:r>
              <a:rPr lang="fr-FR" sz="1800" dirty="0">
                <a:solidFill>
                  <a:schemeClr val="tx1">
                    <a:lumMod val="50000"/>
                  </a:schemeClr>
                </a:solidFill>
                <a:latin typeface="+mj-lt"/>
                <a:cs typeface="Arial" charset="0"/>
              </a:rPr>
              <a:t>Le modèle OSI (Open </a:t>
            </a:r>
            <a:r>
              <a:rPr lang="fr-FR" sz="1800" dirty="0" err="1">
                <a:solidFill>
                  <a:schemeClr val="tx1">
                    <a:lumMod val="50000"/>
                  </a:schemeClr>
                </a:solidFill>
                <a:latin typeface="+mj-lt"/>
                <a:cs typeface="Arial" charset="0"/>
              </a:rPr>
              <a:t>Systems</a:t>
            </a:r>
            <a:r>
              <a:rPr lang="fr-FR" sz="1800" dirty="0">
                <a:solidFill>
                  <a:schemeClr val="tx1">
                    <a:lumMod val="50000"/>
                  </a:schemeClr>
                </a:solidFill>
                <a:latin typeface="+mj-lt"/>
                <a:cs typeface="Arial" charset="0"/>
              </a:rPr>
              <a:t> </a:t>
            </a:r>
            <a:r>
              <a:rPr lang="fr-FR" sz="1800" dirty="0" err="1">
                <a:solidFill>
                  <a:schemeClr val="tx1">
                    <a:lumMod val="50000"/>
                  </a:schemeClr>
                </a:solidFill>
                <a:latin typeface="+mj-lt"/>
                <a:cs typeface="Arial" charset="0"/>
              </a:rPr>
              <a:t>Interconnection</a:t>
            </a:r>
            <a:r>
              <a:rPr lang="fr-FR" sz="1800" dirty="0">
                <a:solidFill>
                  <a:schemeClr val="tx1">
                    <a:lumMod val="50000"/>
                  </a:schemeClr>
                </a:solidFill>
                <a:latin typeface="+mj-lt"/>
                <a:cs typeface="Arial" charset="0"/>
              </a:rPr>
              <a:t>) constitue le modèle de référence inter réseau le plus répandu.</a:t>
            </a:r>
          </a:p>
        </p:txBody>
      </p:sp>
      <p:sp>
        <p:nvSpPr>
          <p:cNvPr id="28"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0444"/>
                                        </p:tgtEl>
                                        <p:attrNameLst>
                                          <p:attrName>style.visibility</p:attrName>
                                        </p:attrNameLst>
                                      </p:cBhvr>
                                      <p:to>
                                        <p:strVal val="visible"/>
                                      </p:to>
                                    </p:set>
                                    <p:animEffect transition="in" filter="wipe(down)">
                                      <p:cBhvr>
                                        <p:cTn id="7" dur="500"/>
                                        <p:tgtEl>
                                          <p:spTgt spid="40044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0448"/>
                                        </p:tgtEl>
                                        <p:attrNameLst>
                                          <p:attrName>style.visibility</p:attrName>
                                        </p:attrNameLst>
                                      </p:cBhvr>
                                      <p:to>
                                        <p:strVal val="visible"/>
                                      </p:to>
                                    </p:set>
                                    <p:animEffect transition="in" filter="wipe(left)">
                                      <p:cBhvr>
                                        <p:cTn id="11" dur="500"/>
                                        <p:tgtEl>
                                          <p:spTgt spid="400448"/>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00449"/>
                                        </p:tgtEl>
                                        <p:attrNameLst>
                                          <p:attrName>style.visibility</p:attrName>
                                        </p:attrNameLst>
                                      </p:cBhvr>
                                      <p:to>
                                        <p:strVal val="visible"/>
                                      </p:to>
                                    </p:set>
                                    <p:animEffect transition="in" filter="wipe(left)">
                                      <p:cBhvr>
                                        <p:cTn id="15" dur="500"/>
                                        <p:tgtEl>
                                          <p:spTgt spid="40044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00443"/>
                                        </p:tgtEl>
                                        <p:attrNameLst>
                                          <p:attrName>style.visibility</p:attrName>
                                        </p:attrNameLst>
                                      </p:cBhvr>
                                      <p:to>
                                        <p:strVal val="visible"/>
                                      </p:to>
                                    </p:set>
                                    <p:animEffect transition="in" filter="wipe(down)">
                                      <p:cBhvr>
                                        <p:cTn id="20" dur="500"/>
                                        <p:tgtEl>
                                          <p:spTgt spid="400443"/>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00447"/>
                                        </p:tgtEl>
                                        <p:attrNameLst>
                                          <p:attrName>style.visibility</p:attrName>
                                        </p:attrNameLst>
                                      </p:cBhvr>
                                      <p:to>
                                        <p:strVal val="visible"/>
                                      </p:to>
                                    </p:set>
                                    <p:animEffect transition="in" filter="wipe(left)">
                                      <p:cBhvr>
                                        <p:cTn id="24" dur="500"/>
                                        <p:tgtEl>
                                          <p:spTgt spid="400447"/>
                                        </p:tgtEl>
                                      </p:cBhvr>
                                    </p:animEffect>
                                  </p:childTnLst>
                                </p:cTn>
                              </p:par>
                            </p:childTnLst>
                          </p:cTn>
                        </p:par>
                        <p:par>
                          <p:cTn id="25" fill="hold" nodeType="afterGroup">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400450"/>
                                        </p:tgtEl>
                                        <p:attrNameLst>
                                          <p:attrName>style.visibility</p:attrName>
                                        </p:attrNameLst>
                                      </p:cBhvr>
                                      <p:to>
                                        <p:strVal val="visible"/>
                                      </p:to>
                                    </p:set>
                                    <p:animEffect transition="in" filter="wipe(left)">
                                      <p:cBhvr>
                                        <p:cTn id="28" dur="500"/>
                                        <p:tgtEl>
                                          <p:spTgt spid="40045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400442"/>
                                        </p:tgtEl>
                                        <p:attrNameLst>
                                          <p:attrName>style.visibility</p:attrName>
                                        </p:attrNameLst>
                                      </p:cBhvr>
                                      <p:to>
                                        <p:strVal val="visible"/>
                                      </p:to>
                                    </p:set>
                                    <p:animEffect transition="in" filter="wipe(down)">
                                      <p:cBhvr>
                                        <p:cTn id="33" dur="500"/>
                                        <p:tgtEl>
                                          <p:spTgt spid="400442"/>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400446"/>
                                        </p:tgtEl>
                                        <p:attrNameLst>
                                          <p:attrName>style.visibility</p:attrName>
                                        </p:attrNameLst>
                                      </p:cBhvr>
                                      <p:to>
                                        <p:strVal val="visible"/>
                                      </p:to>
                                    </p:set>
                                    <p:animEffect transition="in" filter="wipe(left)">
                                      <p:cBhvr>
                                        <p:cTn id="37" dur="500"/>
                                        <p:tgtEl>
                                          <p:spTgt spid="400446"/>
                                        </p:tgtEl>
                                      </p:cBhvr>
                                    </p:animEffect>
                                  </p:childTnLst>
                                </p:cTn>
                              </p:par>
                            </p:childTnLst>
                          </p:cTn>
                        </p:par>
                        <p:par>
                          <p:cTn id="38" fill="hold" nodeType="afterGroup">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400451"/>
                                        </p:tgtEl>
                                        <p:attrNameLst>
                                          <p:attrName>style.visibility</p:attrName>
                                        </p:attrNameLst>
                                      </p:cBhvr>
                                      <p:to>
                                        <p:strVal val="visible"/>
                                      </p:to>
                                    </p:set>
                                    <p:animEffect transition="in" filter="wipe(left)">
                                      <p:cBhvr>
                                        <p:cTn id="41" dur="500"/>
                                        <p:tgtEl>
                                          <p:spTgt spid="40045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400441"/>
                                        </p:tgtEl>
                                        <p:attrNameLst>
                                          <p:attrName>style.visibility</p:attrName>
                                        </p:attrNameLst>
                                      </p:cBhvr>
                                      <p:to>
                                        <p:strVal val="visible"/>
                                      </p:to>
                                    </p:set>
                                    <p:animEffect transition="in" filter="wipe(down)">
                                      <p:cBhvr>
                                        <p:cTn id="46" dur="500"/>
                                        <p:tgtEl>
                                          <p:spTgt spid="400441"/>
                                        </p:tgtEl>
                                      </p:cBhvr>
                                    </p:animEffect>
                                  </p:childTnLst>
                                </p:cTn>
                              </p:par>
                            </p:childTnLst>
                          </p:cTn>
                        </p:par>
                        <p:par>
                          <p:cTn id="47" fill="hold" nodeType="afterGroup">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400445"/>
                                        </p:tgtEl>
                                        <p:attrNameLst>
                                          <p:attrName>style.visibility</p:attrName>
                                        </p:attrNameLst>
                                      </p:cBhvr>
                                      <p:to>
                                        <p:strVal val="visible"/>
                                      </p:to>
                                    </p:set>
                                    <p:animEffect transition="in" filter="wipe(left)">
                                      <p:cBhvr>
                                        <p:cTn id="50" dur="500"/>
                                        <p:tgtEl>
                                          <p:spTgt spid="400445"/>
                                        </p:tgtEl>
                                      </p:cBhvr>
                                    </p:animEffect>
                                  </p:childTnLst>
                                </p:cTn>
                              </p:par>
                            </p:childTnLst>
                          </p:cTn>
                        </p:par>
                        <p:par>
                          <p:cTn id="51" fill="hold" nodeType="afterGroup">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400452"/>
                                        </p:tgtEl>
                                        <p:attrNameLst>
                                          <p:attrName>style.visibility</p:attrName>
                                        </p:attrNameLst>
                                      </p:cBhvr>
                                      <p:to>
                                        <p:strVal val="visible"/>
                                      </p:to>
                                    </p:set>
                                    <p:animEffect transition="in" filter="wipe(left)">
                                      <p:cBhvr>
                                        <p:cTn id="54" dur="500"/>
                                        <p:tgtEl>
                                          <p:spTgt spid="40045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400453"/>
                                        </p:tgtEl>
                                        <p:attrNameLst>
                                          <p:attrName>style.visibility</p:attrName>
                                        </p:attrNameLst>
                                      </p:cBhvr>
                                      <p:to>
                                        <p:strVal val="visible"/>
                                      </p:to>
                                    </p:set>
                                    <p:animEffect transition="in" filter="wipe(down)">
                                      <p:cBhvr>
                                        <p:cTn id="59" dur="500"/>
                                        <p:tgtEl>
                                          <p:spTgt spid="400453"/>
                                        </p:tgtEl>
                                      </p:cBhvr>
                                    </p:animEffect>
                                  </p:childTnLst>
                                </p:cTn>
                              </p:par>
                            </p:childTnLst>
                          </p:cTn>
                        </p:par>
                        <p:par>
                          <p:cTn id="60" fill="hold" nodeType="afterGroup">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400454"/>
                                        </p:tgtEl>
                                        <p:attrNameLst>
                                          <p:attrName>style.visibility</p:attrName>
                                        </p:attrNameLst>
                                      </p:cBhvr>
                                      <p:to>
                                        <p:strVal val="visible"/>
                                      </p:to>
                                    </p:set>
                                    <p:animEffect transition="in" filter="wipe(left)">
                                      <p:cBhvr>
                                        <p:cTn id="63" dur="500"/>
                                        <p:tgtEl>
                                          <p:spTgt spid="400454"/>
                                        </p:tgtEl>
                                      </p:cBhvr>
                                    </p:animEffect>
                                  </p:childTnLst>
                                </p:cTn>
                              </p:par>
                            </p:childTnLst>
                          </p:cTn>
                        </p:par>
                        <p:par>
                          <p:cTn id="64" fill="hold" nodeType="afterGroup">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400455"/>
                                        </p:tgtEl>
                                        <p:attrNameLst>
                                          <p:attrName>style.visibility</p:attrName>
                                        </p:attrNameLst>
                                      </p:cBhvr>
                                      <p:to>
                                        <p:strVal val="visible"/>
                                      </p:to>
                                    </p:set>
                                    <p:animEffect transition="in" filter="wipe(left)">
                                      <p:cBhvr>
                                        <p:cTn id="67" dur="500"/>
                                        <p:tgtEl>
                                          <p:spTgt spid="40045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400456"/>
                                        </p:tgtEl>
                                        <p:attrNameLst>
                                          <p:attrName>style.visibility</p:attrName>
                                        </p:attrNameLst>
                                      </p:cBhvr>
                                      <p:to>
                                        <p:strVal val="visible"/>
                                      </p:to>
                                    </p:set>
                                    <p:animEffect transition="in" filter="wipe(down)">
                                      <p:cBhvr>
                                        <p:cTn id="72" dur="500"/>
                                        <p:tgtEl>
                                          <p:spTgt spid="400456"/>
                                        </p:tgtEl>
                                      </p:cBhvr>
                                    </p:animEffect>
                                  </p:childTnLst>
                                </p:cTn>
                              </p:par>
                            </p:childTnLst>
                          </p:cTn>
                        </p:par>
                        <p:par>
                          <p:cTn id="73" fill="hold" nodeType="afterGroup">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400457"/>
                                        </p:tgtEl>
                                        <p:attrNameLst>
                                          <p:attrName>style.visibility</p:attrName>
                                        </p:attrNameLst>
                                      </p:cBhvr>
                                      <p:to>
                                        <p:strVal val="visible"/>
                                      </p:to>
                                    </p:set>
                                    <p:animEffect transition="in" filter="wipe(left)">
                                      <p:cBhvr>
                                        <p:cTn id="76" dur="500"/>
                                        <p:tgtEl>
                                          <p:spTgt spid="400457"/>
                                        </p:tgtEl>
                                      </p:cBhvr>
                                    </p:animEffect>
                                  </p:childTnLst>
                                </p:cTn>
                              </p:par>
                            </p:childTnLst>
                          </p:cTn>
                        </p:par>
                        <p:par>
                          <p:cTn id="77" fill="hold" nodeType="afterGroup">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400458"/>
                                        </p:tgtEl>
                                        <p:attrNameLst>
                                          <p:attrName>style.visibility</p:attrName>
                                        </p:attrNameLst>
                                      </p:cBhvr>
                                      <p:to>
                                        <p:strVal val="visible"/>
                                      </p:to>
                                    </p:set>
                                    <p:animEffect transition="in" filter="wipe(left)">
                                      <p:cBhvr>
                                        <p:cTn id="80" dur="500"/>
                                        <p:tgtEl>
                                          <p:spTgt spid="40045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400459"/>
                                        </p:tgtEl>
                                        <p:attrNameLst>
                                          <p:attrName>style.visibility</p:attrName>
                                        </p:attrNameLst>
                                      </p:cBhvr>
                                      <p:to>
                                        <p:strVal val="visible"/>
                                      </p:to>
                                    </p:set>
                                    <p:animEffect transition="in" filter="wipe(down)">
                                      <p:cBhvr>
                                        <p:cTn id="85" dur="500"/>
                                        <p:tgtEl>
                                          <p:spTgt spid="400459"/>
                                        </p:tgtEl>
                                      </p:cBhvr>
                                    </p:animEffect>
                                  </p:childTnLst>
                                </p:cTn>
                              </p:par>
                            </p:childTnLst>
                          </p:cTn>
                        </p:par>
                        <p:par>
                          <p:cTn id="86" fill="hold" nodeType="afterGroup">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400460"/>
                                        </p:tgtEl>
                                        <p:attrNameLst>
                                          <p:attrName>style.visibility</p:attrName>
                                        </p:attrNameLst>
                                      </p:cBhvr>
                                      <p:to>
                                        <p:strVal val="visible"/>
                                      </p:to>
                                    </p:set>
                                    <p:animEffect transition="in" filter="wipe(left)">
                                      <p:cBhvr>
                                        <p:cTn id="89" dur="500"/>
                                        <p:tgtEl>
                                          <p:spTgt spid="400460"/>
                                        </p:tgtEl>
                                      </p:cBhvr>
                                    </p:animEffect>
                                  </p:childTnLst>
                                </p:cTn>
                              </p:par>
                            </p:childTnLst>
                          </p:cTn>
                        </p:par>
                        <p:par>
                          <p:cTn id="90" fill="hold" nodeType="afterGroup">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400461"/>
                                        </p:tgtEl>
                                        <p:attrNameLst>
                                          <p:attrName>style.visibility</p:attrName>
                                        </p:attrNameLst>
                                      </p:cBhvr>
                                      <p:to>
                                        <p:strVal val="visible"/>
                                      </p:to>
                                    </p:set>
                                    <p:animEffect transition="in" filter="wipe(left)">
                                      <p:cBhvr>
                                        <p:cTn id="93" dur="500"/>
                                        <p:tgtEl>
                                          <p:spTgt spid="400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41" grpId="0" animBg="1" autoUpdateAnimBg="0"/>
      <p:bldP spid="400442" grpId="0" animBg="1" autoUpdateAnimBg="0"/>
      <p:bldP spid="400443" grpId="0" animBg="1" autoUpdateAnimBg="0"/>
      <p:bldP spid="400444" grpId="0" animBg="1" autoUpdateAnimBg="0"/>
      <p:bldP spid="400445" grpId="0" animBg="1" autoUpdateAnimBg="0"/>
      <p:bldP spid="400446" grpId="0" animBg="1" autoUpdateAnimBg="0"/>
      <p:bldP spid="400447" grpId="0" animBg="1" autoUpdateAnimBg="0"/>
      <p:bldP spid="400448" grpId="0" animBg="1" autoUpdateAnimBg="0"/>
      <p:bldP spid="400449" grpId="0" animBg="1" autoUpdateAnimBg="0"/>
      <p:bldP spid="400450" grpId="0" animBg="1" autoUpdateAnimBg="0"/>
      <p:bldP spid="400451" grpId="0" animBg="1" autoUpdateAnimBg="0"/>
      <p:bldP spid="400452" grpId="0" animBg="1" autoUpdateAnimBg="0"/>
      <p:bldP spid="400453" grpId="0" animBg="1" autoUpdateAnimBg="0"/>
      <p:bldP spid="400454" grpId="0" animBg="1" autoUpdateAnimBg="0"/>
      <p:bldP spid="400455" grpId="0" animBg="1" autoUpdateAnimBg="0"/>
      <p:bldP spid="400456" grpId="0" animBg="1" autoUpdateAnimBg="0"/>
      <p:bldP spid="400457" grpId="0" animBg="1" autoUpdateAnimBg="0"/>
      <p:bldP spid="400458" grpId="0" animBg="1" autoUpdateAnimBg="0"/>
      <p:bldP spid="400459" grpId="0" animBg="1" autoUpdateAnimBg="0"/>
      <p:bldP spid="400460" grpId="0" animBg="1" autoUpdateAnimBg="0"/>
      <p:bldP spid="400461"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Les couches</a:t>
            </a:r>
          </a:p>
        </p:txBody>
      </p:sp>
      <p:sp>
        <p:nvSpPr>
          <p:cNvPr id="303112" name="Rectangle 8"/>
          <p:cNvSpPr>
            <a:spLocks noChangeArrowheads="1"/>
          </p:cNvSpPr>
          <p:nvPr/>
        </p:nvSpPr>
        <p:spPr bwMode="auto">
          <a:xfrm>
            <a:off x="1042988" y="1285875"/>
            <a:ext cx="7705725"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spcBef>
                <a:spcPct val="20000"/>
              </a:spcBef>
              <a:spcAft>
                <a:spcPct val="30000"/>
              </a:spcAft>
              <a:buClr>
                <a:schemeClr val="hlink"/>
              </a:buClr>
              <a:buFont typeface="Wingdings" pitchFamily="2" charset="2"/>
              <a:buChar char="n"/>
            </a:pPr>
            <a:r>
              <a:rPr lang="fr-FR" sz="2200">
                <a:latin typeface="Arial" pitchFamily="34" charset="0"/>
              </a:rPr>
              <a:t>Analogie avec une conversion humaine</a:t>
            </a:r>
          </a:p>
          <a:p>
            <a:pPr marL="860425" lvl="1" indent="-342900">
              <a:spcBef>
                <a:spcPct val="20000"/>
              </a:spcBef>
              <a:spcAft>
                <a:spcPct val="30000"/>
              </a:spcAft>
              <a:buClr>
                <a:schemeClr val="bg2"/>
              </a:buClr>
              <a:buFont typeface="Wingdings" pitchFamily="2" charset="2"/>
              <a:buChar char="n"/>
            </a:pPr>
            <a:r>
              <a:rPr lang="fr-FR" sz="2200">
                <a:latin typeface="Arial" pitchFamily="34" charset="0"/>
              </a:rPr>
              <a:t>7 </a:t>
            </a:r>
            <a:r>
              <a:rPr lang="fr-FR" sz="2200">
                <a:latin typeface="Arial" pitchFamily="34" charset="0"/>
                <a:sym typeface="Wingdings" pitchFamily="2" charset="2"/>
              </a:rPr>
              <a:t></a:t>
            </a:r>
            <a:r>
              <a:rPr lang="fr-FR" sz="2200">
                <a:latin typeface="Arial" pitchFamily="34" charset="0"/>
              </a:rPr>
              <a:t> L’émetteur souhaite converser</a:t>
            </a:r>
          </a:p>
          <a:p>
            <a:pPr marL="860425" lvl="1" indent="-342900">
              <a:spcBef>
                <a:spcPct val="20000"/>
              </a:spcBef>
              <a:spcAft>
                <a:spcPct val="30000"/>
              </a:spcAft>
              <a:buClr>
                <a:schemeClr val="bg2"/>
              </a:buClr>
              <a:buFont typeface="Wingdings" pitchFamily="2" charset="2"/>
              <a:buChar char="n"/>
            </a:pPr>
            <a:r>
              <a:rPr lang="fr-FR" sz="2200">
                <a:latin typeface="Arial" pitchFamily="34" charset="0"/>
              </a:rPr>
              <a:t>6 </a:t>
            </a:r>
            <a:r>
              <a:rPr lang="fr-FR" sz="2200">
                <a:latin typeface="Arial" pitchFamily="34" charset="0"/>
                <a:sym typeface="Wingdings" pitchFamily="2" charset="2"/>
              </a:rPr>
              <a:t></a:t>
            </a:r>
            <a:r>
              <a:rPr lang="fr-FR" sz="2200">
                <a:latin typeface="Arial" pitchFamily="34" charset="0"/>
              </a:rPr>
              <a:t> La langue parlée doit être la même pour les 2 interlocuteurs</a:t>
            </a:r>
          </a:p>
          <a:p>
            <a:pPr marL="860425" lvl="1" indent="-342900">
              <a:spcBef>
                <a:spcPct val="20000"/>
              </a:spcBef>
              <a:spcAft>
                <a:spcPct val="30000"/>
              </a:spcAft>
              <a:buClr>
                <a:schemeClr val="bg2"/>
              </a:buClr>
              <a:buFont typeface="Wingdings" pitchFamily="2" charset="2"/>
              <a:buChar char="n"/>
            </a:pPr>
            <a:r>
              <a:rPr lang="fr-FR" sz="2200">
                <a:latin typeface="Arial" pitchFamily="34" charset="0"/>
              </a:rPr>
              <a:t>5 </a:t>
            </a:r>
            <a:r>
              <a:rPr lang="fr-FR" sz="2200">
                <a:latin typeface="Arial" pitchFamily="34" charset="0"/>
                <a:sym typeface="Wingdings" pitchFamily="2" charset="2"/>
              </a:rPr>
              <a:t></a:t>
            </a:r>
            <a:r>
              <a:rPr lang="fr-FR" sz="2200">
                <a:latin typeface="Arial" pitchFamily="34" charset="0"/>
              </a:rPr>
              <a:t> La conversation commence par Bonjour</a:t>
            </a:r>
          </a:p>
          <a:p>
            <a:pPr marL="860425" lvl="1" indent="-342900">
              <a:spcBef>
                <a:spcPct val="20000"/>
              </a:spcBef>
              <a:spcAft>
                <a:spcPct val="30000"/>
              </a:spcAft>
              <a:buClr>
                <a:schemeClr val="bg2"/>
              </a:buClr>
              <a:buFont typeface="Wingdings" pitchFamily="2" charset="2"/>
              <a:buChar char="n"/>
            </a:pPr>
            <a:r>
              <a:rPr lang="fr-FR" sz="2200">
                <a:latin typeface="Arial" pitchFamily="34" charset="0"/>
              </a:rPr>
              <a:t>4 </a:t>
            </a:r>
            <a:r>
              <a:rPr lang="fr-FR" sz="2200">
                <a:latin typeface="Arial" pitchFamily="34" charset="0"/>
                <a:sym typeface="Wingdings" pitchFamily="2" charset="2"/>
              </a:rPr>
              <a:t></a:t>
            </a:r>
            <a:r>
              <a:rPr lang="fr-FR" sz="2200">
                <a:latin typeface="Arial" pitchFamily="34" charset="0"/>
              </a:rPr>
              <a:t> Assurance que le destinataire reçoit bien le message</a:t>
            </a:r>
          </a:p>
          <a:p>
            <a:pPr marL="860425" lvl="1" indent="-342900">
              <a:spcBef>
                <a:spcPct val="20000"/>
              </a:spcBef>
              <a:spcAft>
                <a:spcPct val="30000"/>
              </a:spcAft>
              <a:buClr>
                <a:schemeClr val="bg2"/>
              </a:buClr>
              <a:buFont typeface="Wingdings" pitchFamily="2" charset="2"/>
              <a:buChar char="n"/>
            </a:pPr>
            <a:r>
              <a:rPr lang="fr-FR" sz="2200">
                <a:latin typeface="Arial" pitchFamily="34" charset="0"/>
              </a:rPr>
              <a:t>3 </a:t>
            </a:r>
            <a:r>
              <a:rPr lang="fr-FR" sz="2200">
                <a:latin typeface="Arial" pitchFamily="34" charset="0"/>
                <a:sym typeface="Wingdings" pitchFamily="2" charset="2"/>
              </a:rPr>
              <a:t></a:t>
            </a:r>
            <a:r>
              <a:rPr lang="fr-FR" sz="2200">
                <a:latin typeface="Arial" pitchFamily="34" charset="0"/>
              </a:rPr>
              <a:t> Chemin emprunté par le son</a:t>
            </a:r>
          </a:p>
          <a:p>
            <a:pPr marL="860425" lvl="1" indent="-342900">
              <a:spcBef>
                <a:spcPct val="20000"/>
              </a:spcBef>
              <a:spcAft>
                <a:spcPct val="30000"/>
              </a:spcAft>
              <a:buClr>
                <a:schemeClr val="bg2"/>
              </a:buClr>
              <a:buFont typeface="Wingdings" pitchFamily="2" charset="2"/>
              <a:buChar char="n"/>
            </a:pPr>
            <a:r>
              <a:rPr lang="fr-FR" sz="2200">
                <a:latin typeface="Arial" pitchFamily="34" charset="0"/>
              </a:rPr>
              <a:t>2 </a:t>
            </a:r>
            <a:r>
              <a:rPr lang="fr-FR" sz="2200">
                <a:latin typeface="Arial" pitchFamily="34" charset="0"/>
                <a:sym typeface="Wingdings" pitchFamily="2" charset="2"/>
              </a:rPr>
              <a:t></a:t>
            </a:r>
            <a:r>
              <a:rPr lang="fr-FR" sz="2200">
                <a:latin typeface="Arial" pitchFamily="34" charset="0"/>
              </a:rPr>
              <a:t> Préparation a l’envoi (air, téléphone, …)</a:t>
            </a:r>
          </a:p>
          <a:p>
            <a:pPr marL="860425" lvl="1" indent="-342900">
              <a:spcBef>
                <a:spcPct val="20000"/>
              </a:spcBef>
              <a:spcAft>
                <a:spcPct val="30000"/>
              </a:spcAft>
              <a:buClr>
                <a:schemeClr val="bg2"/>
              </a:buClr>
              <a:buFont typeface="Wingdings" pitchFamily="2" charset="2"/>
              <a:buChar char="n"/>
            </a:pPr>
            <a:r>
              <a:rPr lang="fr-FR" sz="2200">
                <a:latin typeface="Arial" pitchFamily="34" charset="0"/>
              </a:rPr>
              <a:t>1 </a:t>
            </a:r>
            <a:r>
              <a:rPr lang="fr-FR" sz="2200">
                <a:latin typeface="Arial" pitchFamily="34" charset="0"/>
                <a:sym typeface="Wingdings" pitchFamily="2" charset="2"/>
              </a:rPr>
              <a:t></a:t>
            </a:r>
            <a:r>
              <a:rPr lang="fr-FR" sz="2200">
                <a:latin typeface="Arial" pitchFamily="34" charset="0"/>
              </a:rPr>
              <a:t> le son se propage dans l’espace</a:t>
            </a:r>
          </a:p>
        </p:txBody>
      </p:sp>
      <p:sp>
        <p:nvSpPr>
          <p:cNvPr id="7"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3112">
                                            <p:txEl>
                                              <p:pRg st="0" end="0"/>
                                            </p:txEl>
                                          </p:spTgt>
                                        </p:tgtEl>
                                        <p:attrNameLst>
                                          <p:attrName>style.visibility</p:attrName>
                                        </p:attrNameLst>
                                      </p:cBhvr>
                                      <p:to>
                                        <p:strVal val="visible"/>
                                      </p:to>
                                    </p:set>
                                    <p:animEffect transition="in" filter="wipe(left)">
                                      <p:cBhvr>
                                        <p:cTn id="7" dur="500"/>
                                        <p:tgtEl>
                                          <p:spTgt spid="3031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3112">
                                            <p:txEl>
                                              <p:pRg st="1" end="1"/>
                                            </p:txEl>
                                          </p:spTgt>
                                        </p:tgtEl>
                                        <p:attrNameLst>
                                          <p:attrName>style.visibility</p:attrName>
                                        </p:attrNameLst>
                                      </p:cBhvr>
                                      <p:to>
                                        <p:strVal val="visible"/>
                                      </p:to>
                                    </p:set>
                                    <p:animEffect transition="in" filter="wipe(left)">
                                      <p:cBhvr>
                                        <p:cTn id="12" dur="500"/>
                                        <p:tgtEl>
                                          <p:spTgt spid="3031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3112">
                                            <p:txEl>
                                              <p:pRg st="2" end="2"/>
                                            </p:txEl>
                                          </p:spTgt>
                                        </p:tgtEl>
                                        <p:attrNameLst>
                                          <p:attrName>style.visibility</p:attrName>
                                        </p:attrNameLst>
                                      </p:cBhvr>
                                      <p:to>
                                        <p:strVal val="visible"/>
                                      </p:to>
                                    </p:set>
                                    <p:animEffect transition="in" filter="wipe(left)">
                                      <p:cBhvr>
                                        <p:cTn id="17" dur="500"/>
                                        <p:tgtEl>
                                          <p:spTgt spid="3031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3112">
                                            <p:txEl>
                                              <p:pRg st="3" end="3"/>
                                            </p:txEl>
                                          </p:spTgt>
                                        </p:tgtEl>
                                        <p:attrNameLst>
                                          <p:attrName>style.visibility</p:attrName>
                                        </p:attrNameLst>
                                      </p:cBhvr>
                                      <p:to>
                                        <p:strVal val="visible"/>
                                      </p:to>
                                    </p:set>
                                    <p:animEffect transition="in" filter="wipe(left)">
                                      <p:cBhvr>
                                        <p:cTn id="22" dur="500"/>
                                        <p:tgtEl>
                                          <p:spTgt spid="30311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3112">
                                            <p:txEl>
                                              <p:pRg st="4" end="4"/>
                                            </p:txEl>
                                          </p:spTgt>
                                        </p:tgtEl>
                                        <p:attrNameLst>
                                          <p:attrName>style.visibility</p:attrName>
                                        </p:attrNameLst>
                                      </p:cBhvr>
                                      <p:to>
                                        <p:strVal val="visible"/>
                                      </p:to>
                                    </p:set>
                                    <p:animEffect transition="in" filter="wipe(left)">
                                      <p:cBhvr>
                                        <p:cTn id="27" dur="500"/>
                                        <p:tgtEl>
                                          <p:spTgt spid="30311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3112">
                                            <p:txEl>
                                              <p:pRg st="5" end="5"/>
                                            </p:txEl>
                                          </p:spTgt>
                                        </p:tgtEl>
                                        <p:attrNameLst>
                                          <p:attrName>style.visibility</p:attrName>
                                        </p:attrNameLst>
                                      </p:cBhvr>
                                      <p:to>
                                        <p:strVal val="visible"/>
                                      </p:to>
                                    </p:set>
                                    <p:animEffect transition="in" filter="wipe(left)">
                                      <p:cBhvr>
                                        <p:cTn id="32" dur="500"/>
                                        <p:tgtEl>
                                          <p:spTgt spid="30311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3112">
                                            <p:txEl>
                                              <p:pRg st="6" end="6"/>
                                            </p:txEl>
                                          </p:spTgt>
                                        </p:tgtEl>
                                        <p:attrNameLst>
                                          <p:attrName>style.visibility</p:attrName>
                                        </p:attrNameLst>
                                      </p:cBhvr>
                                      <p:to>
                                        <p:strVal val="visible"/>
                                      </p:to>
                                    </p:set>
                                    <p:animEffect transition="in" filter="wipe(left)">
                                      <p:cBhvr>
                                        <p:cTn id="37" dur="500"/>
                                        <p:tgtEl>
                                          <p:spTgt spid="30311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03112">
                                            <p:txEl>
                                              <p:pRg st="7" end="7"/>
                                            </p:txEl>
                                          </p:spTgt>
                                        </p:tgtEl>
                                        <p:attrNameLst>
                                          <p:attrName>style.visibility</p:attrName>
                                        </p:attrNameLst>
                                      </p:cBhvr>
                                      <p:to>
                                        <p:strVal val="visible"/>
                                      </p:to>
                                    </p:set>
                                    <p:animEffect transition="in" filter="wipe(left)">
                                      <p:cBhvr>
                                        <p:cTn id="42" dur="500"/>
                                        <p:tgtEl>
                                          <p:spTgt spid="3031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2" grpId="0" build="p" bldLvl="3"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91" name="Text Box 35"/>
          <p:cNvSpPr txBox="1">
            <a:spLocks noChangeArrowheads="1"/>
          </p:cNvSpPr>
          <p:nvPr/>
        </p:nvSpPr>
        <p:spPr bwMode="gray">
          <a:xfrm>
            <a:off x="1219200" y="3609975"/>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4</a:t>
            </a:r>
          </a:p>
        </p:txBody>
      </p:sp>
      <p:sp>
        <p:nvSpPr>
          <p:cNvPr id="301092" name="Text Box 36"/>
          <p:cNvSpPr txBox="1">
            <a:spLocks noChangeArrowheads="1"/>
          </p:cNvSpPr>
          <p:nvPr/>
        </p:nvSpPr>
        <p:spPr bwMode="gray">
          <a:xfrm>
            <a:off x="1219200" y="4329113"/>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3</a:t>
            </a:r>
          </a:p>
        </p:txBody>
      </p:sp>
      <p:sp>
        <p:nvSpPr>
          <p:cNvPr id="301093" name="Text Box 37"/>
          <p:cNvSpPr txBox="1">
            <a:spLocks noChangeArrowheads="1"/>
          </p:cNvSpPr>
          <p:nvPr/>
        </p:nvSpPr>
        <p:spPr bwMode="gray">
          <a:xfrm>
            <a:off x="1219200" y="5048250"/>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2</a:t>
            </a:r>
          </a:p>
        </p:txBody>
      </p:sp>
      <p:sp>
        <p:nvSpPr>
          <p:cNvPr id="301094" name="Text Box 38"/>
          <p:cNvSpPr txBox="1">
            <a:spLocks noChangeArrowheads="1"/>
          </p:cNvSpPr>
          <p:nvPr/>
        </p:nvSpPr>
        <p:spPr bwMode="gray">
          <a:xfrm>
            <a:off x="1219200" y="576738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1</a:t>
            </a:r>
          </a:p>
        </p:txBody>
      </p:sp>
      <p:sp>
        <p:nvSpPr>
          <p:cNvPr id="301095" name="Text Box 39"/>
          <p:cNvSpPr txBox="1">
            <a:spLocks noChangeArrowheads="1"/>
          </p:cNvSpPr>
          <p:nvPr/>
        </p:nvSpPr>
        <p:spPr bwMode="auto">
          <a:xfrm>
            <a:off x="2066925" y="3609975"/>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Transport</a:t>
            </a:r>
          </a:p>
        </p:txBody>
      </p:sp>
      <p:sp>
        <p:nvSpPr>
          <p:cNvPr id="301096" name="Text Box 40"/>
          <p:cNvSpPr txBox="1">
            <a:spLocks noChangeArrowheads="1"/>
          </p:cNvSpPr>
          <p:nvPr/>
        </p:nvSpPr>
        <p:spPr bwMode="auto">
          <a:xfrm>
            <a:off x="2066925" y="4329113"/>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Réseau</a:t>
            </a:r>
          </a:p>
        </p:txBody>
      </p:sp>
      <p:sp>
        <p:nvSpPr>
          <p:cNvPr id="301097" name="Text Box 41"/>
          <p:cNvSpPr txBox="1">
            <a:spLocks noChangeArrowheads="1"/>
          </p:cNvSpPr>
          <p:nvPr/>
        </p:nvSpPr>
        <p:spPr bwMode="auto">
          <a:xfrm>
            <a:off x="2066925" y="5048250"/>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Liaison de données</a:t>
            </a:r>
          </a:p>
        </p:txBody>
      </p:sp>
      <p:sp>
        <p:nvSpPr>
          <p:cNvPr id="301098" name="Text Box 42"/>
          <p:cNvSpPr txBox="1">
            <a:spLocks noChangeArrowheads="1"/>
          </p:cNvSpPr>
          <p:nvPr/>
        </p:nvSpPr>
        <p:spPr bwMode="auto">
          <a:xfrm>
            <a:off x="2066925" y="576738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Physique</a:t>
            </a:r>
          </a:p>
        </p:txBody>
      </p:sp>
      <p:sp>
        <p:nvSpPr>
          <p:cNvPr id="301099" name="Text Box 43"/>
          <p:cNvSpPr txBox="1">
            <a:spLocks noChangeArrowheads="1"/>
          </p:cNvSpPr>
          <p:nvPr/>
        </p:nvSpPr>
        <p:spPr bwMode="auto">
          <a:xfrm>
            <a:off x="4124325" y="5767388"/>
            <a:ext cx="4643438"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UTP, STP, Fibre optique</a:t>
            </a:r>
          </a:p>
        </p:txBody>
      </p:sp>
      <p:sp>
        <p:nvSpPr>
          <p:cNvPr id="301100" name="Text Box 44"/>
          <p:cNvSpPr txBox="1">
            <a:spLocks noChangeArrowheads="1"/>
          </p:cNvSpPr>
          <p:nvPr/>
        </p:nvSpPr>
        <p:spPr bwMode="auto">
          <a:xfrm>
            <a:off x="4124325" y="5048250"/>
            <a:ext cx="4643438"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MAC, HDLC, PPP</a:t>
            </a:r>
          </a:p>
        </p:txBody>
      </p:sp>
      <p:sp>
        <p:nvSpPr>
          <p:cNvPr id="301101" name="Text Box 45"/>
          <p:cNvSpPr txBox="1">
            <a:spLocks noChangeArrowheads="1"/>
          </p:cNvSpPr>
          <p:nvPr/>
        </p:nvSpPr>
        <p:spPr bwMode="auto">
          <a:xfrm>
            <a:off x="4124325" y="4329113"/>
            <a:ext cx="4643438"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IP, IPX, ARP, ICMP</a:t>
            </a:r>
          </a:p>
        </p:txBody>
      </p:sp>
      <p:sp>
        <p:nvSpPr>
          <p:cNvPr id="301102" name="Text Box 46"/>
          <p:cNvSpPr txBox="1">
            <a:spLocks noChangeArrowheads="1"/>
          </p:cNvSpPr>
          <p:nvPr/>
        </p:nvSpPr>
        <p:spPr bwMode="auto">
          <a:xfrm>
            <a:off x="4124325" y="3609975"/>
            <a:ext cx="4643438"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TCP, UDP </a:t>
            </a:r>
          </a:p>
        </p:txBody>
      </p:sp>
      <p:sp>
        <p:nvSpPr>
          <p:cNvPr id="301103" name="Text Box 47"/>
          <p:cNvSpPr txBox="1">
            <a:spLocks noChangeArrowheads="1"/>
          </p:cNvSpPr>
          <p:nvPr/>
        </p:nvSpPr>
        <p:spPr bwMode="gray">
          <a:xfrm>
            <a:off x="1209675" y="289083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5</a:t>
            </a:r>
          </a:p>
        </p:txBody>
      </p:sp>
      <p:sp>
        <p:nvSpPr>
          <p:cNvPr id="301104" name="Text Box 48"/>
          <p:cNvSpPr txBox="1">
            <a:spLocks noChangeArrowheads="1"/>
          </p:cNvSpPr>
          <p:nvPr/>
        </p:nvSpPr>
        <p:spPr bwMode="auto">
          <a:xfrm>
            <a:off x="2057400" y="289083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Session</a:t>
            </a:r>
          </a:p>
        </p:txBody>
      </p:sp>
      <p:sp>
        <p:nvSpPr>
          <p:cNvPr id="301105" name="Text Box 49"/>
          <p:cNvSpPr txBox="1">
            <a:spLocks noChangeArrowheads="1"/>
          </p:cNvSpPr>
          <p:nvPr/>
        </p:nvSpPr>
        <p:spPr bwMode="auto">
          <a:xfrm>
            <a:off x="4114800" y="2890838"/>
            <a:ext cx="4643438"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SQL, NetBIOS, X Window</a:t>
            </a:r>
          </a:p>
        </p:txBody>
      </p:sp>
      <p:sp>
        <p:nvSpPr>
          <p:cNvPr id="301106" name="Text Box 50"/>
          <p:cNvSpPr txBox="1">
            <a:spLocks noChangeArrowheads="1"/>
          </p:cNvSpPr>
          <p:nvPr/>
        </p:nvSpPr>
        <p:spPr bwMode="gray">
          <a:xfrm>
            <a:off x="1209675" y="2171700"/>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6</a:t>
            </a:r>
          </a:p>
        </p:txBody>
      </p:sp>
      <p:sp>
        <p:nvSpPr>
          <p:cNvPr id="301107" name="Text Box 51"/>
          <p:cNvSpPr txBox="1">
            <a:spLocks noChangeArrowheads="1"/>
          </p:cNvSpPr>
          <p:nvPr/>
        </p:nvSpPr>
        <p:spPr bwMode="auto">
          <a:xfrm>
            <a:off x="2057400" y="2171700"/>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Présentation</a:t>
            </a:r>
          </a:p>
        </p:txBody>
      </p:sp>
      <p:sp>
        <p:nvSpPr>
          <p:cNvPr id="301108" name="Text Box 52"/>
          <p:cNvSpPr txBox="1">
            <a:spLocks noChangeArrowheads="1"/>
          </p:cNvSpPr>
          <p:nvPr/>
        </p:nvSpPr>
        <p:spPr bwMode="auto">
          <a:xfrm>
            <a:off x="4114800" y="2171700"/>
            <a:ext cx="4643438"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GIF, MPEG, ZIP, MD5</a:t>
            </a:r>
          </a:p>
        </p:txBody>
      </p:sp>
      <p:sp>
        <p:nvSpPr>
          <p:cNvPr id="301109" name="Text Box 53"/>
          <p:cNvSpPr txBox="1">
            <a:spLocks noChangeArrowheads="1"/>
          </p:cNvSpPr>
          <p:nvPr/>
        </p:nvSpPr>
        <p:spPr bwMode="gray">
          <a:xfrm>
            <a:off x="1209675" y="144938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7</a:t>
            </a:r>
          </a:p>
        </p:txBody>
      </p:sp>
      <p:sp>
        <p:nvSpPr>
          <p:cNvPr id="301110" name="Text Box 54"/>
          <p:cNvSpPr txBox="1">
            <a:spLocks noChangeArrowheads="1"/>
          </p:cNvSpPr>
          <p:nvPr/>
        </p:nvSpPr>
        <p:spPr bwMode="auto">
          <a:xfrm>
            <a:off x="2057400" y="144938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Application</a:t>
            </a:r>
          </a:p>
        </p:txBody>
      </p:sp>
      <p:sp>
        <p:nvSpPr>
          <p:cNvPr id="301111" name="Text Box 55"/>
          <p:cNvSpPr txBox="1">
            <a:spLocks noChangeArrowheads="1"/>
          </p:cNvSpPr>
          <p:nvPr/>
        </p:nvSpPr>
        <p:spPr bwMode="auto">
          <a:xfrm>
            <a:off x="4114800" y="1449388"/>
            <a:ext cx="4643438"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DNS, FTP, SNMP, Telnet, HTTP, HTTPS</a:t>
            </a:r>
          </a:p>
        </p:txBody>
      </p:sp>
      <p:sp>
        <p:nvSpPr>
          <p:cNvPr id="69655"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Les couches et Protocoles</a:t>
            </a:r>
          </a:p>
        </p:txBody>
      </p:sp>
      <p:sp>
        <p:nvSpPr>
          <p:cNvPr id="27"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1094"/>
                                        </p:tgtEl>
                                        <p:attrNameLst>
                                          <p:attrName>style.visibility</p:attrName>
                                        </p:attrNameLst>
                                      </p:cBhvr>
                                      <p:to>
                                        <p:strVal val="visible"/>
                                      </p:to>
                                    </p:set>
                                    <p:animEffect transition="in" filter="wipe(down)">
                                      <p:cBhvr>
                                        <p:cTn id="7" dur="500"/>
                                        <p:tgtEl>
                                          <p:spTgt spid="30109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1098"/>
                                        </p:tgtEl>
                                        <p:attrNameLst>
                                          <p:attrName>style.visibility</p:attrName>
                                        </p:attrNameLst>
                                      </p:cBhvr>
                                      <p:to>
                                        <p:strVal val="visible"/>
                                      </p:to>
                                    </p:set>
                                    <p:animEffect transition="in" filter="wipe(left)">
                                      <p:cBhvr>
                                        <p:cTn id="11" dur="500"/>
                                        <p:tgtEl>
                                          <p:spTgt spid="301098"/>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1099"/>
                                        </p:tgtEl>
                                        <p:attrNameLst>
                                          <p:attrName>style.visibility</p:attrName>
                                        </p:attrNameLst>
                                      </p:cBhvr>
                                      <p:to>
                                        <p:strVal val="visible"/>
                                      </p:to>
                                    </p:set>
                                    <p:animEffect transition="in" filter="wipe(left)">
                                      <p:cBhvr>
                                        <p:cTn id="15" dur="500"/>
                                        <p:tgtEl>
                                          <p:spTgt spid="30109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1093"/>
                                        </p:tgtEl>
                                        <p:attrNameLst>
                                          <p:attrName>style.visibility</p:attrName>
                                        </p:attrNameLst>
                                      </p:cBhvr>
                                      <p:to>
                                        <p:strVal val="visible"/>
                                      </p:to>
                                    </p:set>
                                    <p:animEffect transition="in" filter="wipe(down)">
                                      <p:cBhvr>
                                        <p:cTn id="20" dur="500"/>
                                        <p:tgtEl>
                                          <p:spTgt spid="301093"/>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01097"/>
                                        </p:tgtEl>
                                        <p:attrNameLst>
                                          <p:attrName>style.visibility</p:attrName>
                                        </p:attrNameLst>
                                      </p:cBhvr>
                                      <p:to>
                                        <p:strVal val="visible"/>
                                      </p:to>
                                    </p:set>
                                    <p:animEffect transition="in" filter="wipe(left)">
                                      <p:cBhvr>
                                        <p:cTn id="24" dur="500"/>
                                        <p:tgtEl>
                                          <p:spTgt spid="301097"/>
                                        </p:tgtEl>
                                      </p:cBhvr>
                                    </p:animEffect>
                                  </p:childTnLst>
                                </p:cTn>
                              </p:par>
                            </p:childTnLst>
                          </p:cTn>
                        </p:par>
                        <p:par>
                          <p:cTn id="25" fill="hold" nodeType="afterGroup">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301100"/>
                                        </p:tgtEl>
                                        <p:attrNameLst>
                                          <p:attrName>style.visibility</p:attrName>
                                        </p:attrNameLst>
                                      </p:cBhvr>
                                      <p:to>
                                        <p:strVal val="visible"/>
                                      </p:to>
                                    </p:set>
                                    <p:animEffect transition="in" filter="wipe(left)">
                                      <p:cBhvr>
                                        <p:cTn id="28" dur="500"/>
                                        <p:tgtEl>
                                          <p:spTgt spid="30110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01092"/>
                                        </p:tgtEl>
                                        <p:attrNameLst>
                                          <p:attrName>style.visibility</p:attrName>
                                        </p:attrNameLst>
                                      </p:cBhvr>
                                      <p:to>
                                        <p:strVal val="visible"/>
                                      </p:to>
                                    </p:set>
                                    <p:animEffect transition="in" filter="wipe(down)">
                                      <p:cBhvr>
                                        <p:cTn id="33" dur="500"/>
                                        <p:tgtEl>
                                          <p:spTgt spid="301092"/>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301096"/>
                                        </p:tgtEl>
                                        <p:attrNameLst>
                                          <p:attrName>style.visibility</p:attrName>
                                        </p:attrNameLst>
                                      </p:cBhvr>
                                      <p:to>
                                        <p:strVal val="visible"/>
                                      </p:to>
                                    </p:set>
                                    <p:animEffect transition="in" filter="wipe(left)">
                                      <p:cBhvr>
                                        <p:cTn id="37" dur="500"/>
                                        <p:tgtEl>
                                          <p:spTgt spid="301096"/>
                                        </p:tgtEl>
                                      </p:cBhvr>
                                    </p:animEffect>
                                  </p:childTnLst>
                                </p:cTn>
                              </p:par>
                            </p:childTnLst>
                          </p:cTn>
                        </p:par>
                        <p:par>
                          <p:cTn id="38" fill="hold" nodeType="afterGroup">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301101"/>
                                        </p:tgtEl>
                                        <p:attrNameLst>
                                          <p:attrName>style.visibility</p:attrName>
                                        </p:attrNameLst>
                                      </p:cBhvr>
                                      <p:to>
                                        <p:strVal val="visible"/>
                                      </p:to>
                                    </p:set>
                                    <p:animEffect transition="in" filter="wipe(left)">
                                      <p:cBhvr>
                                        <p:cTn id="41" dur="500"/>
                                        <p:tgtEl>
                                          <p:spTgt spid="30110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01091"/>
                                        </p:tgtEl>
                                        <p:attrNameLst>
                                          <p:attrName>style.visibility</p:attrName>
                                        </p:attrNameLst>
                                      </p:cBhvr>
                                      <p:to>
                                        <p:strVal val="visible"/>
                                      </p:to>
                                    </p:set>
                                    <p:animEffect transition="in" filter="wipe(down)">
                                      <p:cBhvr>
                                        <p:cTn id="46" dur="500"/>
                                        <p:tgtEl>
                                          <p:spTgt spid="301091"/>
                                        </p:tgtEl>
                                      </p:cBhvr>
                                    </p:animEffect>
                                  </p:childTnLst>
                                </p:cTn>
                              </p:par>
                            </p:childTnLst>
                          </p:cTn>
                        </p:par>
                        <p:par>
                          <p:cTn id="47" fill="hold" nodeType="afterGroup">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301095"/>
                                        </p:tgtEl>
                                        <p:attrNameLst>
                                          <p:attrName>style.visibility</p:attrName>
                                        </p:attrNameLst>
                                      </p:cBhvr>
                                      <p:to>
                                        <p:strVal val="visible"/>
                                      </p:to>
                                    </p:set>
                                    <p:animEffect transition="in" filter="wipe(left)">
                                      <p:cBhvr>
                                        <p:cTn id="50" dur="500"/>
                                        <p:tgtEl>
                                          <p:spTgt spid="301095"/>
                                        </p:tgtEl>
                                      </p:cBhvr>
                                    </p:animEffect>
                                  </p:childTnLst>
                                </p:cTn>
                              </p:par>
                            </p:childTnLst>
                          </p:cTn>
                        </p:par>
                        <p:par>
                          <p:cTn id="51" fill="hold" nodeType="afterGroup">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301102"/>
                                        </p:tgtEl>
                                        <p:attrNameLst>
                                          <p:attrName>style.visibility</p:attrName>
                                        </p:attrNameLst>
                                      </p:cBhvr>
                                      <p:to>
                                        <p:strVal val="visible"/>
                                      </p:to>
                                    </p:set>
                                    <p:animEffect transition="in" filter="wipe(left)">
                                      <p:cBhvr>
                                        <p:cTn id="54" dur="500"/>
                                        <p:tgtEl>
                                          <p:spTgt spid="30110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301103"/>
                                        </p:tgtEl>
                                        <p:attrNameLst>
                                          <p:attrName>style.visibility</p:attrName>
                                        </p:attrNameLst>
                                      </p:cBhvr>
                                      <p:to>
                                        <p:strVal val="visible"/>
                                      </p:to>
                                    </p:set>
                                    <p:animEffect transition="in" filter="wipe(down)">
                                      <p:cBhvr>
                                        <p:cTn id="59" dur="500"/>
                                        <p:tgtEl>
                                          <p:spTgt spid="301103"/>
                                        </p:tgtEl>
                                      </p:cBhvr>
                                    </p:animEffect>
                                  </p:childTnLst>
                                </p:cTn>
                              </p:par>
                            </p:childTnLst>
                          </p:cTn>
                        </p:par>
                        <p:par>
                          <p:cTn id="60" fill="hold" nodeType="afterGroup">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301104"/>
                                        </p:tgtEl>
                                        <p:attrNameLst>
                                          <p:attrName>style.visibility</p:attrName>
                                        </p:attrNameLst>
                                      </p:cBhvr>
                                      <p:to>
                                        <p:strVal val="visible"/>
                                      </p:to>
                                    </p:set>
                                    <p:animEffect transition="in" filter="wipe(left)">
                                      <p:cBhvr>
                                        <p:cTn id="63" dur="500"/>
                                        <p:tgtEl>
                                          <p:spTgt spid="301104"/>
                                        </p:tgtEl>
                                      </p:cBhvr>
                                    </p:animEffect>
                                  </p:childTnLst>
                                </p:cTn>
                              </p:par>
                            </p:childTnLst>
                          </p:cTn>
                        </p:par>
                        <p:par>
                          <p:cTn id="64" fill="hold" nodeType="afterGroup">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301105"/>
                                        </p:tgtEl>
                                        <p:attrNameLst>
                                          <p:attrName>style.visibility</p:attrName>
                                        </p:attrNameLst>
                                      </p:cBhvr>
                                      <p:to>
                                        <p:strVal val="visible"/>
                                      </p:to>
                                    </p:set>
                                    <p:animEffect transition="in" filter="wipe(left)">
                                      <p:cBhvr>
                                        <p:cTn id="67" dur="500"/>
                                        <p:tgtEl>
                                          <p:spTgt spid="30110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01106"/>
                                        </p:tgtEl>
                                        <p:attrNameLst>
                                          <p:attrName>style.visibility</p:attrName>
                                        </p:attrNameLst>
                                      </p:cBhvr>
                                      <p:to>
                                        <p:strVal val="visible"/>
                                      </p:to>
                                    </p:set>
                                    <p:animEffect transition="in" filter="wipe(down)">
                                      <p:cBhvr>
                                        <p:cTn id="72" dur="500"/>
                                        <p:tgtEl>
                                          <p:spTgt spid="301106"/>
                                        </p:tgtEl>
                                      </p:cBhvr>
                                    </p:animEffect>
                                  </p:childTnLst>
                                </p:cTn>
                              </p:par>
                            </p:childTnLst>
                          </p:cTn>
                        </p:par>
                        <p:par>
                          <p:cTn id="73" fill="hold" nodeType="afterGroup">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301107"/>
                                        </p:tgtEl>
                                        <p:attrNameLst>
                                          <p:attrName>style.visibility</p:attrName>
                                        </p:attrNameLst>
                                      </p:cBhvr>
                                      <p:to>
                                        <p:strVal val="visible"/>
                                      </p:to>
                                    </p:set>
                                    <p:animEffect transition="in" filter="wipe(left)">
                                      <p:cBhvr>
                                        <p:cTn id="76" dur="500"/>
                                        <p:tgtEl>
                                          <p:spTgt spid="301107"/>
                                        </p:tgtEl>
                                      </p:cBhvr>
                                    </p:animEffect>
                                  </p:childTnLst>
                                </p:cTn>
                              </p:par>
                            </p:childTnLst>
                          </p:cTn>
                        </p:par>
                        <p:par>
                          <p:cTn id="77" fill="hold" nodeType="afterGroup">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301108"/>
                                        </p:tgtEl>
                                        <p:attrNameLst>
                                          <p:attrName>style.visibility</p:attrName>
                                        </p:attrNameLst>
                                      </p:cBhvr>
                                      <p:to>
                                        <p:strVal val="visible"/>
                                      </p:to>
                                    </p:set>
                                    <p:animEffect transition="in" filter="wipe(left)">
                                      <p:cBhvr>
                                        <p:cTn id="80" dur="500"/>
                                        <p:tgtEl>
                                          <p:spTgt spid="30110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301109"/>
                                        </p:tgtEl>
                                        <p:attrNameLst>
                                          <p:attrName>style.visibility</p:attrName>
                                        </p:attrNameLst>
                                      </p:cBhvr>
                                      <p:to>
                                        <p:strVal val="visible"/>
                                      </p:to>
                                    </p:set>
                                    <p:animEffect transition="in" filter="wipe(down)">
                                      <p:cBhvr>
                                        <p:cTn id="85" dur="500"/>
                                        <p:tgtEl>
                                          <p:spTgt spid="301109"/>
                                        </p:tgtEl>
                                      </p:cBhvr>
                                    </p:animEffect>
                                  </p:childTnLst>
                                </p:cTn>
                              </p:par>
                            </p:childTnLst>
                          </p:cTn>
                        </p:par>
                        <p:par>
                          <p:cTn id="86" fill="hold" nodeType="afterGroup">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301110"/>
                                        </p:tgtEl>
                                        <p:attrNameLst>
                                          <p:attrName>style.visibility</p:attrName>
                                        </p:attrNameLst>
                                      </p:cBhvr>
                                      <p:to>
                                        <p:strVal val="visible"/>
                                      </p:to>
                                    </p:set>
                                    <p:animEffect transition="in" filter="wipe(left)">
                                      <p:cBhvr>
                                        <p:cTn id="89" dur="500"/>
                                        <p:tgtEl>
                                          <p:spTgt spid="301110"/>
                                        </p:tgtEl>
                                      </p:cBhvr>
                                    </p:animEffect>
                                  </p:childTnLst>
                                </p:cTn>
                              </p:par>
                            </p:childTnLst>
                          </p:cTn>
                        </p:par>
                        <p:par>
                          <p:cTn id="90" fill="hold" nodeType="afterGroup">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301111"/>
                                        </p:tgtEl>
                                        <p:attrNameLst>
                                          <p:attrName>style.visibility</p:attrName>
                                        </p:attrNameLst>
                                      </p:cBhvr>
                                      <p:to>
                                        <p:strVal val="visible"/>
                                      </p:to>
                                    </p:set>
                                    <p:animEffect transition="in" filter="wipe(left)">
                                      <p:cBhvr>
                                        <p:cTn id="93" dur="500"/>
                                        <p:tgtEl>
                                          <p:spTgt spid="301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91" grpId="0" animBg="1" autoUpdateAnimBg="0"/>
      <p:bldP spid="301092" grpId="0" animBg="1" autoUpdateAnimBg="0"/>
      <p:bldP spid="301093" grpId="0" animBg="1" autoUpdateAnimBg="0"/>
      <p:bldP spid="301094" grpId="0" animBg="1" autoUpdateAnimBg="0"/>
      <p:bldP spid="301095" grpId="0" animBg="1" autoUpdateAnimBg="0"/>
      <p:bldP spid="301096" grpId="0" animBg="1" autoUpdateAnimBg="0"/>
      <p:bldP spid="301097" grpId="0" animBg="1" autoUpdateAnimBg="0"/>
      <p:bldP spid="301098" grpId="0" animBg="1" autoUpdateAnimBg="0"/>
      <p:bldP spid="301099" grpId="0" animBg="1" autoUpdateAnimBg="0"/>
      <p:bldP spid="301100" grpId="0" animBg="1" autoUpdateAnimBg="0"/>
      <p:bldP spid="301101" grpId="0" animBg="1" autoUpdateAnimBg="0"/>
      <p:bldP spid="301102" grpId="0" animBg="1" autoUpdateAnimBg="0"/>
      <p:bldP spid="301103" grpId="0" animBg="1" autoUpdateAnimBg="0"/>
      <p:bldP spid="301104" grpId="0" animBg="1" autoUpdateAnimBg="0"/>
      <p:bldP spid="301105" grpId="0" animBg="1" autoUpdateAnimBg="0"/>
      <p:bldP spid="301106" grpId="0" animBg="1" autoUpdateAnimBg="0"/>
      <p:bldP spid="301107" grpId="0" animBg="1" autoUpdateAnimBg="0"/>
      <p:bldP spid="301108" grpId="0" animBg="1" autoUpdateAnimBg="0"/>
      <p:bldP spid="301109" grpId="0" animBg="1" autoUpdateAnimBg="0"/>
      <p:bldP spid="301110" grpId="0" animBg="1" autoUpdateAnimBg="0"/>
      <p:bldP spid="301111"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Les PDUs</a:t>
            </a:r>
          </a:p>
        </p:txBody>
      </p:sp>
      <p:sp>
        <p:nvSpPr>
          <p:cNvPr id="309259" name="Text Box 11"/>
          <p:cNvSpPr txBox="1">
            <a:spLocks noChangeArrowheads="1"/>
          </p:cNvSpPr>
          <p:nvPr/>
        </p:nvSpPr>
        <p:spPr bwMode="gray">
          <a:xfrm>
            <a:off x="795338" y="3927475"/>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4</a:t>
            </a:r>
          </a:p>
        </p:txBody>
      </p:sp>
      <p:sp>
        <p:nvSpPr>
          <p:cNvPr id="309260" name="Text Box 12"/>
          <p:cNvSpPr txBox="1">
            <a:spLocks noChangeArrowheads="1"/>
          </p:cNvSpPr>
          <p:nvPr/>
        </p:nvSpPr>
        <p:spPr bwMode="gray">
          <a:xfrm>
            <a:off x="795338" y="4646613"/>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3</a:t>
            </a:r>
          </a:p>
        </p:txBody>
      </p:sp>
      <p:sp>
        <p:nvSpPr>
          <p:cNvPr id="309261" name="Text Box 13"/>
          <p:cNvSpPr txBox="1">
            <a:spLocks noChangeArrowheads="1"/>
          </p:cNvSpPr>
          <p:nvPr/>
        </p:nvSpPr>
        <p:spPr bwMode="gray">
          <a:xfrm>
            <a:off x="795338" y="5365750"/>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2</a:t>
            </a:r>
          </a:p>
        </p:txBody>
      </p:sp>
      <p:sp>
        <p:nvSpPr>
          <p:cNvPr id="309262" name="Text Box 14"/>
          <p:cNvSpPr txBox="1">
            <a:spLocks noChangeArrowheads="1"/>
          </p:cNvSpPr>
          <p:nvPr/>
        </p:nvSpPr>
        <p:spPr bwMode="gray">
          <a:xfrm>
            <a:off x="795338" y="608488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1</a:t>
            </a:r>
          </a:p>
        </p:txBody>
      </p:sp>
      <p:sp>
        <p:nvSpPr>
          <p:cNvPr id="309263" name="Text Box 15"/>
          <p:cNvSpPr txBox="1">
            <a:spLocks noChangeArrowheads="1"/>
          </p:cNvSpPr>
          <p:nvPr/>
        </p:nvSpPr>
        <p:spPr bwMode="auto">
          <a:xfrm>
            <a:off x="1643063" y="3927475"/>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a:latin typeface="Arial" pitchFamily="34" charset="0"/>
              </a:rPr>
              <a:t>Transport</a:t>
            </a:r>
          </a:p>
        </p:txBody>
      </p:sp>
      <p:sp>
        <p:nvSpPr>
          <p:cNvPr id="309264" name="Text Box 16"/>
          <p:cNvSpPr txBox="1">
            <a:spLocks noChangeArrowheads="1"/>
          </p:cNvSpPr>
          <p:nvPr/>
        </p:nvSpPr>
        <p:spPr bwMode="auto">
          <a:xfrm>
            <a:off x="1643063" y="4646613"/>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a:latin typeface="Arial" pitchFamily="34" charset="0"/>
              </a:rPr>
              <a:t>Réseau</a:t>
            </a:r>
          </a:p>
        </p:txBody>
      </p:sp>
      <p:sp>
        <p:nvSpPr>
          <p:cNvPr id="309265" name="Text Box 17"/>
          <p:cNvSpPr txBox="1">
            <a:spLocks noChangeArrowheads="1"/>
          </p:cNvSpPr>
          <p:nvPr/>
        </p:nvSpPr>
        <p:spPr bwMode="auto">
          <a:xfrm>
            <a:off x="1643063" y="5365750"/>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a:latin typeface="Arial" pitchFamily="34" charset="0"/>
              </a:rPr>
              <a:t>Liaison de données</a:t>
            </a:r>
          </a:p>
        </p:txBody>
      </p:sp>
      <p:sp>
        <p:nvSpPr>
          <p:cNvPr id="309266" name="Text Box 18"/>
          <p:cNvSpPr txBox="1">
            <a:spLocks noChangeArrowheads="1"/>
          </p:cNvSpPr>
          <p:nvPr/>
        </p:nvSpPr>
        <p:spPr bwMode="auto">
          <a:xfrm>
            <a:off x="1643063" y="608488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a:latin typeface="Arial" pitchFamily="34" charset="0"/>
              </a:rPr>
              <a:t>Physique</a:t>
            </a:r>
          </a:p>
        </p:txBody>
      </p:sp>
      <p:sp>
        <p:nvSpPr>
          <p:cNvPr id="309267" name="Text Box 19"/>
          <p:cNvSpPr txBox="1">
            <a:spLocks noChangeArrowheads="1"/>
          </p:cNvSpPr>
          <p:nvPr/>
        </p:nvSpPr>
        <p:spPr bwMode="auto">
          <a:xfrm>
            <a:off x="3700463" y="6084888"/>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a:latin typeface="Arial" pitchFamily="34" charset="0"/>
              </a:rPr>
              <a:t>Bit</a:t>
            </a:r>
          </a:p>
        </p:txBody>
      </p:sp>
      <p:sp>
        <p:nvSpPr>
          <p:cNvPr id="309268" name="Text Box 20"/>
          <p:cNvSpPr txBox="1">
            <a:spLocks noChangeArrowheads="1"/>
          </p:cNvSpPr>
          <p:nvPr/>
        </p:nvSpPr>
        <p:spPr bwMode="auto">
          <a:xfrm>
            <a:off x="3700463" y="5365750"/>
            <a:ext cx="4643437"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a:latin typeface="Arial" pitchFamily="34" charset="0"/>
              </a:rPr>
              <a:t>Trame</a:t>
            </a:r>
          </a:p>
        </p:txBody>
      </p:sp>
      <p:sp>
        <p:nvSpPr>
          <p:cNvPr id="309269" name="Text Box 21"/>
          <p:cNvSpPr txBox="1">
            <a:spLocks noChangeArrowheads="1"/>
          </p:cNvSpPr>
          <p:nvPr/>
        </p:nvSpPr>
        <p:spPr bwMode="auto">
          <a:xfrm>
            <a:off x="3700463" y="4646613"/>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a:latin typeface="Arial" pitchFamily="34" charset="0"/>
              </a:rPr>
              <a:t>Paquet</a:t>
            </a:r>
          </a:p>
        </p:txBody>
      </p:sp>
      <p:sp>
        <p:nvSpPr>
          <p:cNvPr id="309270" name="Text Box 22"/>
          <p:cNvSpPr txBox="1">
            <a:spLocks noChangeArrowheads="1"/>
          </p:cNvSpPr>
          <p:nvPr/>
        </p:nvSpPr>
        <p:spPr bwMode="auto">
          <a:xfrm>
            <a:off x="3700463" y="3927475"/>
            <a:ext cx="4643437"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a:latin typeface="Arial" pitchFamily="34" charset="0"/>
              </a:rPr>
              <a:t>Segment</a:t>
            </a:r>
          </a:p>
        </p:txBody>
      </p:sp>
      <p:sp>
        <p:nvSpPr>
          <p:cNvPr id="309271" name="Text Box 23"/>
          <p:cNvSpPr txBox="1">
            <a:spLocks noChangeArrowheads="1"/>
          </p:cNvSpPr>
          <p:nvPr/>
        </p:nvSpPr>
        <p:spPr bwMode="gray">
          <a:xfrm>
            <a:off x="785813" y="320833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5</a:t>
            </a:r>
          </a:p>
        </p:txBody>
      </p:sp>
      <p:sp>
        <p:nvSpPr>
          <p:cNvPr id="309272" name="Text Box 24"/>
          <p:cNvSpPr txBox="1">
            <a:spLocks noChangeArrowheads="1"/>
          </p:cNvSpPr>
          <p:nvPr/>
        </p:nvSpPr>
        <p:spPr bwMode="auto">
          <a:xfrm>
            <a:off x="1633538" y="320833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a:latin typeface="Arial" pitchFamily="34" charset="0"/>
              </a:rPr>
              <a:t>Session</a:t>
            </a:r>
          </a:p>
        </p:txBody>
      </p:sp>
      <p:sp>
        <p:nvSpPr>
          <p:cNvPr id="309274" name="Text Box 26"/>
          <p:cNvSpPr txBox="1">
            <a:spLocks noChangeArrowheads="1"/>
          </p:cNvSpPr>
          <p:nvPr/>
        </p:nvSpPr>
        <p:spPr bwMode="gray">
          <a:xfrm>
            <a:off x="785813" y="2489200"/>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6</a:t>
            </a:r>
          </a:p>
        </p:txBody>
      </p:sp>
      <p:sp>
        <p:nvSpPr>
          <p:cNvPr id="309275" name="Text Box 27"/>
          <p:cNvSpPr txBox="1">
            <a:spLocks noChangeArrowheads="1"/>
          </p:cNvSpPr>
          <p:nvPr/>
        </p:nvSpPr>
        <p:spPr bwMode="auto">
          <a:xfrm>
            <a:off x="1633538" y="2489200"/>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a:latin typeface="Arial" pitchFamily="34" charset="0"/>
              </a:rPr>
              <a:t>Présentation</a:t>
            </a:r>
          </a:p>
        </p:txBody>
      </p:sp>
      <p:sp>
        <p:nvSpPr>
          <p:cNvPr id="309277" name="Text Box 29"/>
          <p:cNvSpPr txBox="1">
            <a:spLocks noChangeArrowheads="1"/>
          </p:cNvSpPr>
          <p:nvPr/>
        </p:nvSpPr>
        <p:spPr bwMode="gray">
          <a:xfrm>
            <a:off x="785813" y="176688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7</a:t>
            </a:r>
          </a:p>
        </p:txBody>
      </p:sp>
      <p:sp>
        <p:nvSpPr>
          <p:cNvPr id="309278" name="Text Box 30"/>
          <p:cNvSpPr txBox="1">
            <a:spLocks noChangeArrowheads="1"/>
          </p:cNvSpPr>
          <p:nvPr/>
        </p:nvSpPr>
        <p:spPr bwMode="auto">
          <a:xfrm>
            <a:off x="1633538" y="176688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a:latin typeface="Arial" pitchFamily="34" charset="0"/>
              </a:rPr>
              <a:t>Application</a:t>
            </a:r>
          </a:p>
        </p:txBody>
      </p:sp>
      <p:sp>
        <p:nvSpPr>
          <p:cNvPr id="309279" name="Text Box 31"/>
          <p:cNvSpPr txBox="1">
            <a:spLocks noChangeArrowheads="1"/>
          </p:cNvSpPr>
          <p:nvPr/>
        </p:nvSpPr>
        <p:spPr bwMode="auto">
          <a:xfrm>
            <a:off x="3690938" y="1766888"/>
            <a:ext cx="4643437" cy="2070100"/>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a:latin typeface="Arial" pitchFamily="34" charset="0"/>
              </a:rPr>
              <a:t>Donnée</a:t>
            </a:r>
          </a:p>
        </p:txBody>
      </p:sp>
      <p:sp>
        <p:nvSpPr>
          <p:cNvPr id="24" name="Rectangle 23"/>
          <p:cNvSpPr/>
          <p:nvPr/>
        </p:nvSpPr>
        <p:spPr>
          <a:xfrm>
            <a:off x="642938" y="1000125"/>
            <a:ext cx="8143875" cy="646113"/>
          </a:xfrm>
          <a:prstGeom prst="rect">
            <a:avLst/>
          </a:prstGeom>
        </p:spPr>
        <p:txBody>
          <a:bodyPr>
            <a:spAutoFit/>
          </a:bodyPr>
          <a:lstStyle/>
          <a:p>
            <a:pPr>
              <a:defRPr/>
            </a:pPr>
            <a:r>
              <a:rPr lang="fr-FR" sz="1800" b="1" dirty="0">
                <a:solidFill>
                  <a:srgbClr val="333333"/>
                </a:solidFill>
                <a:latin typeface="+mj-lt"/>
                <a:cs typeface="Arial" charset="0"/>
              </a:rPr>
              <a:t>Unités de données de protocoles (PDU) - </a:t>
            </a:r>
            <a:r>
              <a:rPr lang="fr-FR" sz="1800" dirty="0">
                <a:solidFill>
                  <a:srgbClr val="333333"/>
                </a:solidFill>
                <a:latin typeface="+mj-lt"/>
                <a:cs typeface="Arial" charset="0"/>
              </a:rPr>
              <a:t>La forme qu’emprunte une donnée sur n’importe quelle couche.</a:t>
            </a:r>
          </a:p>
        </p:txBody>
      </p:sp>
      <p:sp>
        <p:nvSpPr>
          <p:cNvPr id="26"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9262"/>
                                        </p:tgtEl>
                                        <p:attrNameLst>
                                          <p:attrName>style.visibility</p:attrName>
                                        </p:attrNameLst>
                                      </p:cBhvr>
                                      <p:to>
                                        <p:strVal val="visible"/>
                                      </p:to>
                                    </p:set>
                                    <p:animEffect transition="in" filter="wipe(down)">
                                      <p:cBhvr>
                                        <p:cTn id="7" dur="500"/>
                                        <p:tgtEl>
                                          <p:spTgt spid="30926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9266"/>
                                        </p:tgtEl>
                                        <p:attrNameLst>
                                          <p:attrName>style.visibility</p:attrName>
                                        </p:attrNameLst>
                                      </p:cBhvr>
                                      <p:to>
                                        <p:strVal val="visible"/>
                                      </p:to>
                                    </p:set>
                                    <p:animEffect transition="in" filter="wipe(left)">
                                      <p:cBhvr>
                                        <p:cTn id="11" dur="500"/>
                                        <p:tgtEl>
                                          <p:spTgt spid="309266"/>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9267"/>
                                        </p:tgtEl>
                                        <p:attrNameLst>
                                          <p:attrName>style.visibility</p:attrName>
                                        </p:attrNameLst>
                                      </p:cBhvr>
                                      <p:to>
                                        <p:strVal val="visible"/>
                                      </p:to>
                                    </p:set>
                                    <p:animEffect transition="in" filter="wipe(left)">
                                      <p:cBhvr>
                                        <p:cTn id="15" dur="500"/>
                                        <p:tgtEl>
                                          <p:spTgt spid="30926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9261"/>
                                        </p:tgtEl>
                                        <p:attrNameLst>
                                          <p:attrName>style.visibility</p:attrName>
                                        </p:attrNameLst>
                                      </p:cBhvr>
                                      <p:to>
                                        <p:strVal val="visible"/>
                                      </p:to>
                                    </p:set>
                                    <p:animEffect transition="in" filter="wipe(down)">
                                      <p:cBhvr>
                                        <p:cTn id="20" dur="500"/>
                                        <p:tgtEl>
                                          <p:spTgt spid="309261"/>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09265"/>
                                        </p:tgtEl>
                                        <p:attrNameLst>
                                          <p:attrName>style.visibility</p:attrName>
                                        </p:attrNameLst>
                                      </p:cBhvr>
                                      <p:to>
                                        <p:strVal val="visible"/>
                                      </p:to>
                                    </p:set>
                                    <p:animEffect transition="in" filter="wipe(left)">
                                      <p:cBhvr>
                                        <p:cTn id="24" dur="500"/>
                                        <p:tgtEl>
                                          <p:spTgt spid="309265"/>
                                        </p:tgtEl>
                                      </p:cBhvr>
                                    </p:animEffect>
                                  </p:childTnLst>
                                </p:cTn>
                              </p:par>
                            </p:childTnLst>
                          </p:cTn>
                        </p:par>
                        <p:par>
                          <p:cTn id="25" fill="hold" nodeType="afterGroup">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309268"/>
                                        </p:tgtEl>
                                        <p:attrNameLst>
                                          <p:attrName>style.visibility</p:attrName>
                                        </p:attrNameLst>
                                      </p:cBhvr>
                                      <p:to>
                                        <p:strVal val="visible"/>
                                      </p:to>
                                    </p:set>
                                    <p:animEffect transition="in" filter="wipe(left)">
                                      <p:cBhvr>
                                        <p:cTn id="28" dur="500"/>
                                        <p:tgtEl>
                                          <p:spTgt spid="30926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09260"/>
                                        </p:tgtEl>
                                        <p:attrNameLst>
                                          <p:attrName>style.visibility</p:attrName>
                                        </p:attrNameLst>
                                      </p:cBhvr>
                                      <p:to>
                                        <p:strVal val="visible"/>
                                      </p:to>
                                    </p:set>
                                    <p:animEffect transition="in" filter="wipe(down)">
                                      <p:cBhvr>
                                        <p:cTn id="33" dur="500"/>
                                        <p:tgtEl>
                                          <p:spTgt spid="309260"/>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309264"/>
                                        </p:tgtEl>
                                        <p:attrNameLst>
                                          <p:attrName>style.visibility</p:attrName>
                                        </p:attrNameLst>
                                      </p:cBhvr>
                                      <p:to>
                                        <p:strVal val="visible"/>
                                      </p:to>
                                    </p:set>
                                    <p:animEffect transition="in" filter="wipe(left)">
                                      <p:cBhvr>
                                        <p:cTn id="37" dur="500"/>
                                        <p:tgtEl>
                                          <p:spTgt spid="309264"/>
                                        </p:tgtEl>
                                      </p:cBhvr>
                                    </p:animEffect>
                                  </p:childTnLst>
                                </p:cTn>
                              </p:par>
                            </p:childTnLst>
                          </p:cTn>
                        </p:par>
                        <p:par>
                          <p:cTn id="38" fill="hold" nodeType="afterGroup">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309269"/>
                                        </p:tgtEl>
                                        <p:attrNameLst>
                                          <p:attrName>style.visibility</p:attrName>
                                        </p:attrNameLst>
                                      </p:cBhvr>
                                      <p:to>
                                        <p:strVal val="visible"/>
                                      </p:to>
                                    </p:set>
                                    <p:animEffect transition="in" filter="wipe(left)">
                                      <p:cBhvr>
                                        <p:cTn id="41" dur="500"/>
                                        <p:tgtEl>
                                          <p:spTgt spid="30926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09259"/>
                                        </p:tgtEl>
                                        <p:attrNameLst>
                                          <p:attrName>style.visibility</p:attrName>
                                        </p:attrNameLst>
                                      </p:cBhvr>
                                      <p:to>
                                        <p:strVal val="visible"/>
                                      </p:to>
                                    </p:set>
                                    <p:animEffect transition="in" filter="wipe(down)">
                                      <p:cBhvr>
                                        <p:cTn id="46" dur="500"/>
                                        <p:tgtEl>
                                          <p:spTgt spid="309259"/>
                                        </p:tgtEl>
                                      </p:cBhvr>
                                    </p:animEffect>
                                  </p:childTnLst>
                                </p:cTn>
                              </p:par>
                            </p:childTnLst>
                          </p:cTn>
                        </p:par>
                        <p:par>
                          <p:cTn id="47" fill="hold" nodeType="afterGroup">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309263"/>
                                        </p:tgtEl>
                                        <p:attrNameLst>
                                          <p:attrName>style.visibility</p:attrName>
                                        </p:attrNameLst>
                                      </p:cBhvr>
                                      <p:to>
                                        <p:strVal val="visible"/>
                                      </p:to>
                                    </p:set>
                                    <p:animEffect transition="in" filter="wipe(left)">
                                      <p:cBhvr>
                                        <p:cTn id="50" dur="500"/>
                                        <p:tgtEl>
                                          <p:spTgt spid="309263"/>
                                        </p:tgtEl>
                                      </p:cBhvr>
                                    </p:animEffect>
                                  </p:childTnLst>
                                </p:cTn>
                              </p:par>
                            </p:childTnLst>
                          </p:cTn>
                        </p:par>
                        <p:par>
                          <p:cTn id="51" fill="hold" nodeType="afterGroup">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309270"/>
                                        </p:tgtEl>
                                        <p:attrNameLst>
                                          <p:attrName>style.visibility</p:attrName>
                                        </p:attrNameLst>
                                      </p:cBhvr>
                                      <p:to>
                                        <p:strVal val="visible"/>
                                      </p:to>
                                    </p:set>
                                    <p:animEffect transition="in" filter="wipe(left)">
                                      <p:cBhvr>
                                        <p:cTn id="54" dur="500"/>
                                        <p:tgtEl>
                                          <p:spTgt spid="30927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309271"/>
                                        </p:tgtEl>
                                        <p:attrNameLst>
                                          <p:attrName>style.visibility</p:attrName>
                                        </p:attrNameLst>
                                      </p:cBhvr>
                                      <p:to>
                                        <p:strVal val="visible"/>
                                      </p:to>
                                    </p:set>
                                    <p:animEffect transition="in" filter="wipe(down)">
                                      <p:cBhvr>
                                        <p:cTn id="59" dur="500"/>
                                        <p:tgtEl>
                                          <p:spTgt spid="309271"/>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309274"/>
                                        </p:tgtEl>
                                        <p:attrNameLst>
                                          <p:attrName>style.visibility</p:attrName>
                                        </p:attrNameLst>
                                      </p:cBhvr>
                                      <p:to>
                                        <p:strVal val="visible"/>
                                      </p:to>
                                    </p:set>
                                    <p:animEffect transition="in" filter="wipe(down)">
                                      <p:cBhvr>
                                        <p:cTn id="62" dur="500"/>
                                        <p:tgtEl>
                                          <p:spTgt spid="309274"/>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309277"/>
                                        </p:tgtEl>
                                        <p:attrNameLst>
                                          <p:attrName>style.visibility</p:attrName>
                                        </p:attrNameLst>
                                      </p:cBhvr>
                                      <p:to>
                                        <p:strVal val="visible"/>
                                      </p:to>
                                    </p:set>
                                    <p:animEffect transition="in" filter="wipe(down)">
                                      <p:cBhvr>
                                        <p:cTn id="65" dur="500"/>
                                        <p:tgtEl>
                                          <p:spTgt spid="309277"/>
                                        </p:tgtEl>
                                      </p:cBhvr>
                                    </p:animEffect>
                                  </p:childTnLst>
                                </p:cTn>
                              </p:par>
                            </p:childTnLst>
                          </p:cTn>
                        </p:par>
                        <p:par>
                          <p:cTn id="66" fill="hold" nodeType="afterGroup">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309272"/>
                                        </p:tgtEl>
                                        <p:attrNameLst>
                                          <p:attrName>style.visibility</p:attrName>
                                        </p:attrNameLst>
                                      </p:cBhvr>
                                      <p:to>
                                        <p:strVal val="visible"/>
                                      </p:to>
                                    </p:set>
                                    <p:animEffect transition="in" filter="wipe(left)">
                                      <p:cBhvr>
                                        <p:cTn id="69" dur="500"/>
                                        <p:tgtEl>
                                          <p:spTgt spid="309272"/>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309275"/>
                                        </p:tgtEl>
                                        <p:attrNameLst>
                                          <p:attrName>style.visibility</p:attrName>
                                        </p:attrNameLst>
                                      </p:cBhvr>
                                      <p:to>
                                        <p:strVal val="visible"/>
                                      </p:to>
                                    </p:set>
                                    <p:animEffect transition="in" filter="wipe(left)">
                                      <p:cBhvr>
                                        <p:cTn id="72" dur="500"/>
                                        <p:tgtEl>
                                          <p:spTgt spid="309275"/>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309278"/>
                                        </p:tgtEl>
                                        <p:attrNameLst>
                                          <p:attrName>style.visibility</p:attrName>
                                        </p:attrNameLst>
                                      </p:cBhvr>
                                      <p:to>
                                        <p:strVal val="visible"/>
                                      </p:to>
                                    </p:set>
                                    <p:animEffect transition="in" filter="wipe(left)">
                                      <p:cBhvr>
                                        <p:cTn id="75" dur="500"/>
                                        <p:tgtEl>
                                          <p:spTgt spid="309278"/>
                                        </p:tgtEl>
                                      </p:cBhvr>
                                    </p:animEffect>
                                  </p:childTnLst>
                                </p:cTn>
                              </p:par>
                            </p:childTnLst>
                          </p:cTn>
                        </p:par>
                        <p:par>
                          <p:cTn id="76" fill="hold" nodeType="afterGroup">
                            <p:stCondLst>
                              <p:cond delay="1000"/>
                            </p:stCondLst>
                            <p:childTnLst>
                              <p:par>
                                <p:cTn id="77" presetID="22" presetClass="entr" presetSubtype="8" fill="hold" grpId="0" nodeType="afterEffect">
                                  <p:stCondLst>
                                    <p:cond delay="0"/>
                                  </p:stCondLst>
                                  <p:childTnLst>
                                    <p:set>
                                      <p:cBhvr>
                                        <p:cTn id="78" dur="1" fill="hold">
                                          <p:stCondLst>
                                            <p:cond delay="0"/>
                                          </p:stCondLst>
                                        </p:cTn>
                                        <p:tgtEl>
                                          <p:spTgt spid="309279"/>
                                        </p:tgtEl>
                                        <p:attrNameLst>
                                          <p:attrName>style.visibility</p:attrName>
                                        </p:attrNameLst>
                                      </p:cBhvr>
                                      <p:to>
                                        <p:strVal val="visible"/>
                                      </p:to>
                                    </p:set>
                                    <p:animEffect transition="in" filter="wipe(left)">
                                      <p:cBhvr>
                                        <p:cTn id="79" dur="500"/>
                                        <p:tgtEl>
                                          <p:spTgt spid="309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9" grpId="0" animBg="1" autoUpdateAnimBg="0"/>
      <p:bldP spid="309260" grpId="0" animBg="1" autoUpdateAnimBg="0"/>
      <p:bldP spid="309261" grpId="0" animBg="1" autoUpdateAnimBg="0"/>
      <p:bldP spid="309262" grpId="0" animBg="1" autoUpdateAnimBg="0"/>
      <p:bldP spid="309263" grpId="0" animBg="1" autoUpdateAnimBg="0"/>
      <p:bldP spid="309264" grpId="0" animBg="1" autoUpdateAnimBg="0"/>
      <p:bldP spid="309265" grpId="0" animBg="1" autoUpdateAnimBg="0"/>
      <p:bldP spid="309266" grpId="0" animBg="1" autoUpdateAnimBg="0"/>
      <p:bldP spid="309267" grpId="0" animBg="1" autoUpdateAnimBg="0"/>
      <p:bldP spid="309268" grpId="0" animBg="1" autoUpdateAnimBg="0"/>
      <p:bldP spid="309269" grpId="0" animBg="1" autoUpdateAnimBg="0"/>
      <p:bldP spid="309270" grpId="0" animBg="1" autoUpdateAnimBg="0"/>
      <p:bldP spid="309271" grpId="0" animBg="1" autoUpdateAnimBg="0"/>
      <p:bldP spid="309272" grpId="0" animBg="1" autoUpdateAnimBg="0"/>
      <p:bldP spid="309274" grpId="0" animBg="1" autoUpdateAnimBg="0"/>
      <p:bldP spid="309275" grpId="0" animBg="1" autoUpdateAnimBg="0"/>
      <p:bldP spid="309277" grpId="0" animBg="1" autoUpdateAnimBg="0"/>
      <p:bldP spid="309278" grpId="0" animBg="1" autoUpdateAnimBg="0"/>
      <p:bldP spid="309279"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5"/>
          <p:cNvSpPr>
            <a:spLocks noChangeArrowheads="1"/>
          </p:cNvSpPr>
          <p:nvPr/>
        </p:nvSpPr>
        <p:spPr bwMode="auto">
          <a:xfrm>
            <a:off x="0" y="503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fr-FR"/>
          </a:p>
        </p:txBody>
      </p:sp>
      <p:sp>
        <p:nvSpPr>
          <p:cNvPr id="71683"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Les PDUs</a:t>
            </a:r>
          </a:p>
        </p:txBody>
      </p:sp>
      <p:grpSp>
        <p:nvGrpSpPr>
          <p:cNvPr id="2" name="Group 64"/>
          <p:cNvGrpSpPr>
            <a:grpSpLocks/>
          </p:cNvGrpSpPr>
          <p:nvPr/>
        </p:nvGrpSpPr>
        <p:grpSpPr bwMode="auto">
          <a:xfrm>
            <a:off x="1258888" y="1065213"/>
            <a:ext cx="7634287" cy="5459412"/>
            <a:chOff x="793" y="671"/>
            <a:chExt cx="4809" cy="3439"/>
          </a:xfrm>
        </p:grpSpPr>
        <p:pic>
          <p:nvPicPr>
            <p:cNvPr id="71687" name="Picture 17" descr="Icon 1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67" y="3457"/>
              <a:ext cx="653"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Picture 21" descr="Icon 1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930" y="3457"/>
              <a:ext cx="635"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9" name="Line 22"/>
            <p:cNvSpPr>
              <a:spLocks noChangeShapeType="1"/>
            </p:cNvSpPr>
            <p:nvPr/>
          </p:nvSpPr>
          <p:spPr bwMode="auto">
            <a:xfrm>
              <a:off x="1656" y="3865"/>
              <a:ext cx="3038" cy="0"/>
            </a:xfrm>
            <a:prstGeom prst="line">
              <a:avLst/>
            </a:prstGeom>
            <a:noFill/>
            <a:ln w="38100">
              <a:solidFill>
                <a:srgbClr val="F08484"/>
              </a:solidFill>
              <a:round/>
              <a:headEnd/>
              <a:tailEnd type="arrow" w="lg"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sp>
          <p:nvSpPr>
            <p:cNvPr id="71690" name="Text Box 24"/>
            <p:cNvSpPr txBox="1">
              <a:spLocks noChangeArrowheads="1"/>
            </p:cNvSpPr>
            <p:nvPr/>
          </p:nvSpPr>
          <p:spPr bwMode="auto">
            <a:xfrm>
              <a:off x="799" y="1977"/>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Transport</a:t>
              </a:r>
            </a:p>
          </p:txBody>
        </p:sp>
        <p:sp>
          <p:nvSpPr>
            <p:cNvPr id="71691" name="Text Box 25"/>
            <p:cNvSpPr txBox="1">
              <a:spLocks noChangeArrowheads="1"/>
            </p:cNvSpPr>
            <p:nvPr/>
          </p:nvSpPr>
          <p:spPr bwMode="auto">
            <a:xfrm>
              <a:off x="799" y="2339"/>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Réseau</a:t>
              </a:r>
            </a:p>
          </p:txBody>
        </p:sp>
        <p:sp>
          <p:nvSpPr>
            <p:cNvPr id="71692" name="Text Box 26"/>
            <p:cNvSpPr txBox="1">
              <a:spLocks noChangeArrowheads="1"/>
            </p:cNvSpPr>
            <p:nvPr/>
          </p:nvSpPr>
          <p:spPr bwMode="auto">
            <a:xfrm>
              <a:off x="799" y="2702"/>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Liaison de données</a:t>
              </a:r>
            </a:p>
          </p:txBody>
        </p:sp>
        <p:sp>
          <p:nvSpPr>
            <p:cNvPr id="71693" name="Text Box 27"/>
            <p:cNvSpPr txBox="1">
              <a:spLocks noChangeArrowheads="1"/>
            </p:cNvSpPr>
            <p:nvPr/>
          </p:nvSpPr>
          <p:spPr bwMode="auto">
            <a:xfrm>
              <a:off x="799" y="3065"/>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Physique</a:t>
              </a:r>
            </a:p>
          </p:txBody>
        </p:sp>
        <p:sp>
          <p:nvSpPr>
            <p:cNvPr id="71694" name="Text Box 28"/>
            <p:cNvSpPr txBox="1">
              <a:spLocks noChangeArrowheads="1"/>
            </p:cNvSpPr>
            <p:nvPr/>
          </p:nvSpPr>
          <p:spPr bwMode="auto">
            <a:xfrm>
              <a:off x="793" y="1614"/>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Session</a:t>
              </a:r>
            </a:p>
          </p:txBody>
        </p:sp>
        <p:sp>
          <p:nvSpPr>
            <p:cNvPr id="71695" name="Text Box 29"/>
            <p:cNvSpPr txBox="1">
              <a:spLocks noChangeArrowheads="1"/>
            </p:cNvSpPr>
            <p:nvPr/>
          </p:nvSpPr>
          <p:spPr bwMode="auto">
            <a:xfrm>
              <a:off x="793" y="1252"/>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Présentation</a:t>
              </a:r>
            </a:p>
          </p:txBody>
        </p:sp>
        <p:sp>
          <p:nvSpPr>
            <p:cNvPr id="71696" name="Text Box 30"/>
            <p:cNvSpPr txBox="1">
              <a:spLocks noChangeArrowheads="1"/>
            </p:cNvSpPr>
            <p:nvPr/>
          </p:nvSpPr>
          <p:spPr bwMode="auto">
            <a:xfrm>
              <a:off x="793" y="888"/>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Application</a:t>
              </a:r>
            </a:p>
          </p:txBody>
        </p:sp>
        <p:sp>
          <p:nvSpPr>
            <p:cNvPr id="71697" name="Text Box 31"/>
            <p:cNvSpPr txBox="1">
              <a:spLocks noChangeArrowheads="1"/>
            </p:cNvSpPr>
            <p:nvPr/>
          </p:nvSpPr>
          <p:spPr bwMode="auto">
            <a:xfrm>
              <a:off x="4694" y="1977"/>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Transport</a:t>
              </a:r>
            </a:p>
          </p:txBody>
        </p:sp>
        <p:sp>
          <p:nvSpPr>
            <p:cNvPr id="71698" name="Text Box 32"/>
            <p:cNvSpPr txBox="1">
              <a:spLocks noChangeArrowheads="1"/>
            </p:cNvSpPr>
            <p:nvPr/>
          </p:nvSpPr>
          <p:spPr bwMode="auto">
            <a:xfrm>
              <a:off x="4694" y="2339"/>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Réseau</a:t>
              </a:r>
            </a:p>
          </p:txBody>
        </p:sp>
        <p:sp>
          <p:nvSpPr>
            <p:cNvPr id="71699" name="Text Box 33"/>
            <p:cNvSpPr txBox="1">
              <a:spLocks noChangeArrowheads="1"/>
            </p:cNvSpPr>
            <p:nvPr/>
          </p:nvSpPr>
          <p:spPr bwMode="auto">
            <a:xfrm>
              <a:off x="4694" y="2702"/>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Liaison de données</a:t>
              </a:r>
            </a:p>
          </p:txBody>
        </p:sp>
        <p:sp>
          <p:nvSpPr>
            <p:cNvPr id="71700" name="Text Box 34"/>
            <p:cNvSpPr txBox="1">
              <a:spLocks noChangeArrowheads="1"/>
            </p:cNvSpPr>
            <p:nvPr/>
          </p:nvSpPr>
          <p:spPr bwMode="auto">
            <a:xfrm>
              <a:off x="4694" y="3065"/>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Physique</a:t>
              </a:r>
            </a:p>
          </p:txBody>
        </p:sp>
        <p:sp>
          <p:nvSpPr>
            <p:cNvPr id="71701" name="Text Box 35"/>
            <p:cNvSpPr txBox="1">
              <a:spLocks noChangeArrowheads="1"/>
            </p:cNvSpPr>
            <p:nvPr/>
          </p:nvSpPr>
          <p:spPr bwMode="auto">
            <a:xfrm>
              <a:off x="4688" y="1614"/>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Session</a:t>
              </a:r>
            </a:p>
          </p:txBody>
        </p:sp>
        <p:sp>
          <p:nvSpPr>
            <p:cNvPr id="71702" name="Text Box 36"/>
            <p:cNvSpPr txBox="1">
              <a:spLocks noChangeArrowheads="1"/>
            </p:cNvSpPr>
            <p:nvPr/>
          </p:nvSpPr>
          <p:spPr bwMode="auto">
            <a:xfrm>
              <a:off x="4688" y="1252"/>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Présentation</a:t>
              </a:r>
            </a:p>
          </p:txBody>
        </p:sp>
        <p:sp>
          <p:nvSpPr>
            <p:cNvPr id="71703" name="Text Box 37"/>
            <p:cNvSpPr txBox="1">
              <a:spLocks noChangeArrowheads="1"/>
            </p:cNvSpPr>
            <p:nvPr/>
          </p:nvSpPr>
          <p:spPr bwMode="auto">
            <a:xfrm>
              <a:off x="4688" y="888"/>
              <a:ext cx="908"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Application</a:t>
              </a:r>
            </a:p>
          </p:txBody>
        </p:sp>
        <p:sp>
          <p:nvSpPr>
            <p:cNvPr id="71704" name="Line 38"/>
            <p:cNvSpPr>
              <a:spLocks noChangeShapeType="1"/>
            </p:cNvSpPr>
            <p:nvPr/>
          </p:nvSpPr>
          <p:spPr bwMode="auto">
            <a:xfrm>
              <a:off x="1837" y="889"/>
              <a:ext cx="0" cy="2314"/>
            </a:xfrm>
            <a:prstGeom prst="line">
              <a:avLst/>
            </a:prstGeom>
            <a:noFill/>
            <a:ln w="38100">
              <a:solidFill>
                <a:srgbClr val="F08484"/>
              </a:solidFill>
              <a:round/>
              <a:headEnd/>
              <a:tailEnd type="arrow" w="lg"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sp>
          <p:nvSpPr>
            <p:cNvPr id="71705" name="Rectangle 39"/>
            <p:cNvSpPr>
              <a:spLocks noChangeArrowheads="1"/>
            </p:cNvSpPr>
            <p:nvPr/>
          </p:nvSpPr>
          <p:spPr bwMode="auto">
            <a:xfrm>
              <a:off x="1422" y="671"/>
              <a:ext cx="8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p>
              <a:r>
                <a:rPr lang="fr-FR" sz="1200" b="1">
                  <a:solidFill>
                    <a:srgbClr val="F08484"/>
                  </a:solidFill>
                </a:rPr>
                <a:t>Encapsulation</a:t>
              </a:r>
            </a:p>
          </p:txBody>
        </p:sp>
        <p:sp>
          <p:nvSpPr>
            <p:cNvPr id="71706" name="Rectangle 40"/>
            <p:cNvSpPr>
              <a:spLocks noChangeArrowheads="1"/>
            </p:cNvSpPr>
            <p:nvPr/>
          </p:nvSpPr>
          <p:spPr bwMode="auto">
            <a:xfrm>
              <a:off x="4036" y="3393"/>
              <a:ext cx="106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p>
              <a:r>
                <a:rPr lang="fr-FR" sz="1200" b="1" dirty="0" err="1">
                  <a:solidFill>
                    <a:srgbClr val="F08484"/>
                  </a:solidFill>
                </a:rPr>
                <a:t>Désencapsulation</a:t>
              </a:r>
              <a:endParaRPr lang="fr-FR" sz="1200" b="1" dirty="0">
                <a:solidFill>
                  <a:srgbClr val="F08484"/>
                </a:solidFill>
              </a:endParaRPr>
            </a:p>
          </p:txBody>
        </p:sp>
        <p:sp>
          <p:nvSpPr>
            <p:cNvPr id="71707" name="Line 41"/>
            <p:cNvSpPr>
              <a:spLocks noChangeShapeType="1"/>
            </p:cNvSpPr>
            <p:nvPr/>
          </p:nvSpPr>
          <p:spPr bwMode="auto">
            <a:xfrm>
              <a:off x="4558" y="1071"/>
              <a:ext cx="0" cy="2268"/>
            </a:xfrm>
            <a:prstGeom prst="line">
              <a:avLst/>
            </a:prstGeom>
            <a:noFill/>
            <a:ln w="38100">
              <a:solidFill>
                <a:srgbClr val="F08484"/>
              </a:solidFill>
              <a:round/>
              <a:headEnd type="arrow" w="lg" len="me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sp>
          <p:nvSpPr>
            <p:cNvPr id="71708" name="Text Box 48"/>
            <p:cNvSpPr txBox="1">
              <a:spLocks noChangeArrowheads="1"/>
            </p:cNvSpPr>
            <p:nvPr/>
          </p:nvSpPr>
          <p:spPr bwMode="auto">
            <a:xfrm>
              <a:off x="2381" y="1977"/>
              <a:ext cx="2003"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sz="1600" b="1">
                  <a:latin typeface="Arial" pitchFamily="34" charset="0"/>
                </a:rPr>
                <a:t>Segment</a:t>
              </a:r>
            </a:p>
          </p:txBody>
        </p:sp>
        <p:sp>
          <p:nvSpPr>
            <p:cNvPr id="71709" name="Text Box 49"/>
            <p:cNvSpPr txBox="1">
              <a:spLocks noChangeArrowheads="1"/>
            </p:cNvSpPr>
            <p:nvPr/>
          </p:nvSpPr>
          <p:spPr bwMode="auto">
            <a:xfrm>
              <a:off x="2245" y="2339"/>
              <a:ext cx="2139"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sz="1600" b="1">
                  <a:latin typeface="Arial" pitchFamily="34" charset="0"/>
                </a:rPr>
                <a:t>Paquet</a:t>
              </a:r>
            </a:p>
          </p:txBody>
        </p:sp>
        <p:sp>
          <p:nvSpPr>
            <p:cNvPr id="71710" name="Text Box 50"/>
            <p:cNvSpPr txBox="1">
              <a:spLocks noChangeArrowheads="1"/>
            </p:cNvSpPr>
            <p:nvPr/>
          </p:nvSpPr>
          <p:spPr bwMode="auto">
            <a:xfrm>
              <a:off x="2109" y="2702"/>
              <a:ext cx="2275"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8000"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sz="1600" b="1">
                  <a:latin typeface="Arial" pitchFamily="34" charset="0"/>
                </a:rPr>
                <a:t>Trame</a:t>
              </a:r>
            </a:p>
          </p:txBody>
        </p:sp>
        <p:sp>
          <p:nvSpPr>
            <p:cNvPr id="71711" name="Text Box 51"/>
            <p:cNvSpPr txBox="1">
              <a:spLocks noChangeArrowheads="1"/>
            </p:cNvSpPr>
            <p:nvPr/>
          </p:nvSpPr>
          <p:spPr bwMode="auto">
            <a:xfrm>
              <a:off x="1973" y="3065"/>
              <a:ext cx="2411"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0110011101001001001001100101</a:t>
              </a:r>
            </a:p>
          </p:txBody>
        </p:sp>
        <p:sp>
          <p:nvSpPr>
            <p:cNvPr id="71712" name="Text Box 52"/>
            <p:cNvSpPr txBox="1">
              <a:spLocks noChangeArrowheads="1"/>
            </p:cNvSpPr>
            <p:nvPr/>
          </p:nvSpPr>
          <p:spPr bwMode="auto">
            <a:xfrm>
              <a:off x="3696" y="1614"/>
              <a:ext cx="682"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Données</a:t>
              </a:r>
            </a:p>
          </p:txBody>
        </p:sp>
        <p:sp>
          <p:nvSpPr>
            <p:cNvPr id="71713" name="Text Box 53"/>
            <p:cNvSpPr txBox="1">
              <a:spLocks noChangeArrowheads="1"/>
            </p:cNvSpPr>
            <p:nvPr/>
          </p:nvSpPr>
          <p:spPr bwMode="auto">
            <a:xfrm>
              <a:off x="3696" y="1252"/>
              <a:ext cx="682"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Données</a:t>
              </a:r>
            </a:p>
          </p:txBody>
        </p:sp>
        <p:sp>
          <p:nvSpPr>
            <p:cNvPr id="71714" name="Text Box 54"/>
            <p:cNvSpPr txBox="1">
              <a:spLocks noChangeArrowheads="1"/>
            </p:cNvSpPr>
            <p:nvPr/>
          </p:nvSpPr>
          <p:spPr bwMode="auto">
            <a:xfrm>
              <a:off x="3696" y="888"/>
              <a:ext cx="682" cy="319"/>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Données</a:t>
              </a:r>
            </a:p>
          </p:txBody>
        </p:sp>
        <p:sp>
          <p:nvSpPr>
            <p:cNvPr id="71715" name="Text Box 56"/>
            <p:cNvSpPr txBox="1">
              <a:spLocks noChangeArrowheads="1"/>
            </p:cNvSpPr>
            <p:nvPr/>
          </p:nvSpPr>
          <p:spPr bwMode="gray">
            <a:xfrm>
              <a:off x="3742" y="2023"/>
              <a:ext cx="591" cy="22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400" b="1">
                  <a:solidFill>
                    <a:schemeClr val="bg1"/>
                  </a:solidFill>
                  <a:latin typeface="Arial" pitchFamily="34" charset="0"/>
                </a:rPr>
                <a:t>Données</a:t>
              </a:r>
            </a:p>
          </p:txBody>
        </p:sp>
        <p:sp>
          <p:nvSpPr>
            <p:cNvPr id="71716" name="Text Box 57"/>
            <p:cNvSpPr txBox="1">
              <a:spLocks noChangeArrowheads="1"/>
            </p:cNvSpPr>
            <p:nvPr/>
          </p:nvSpPr>
          <p:spPr bwMode="gray">
            <a:xfrm>
              <a:off x="3742" y="2386"/>
              <a:ext cx="591" cy="22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400" b="1">
                  <a:solidFill>
                    <a:schemeClr val="bg1"/>
                  </a:solidFill>
                  <a:latin typeface="Arial" pitchFamily="34" charset="0"/>
                </a:rPr>
                <a:t>Segment</a:t>
              </a:r>
            </a:p>
          </p:txBody>
        </p:sp>
        <p:sp>
          <p:nvSpPr>
            <p:cNvPr id="71717" name="Text Box 58"/>
            <p:cNvSpPr txBox="1">
              <a:spLocks noChangeArrowheads="1"/>
            </p:cNvSpPr>
            <p:nvPr/>
          </p:nvSpPr>
          <p:spPr bwMode="gray">
            <a:xfrm>
              <a:off x="3107" y="2749"/>
              <a:ext cx="546" cy="22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400" b="1">
                  <a:solidFill>
                    <a:schemeClr val="bg1"/>
                  </a:solidFill>
                  <a:latin typeface="Arial" pitchFamily="34" charset="0"/>
                </a:rPr>
                <a:t>Paquet</a:t>
              </a:r>
            </a:p>
          </p:txBody>
        </p:sp>
        <p:sp>
          <p:nvSpPr>
            <p:cNvPr id="71718" name="Text Box 59"/>
            <p:cNvSpPr txBox="1">
              <a:spLocks noChangeArrowheads="1"/>
            </p:cNvSpPr>
            <p:nvPr/>
          </p:nvSpPr>
          <p:spPr bwMode="gray">
            <a:xfrm>
              <a:off x="3196" y="2023"/>
              <a:ext cx="500" cy="22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400" b="1">
                  <a:solidFill>
                    <a:schemeClr val="bg1"/>
                  </a:solidFill>
                  <a:latin typeface="Arial" pitchFamily="34" charset="0"/>
                </a:rPr>
                <a:t>En-tête</a:t>
              </a:r>
            </a:p>
          </p:txBody>
        </p:sp>
        <p:sp>
          <p:nvSpPr>
            <p:cNvPr id="71719" name="Text Box 60"/>
            <p:cNvSpPr txBox="1">
              <a:spLocks noChangeArrowheads="1"/>
            </p:cNvSpPr>
            <p:nvPr/>
          </p:nvSpPr>
          <p:spPr bwMode="gray">
            <a:xfrm>
              <a:off x="3196" y="2386"/>
              <a:ext cx="500" cy="22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400" b="1">
                  <a:solidFill>
                    <a:schemeClr val="bg1"/>
                  </a:solidFill>
                  <a:latin typeface="Arial" pitchFamily="34" charset="0"/>
                </a:rPr>
                <a:t>En-tête</a:t>
              </a:r>
            </a:p>
          </p:txBody>
        </p:sp>
        <p:sp>
          <p:nvSpPr>
            <p:cNvPr id="71720" name="Text Box 61"/>
            <p:cNvSpPr txBox="1">
              <a:spLocks noChangeArrowheads="1"/>
            </p:cNvSpPr>
            <p:nvPr/>
          </p:nvSpPr>
          <p:spPr bwMode="gray">
            <a:xfrm>
              <a:off x="3696" y="2749"/>
              <a:ext cx="636" cy="22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400" b="1">
                  <a:solidFill>
                    <a:schemeClr val="bg1"/>
                  </a:solidFill>
                  <a:latin typeface="Arial" pitchFamily="34" charset="0"/>
                </a:rPr>
                <a:t>En queue</a:t>
              </a:r>
            </a:p>
          </p:txBody>
        </p:sp>
        <p:sp>
          <p:nvSpPr>
            <p:cNvPr id="71721" name="Text Box 62"/>
            <p:cNvSpPr txBox="1">
              <a:spLocks noChangeArrowheads="1"/>
            </p:cNvSpPr>
            <p:nvPr/>
          </p:nvSpPr>
          <p:spPr bwMode="gray">
            <a:xfrm>
              <a:off x="2562" y="2749"/>
              <a:ext cx="500" cy="22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400" b="1">
                  <a:solidFill>
                    <a:schemeClr val="bg1"/>
                  </a:solidFill>
                  <a:latin typeface="Arial" pitchFamily="34" charset="0"/>
                </a:rPr>
                <a:t>En-tête</a:t>
              </a:r>
            </a:p>
          </p:txBody>
        </p:sp>
      </p:grpSp>
      <p:sp>
        <p:nvSpPr>
          <p:cNvPr id="43"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Les couches du modèle TCP/IP</a:t>
            </a:r>
          </a:p>
        </p:txBody>
      </p:sp>
      <p:sp>
        <p:nvSpPr>
          <p:cNvPr id="409624" name="Text Box 24"/>
          <p:cNvSpPr txBox="1">
            <a:spLocks noChangeArrowheads="1"/>
          </p:cNvSpPr>
          <p:nvPr/>
        </p:nvSpPr>
        <p:spPr bwMode="gray">
          <a:xfrm>
            <a:off x="1071563" y="3498850"/>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4</a:t>
            </a:r>
          </a:p>
        </p:txBody>
      </p:sp>
      <p:sp>
        <p:nvSpPr>
          <p:cNvPr id="409625" name="Text Box 25"/>
          <p:cNvSpPr txBox="1">
            <a:spLocks noChangeArrowheads="1"/>
          </p:cNvSpPr>
          <p:nvPr/>
        </p:nvSpPr>
        <p:spPr bwMode="gray">
          <a:xfrm>
            <a:off x="1071563" y="4217988"/>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3</a:t>
            </a:r>
          </a:p>
        </p:txBody>
      </p:sp>
      <p:sp>
        <p:nvSpPr>
          <p:cNvPr id="409626" name="Text Box 26"/>
          <p:cNvSpPr txBox="1">
            <a:spLocks noChangeArrowheads="1"/>
          </p:cNvSpPr>
          <p:nvPr/>
        </p:nvSpPr>
        <p:spPr bwMode="gray">
          <a:xfrm>
            <a:off x="1071563" y="4937125"/>
            <a:ext cx="762000" cy="63023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2</a:t>
            </a:r>
          </a:p>
        </p:txBody>
      </p:sp>
      <p:sp>
        <p:nvSpPr>
          <p:cNvPr id="409627" name="Text Box 27"/>
          <p:cNvSpPr txBox="1">
            <a:spLocks noChangeArrowheads="1"/>
          </p:cNvSpPr>
          <p:nvPr/>
        </p:nvSpPr>
        <p:spPr bwMode="gray">
          <a:xfrm>
            <a:off x="1071563" y="5656263"/>
            <a:ext cx="762000" cy="63023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1</a:t>
            </a:r>
          </a:p>
        </p:txBody>
      </p:sp>
      <p:sp>
        <p:nvSpPr>
          <p:cNvPr id="409628" name="Text Box 28"/>
          <p:cNvSpPr txBox="1">
            <a:spLocks noChangeArrowheads="1"/>
          </p:cNvSpPr>
          <p:nvPr/>
        </p:nvSpPr>
        <p:spPr bwMode="auto">
          <a:xfrm>
            <a:off x="1919288" y="3498850"/>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Application</a:t>
            </a:r>
          </a:p>
        </p:txBody>
      </p:sp>
      <p:sp>
        <p:nvSpPr>
          <p:cNvPr id="409629" name="Text Box 29"/>
          <p:cNvSpPr txBox="1">
            <a:spLocks noChangeArrowheads="1"/>
          </p:cNvSpPr>
          <p:nvPr/>
        </p:nvSpPr>
        <p:spPr bwMode="auto">
          <a:xfrm>
            <a:off x="1919288" y="4217988"/>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Transport</a:t>
            </a:r>
          </a:p>
        </p:txBody>
      </p:sp>
      <p:sp>
        <p:nvSpPr>
          <p:cNvPr id="409630" name="Text Box 30"/>
          <p:cNvSpPr txBox="1">
            <a:spLocks noChangeArrowheads="1"/>
          </p:cNvSpPr>
          <p:nvPr/>
        </p:nvSpPr>
        <p:spPr bwMode="auto">
          <a:xfrm>
            <a:off x="1919288" y="4937125"/>
            <a:ext cx="1971675"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Internet</a:t>
            </a:r>
          </a:p>
        </p:txBody>
      </p:sp>
      <p:sp>
        <p:nvSpPr>
          <p:cNvPr id="409631" name="Text Box 31"/>
          <p:cNvSpPr txBox="1">
            <a:spLocks noChangeArrowheads="1"/>
          </p:cNvSpPr>
          <p:nvPr/>
        </p:nvSpPr>
        <p:spPr bwMode="auto">
          <a:xfrm>
            <a:off x="1919288" y="5656263"/>
            <a:ext cx="1971675"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Accès Réseau</a:t>
            </a:r>
          </a:p>
        </p:txBody>
      </p:sp>
      <p:sp>
        <p:nvSpPr>
          <p:cNvPr id="409632" name="Text Box 32"/>
          <p:cNvSpPr txBox="1">
            <a:spLocks noChangeArrowheads="1"/>
          </p:cNvSpPr>
          <p:nvPr/>
        </p:nvSpPr>
        <p:spPr bwMode="auto">
          <a:xfrm>
            <a:off x="3976688" y="5656263"/>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Couches 1 &amp; 2 du modèle OSI</a:t>
            </a:r>
          </a:p>
        </p:txBody>
      </p:sp>
      <p:sp>
        <p:nvSpPr>
          <p:cNvPr id="409633" name="Text Box 33"/>
          <p:cNvSpPr txBox="1">
            <a:spLocks noChangeArrowheads="1"/>
          </p:cNvSpPr>
          <p:nvPr/>
        </p:nvSpPr>
        <p:spPr bwMode="auto">
          <a:xfrm>
            <a:off x="3976688" y="4937125"/>
            <a:ext cx="4643437"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Sélection du chemin</a:t>
            </a:r>
          </a:p>
        </p:txBody>
      </p:sp>
      <p:sp>
        <p:nvSpPr>
          <p:cNvPr id="409634" name="Text Box 34"/>
          <p:cNvSpPr txBox="1">
            <a:spLocks noChangeArrowheads="1"/>
          </p:cNvSpPr>
          <p:nvPr/>
        </p:nvSpPr>
        <p:spPr bwMode="auto">
          <a:xfrm>
            <a:off x="3976688" y="4217988"/>
            <a:ext cx="4643437" cy="63023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Qualité de la transmission</a:t>
            </a:r>
          </a:p>
        </p:txBody>
      </p:sp>
      <p:sp>
        <p:nvSpPr>
          <p:cNvPr id="409635" name="Text Box 35"/>
          <p:cNvSpPr txBox="1">
            <a:spLocks noChangeArrowheads="1"/>
          </p:cNvSpPr>
          <p:nvPr/>
        </p:nvSpPr>
        <p:spPr bwMode="auto">
          <a:xfrm>
            <a:off x="3976688" y="3498850"/>
            <a:ext cx="4643437" cy="63023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a:latin typeface="Arial" pitchFamily="34" charset="0"/>
              </a:rPr>
              <a:t>Couches 5 à 7 du modèle OSI</a:t>
            </a:r>
          </a:p>
        </p:txBody>
      </p:sp>
      <p:sp>
        <p:nvSpPr>
          <p:cNvPr id="409636" name="Rectangle 36"/>
          <p:cNvSpPr>
            <a:spLocks noChangeArrowheads="1"/>
          </p:cNvSpPr>
          <p:nvPr/>
        </p:nvSpPr>
        <p:spPr bwMode="auto">
          <a:xfrm>
            <a:off x="500063" y="1071563"/>
            <a:ext cx="7858125" cy="197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spcBef>
                <a:spcPct val="20000"/>
              </a:spcBef>
              <a:spcAft>
                <a:spcPct val="30000"/>
              </a:spcAft>
              <a:buClr>
                <a:schemeClr val="hlink"/>
              </a:buClr>
              <a:buFont typeface="Wingdings" pitchFamily="2" charset="2"/>
              <a:buChar char="n"/>
            </a:pPr>
            <a:r>
              <a:rPr lang="fr-FR">
                <a:solidFill>
                  <a:srgbClr val="333333"/>
                </a:solidFill>
                <a:latin typeface="Arial" pitchFamily="34" charset="0"/>
              </a:rPr>
              <a:t>Le modèle TCP/IP est une norme ouverte Aucune entreprise ne contrôle la définition du modèle.</a:t>
            </a:r>
          </a:p>
          <a:p>
            <a:pPr marL="342900" indent="-342900">
              <a:spcBef>
                <a:spcPct val="20000"/>
              </a:spcBef>
              <a:spcAft>
                <a:spcPct val="30000"/>
              </a:spcAft>
              <a:buClr>
                <a:schemeClr val="hlink"/>
              </a:buClr>
              <a:buFont typeface="Wingdings" pitchFamily="2" charset="2"/>
              <a:buChar char="n"/>
            </a:pPr>
            <a:r>
              <a:rPr lang="fr-FR">
                <a:solidFill>
                  <a:srgbClr val="333333"/>
                </a:solidFill>
                <a:latin typeface="Arial" pitchFamily="34" charset="0"/>
              </a:rPr>
              <a:t> Dirigé par le groupe de travail IETF avec des normes proposées utilisant des RFCs.</a:t>
            </a:r>
          </a:p>
          <a:p>
            <a:pPr marL="342900" indent="-342900">
              <a:spcBef>
                <a:spcPct val="20000"/>
              </a:spcBef>
              <a:spcAft>
                <a:spcPct val="30000"/>
              </a:spcAft>
              <a:buClr>
                <a:schemeClr val="hlink"/>
              </a:buClr>
              <a:buFont typeface="Wingdings" pitchFamily="2" charset="2"/>
              <a:buChar char="n"/>
            </a:pPr>
            <a:r>
              <a:rPr lang="fr-FR" sz="2200">
                <a:solidFill>
                  <a:srgbClr val="333333"/>
                </a:solidFill>
                <a:latin typeface="Arial" pitchFamily="34" charset="0"/>
              </a:rPr>
              <a:t>Modèle en 4 couches</a:t>
            </a:r>
          </a:p>
        </p:txBody>
      </p:sp>
      <p:sp>
        <p:nvSpPr>
          <p:cNvPr id="19"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6">
                                            <p:txEl>
                                              <p:pRg st="0" end="0"/>
                                            </p:txEl>
                                          </p:spTgt>
                                        </p:tgtEl>
                                        <p:attrNameLst>
                                          <p:attrName>style.visibility</p:attrName>
                                        </p:attrNameLst>
                                      </p:cBhvr>
                                      <p:to>
                                        <p:strVal val="visible"/>
                                      </p:to>
                                    </p:set>
                                    <p:animEffect transition="in" filter="wipe(left)">
                                      <p:cBhvr>
                                        <p:cTn id="7" dur="500"/>
                                        <p:tgtEl>
                                          <p:spTgt spid="40963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36">
                                            <p:txEl>
                                              <p:pRg st="1" end="1"/>
                                            </p:txEl>
                                          </p:spTgt>
                                        </p:tgtEl>
                                        <p:attrNameLst>
                                          <p:attrName>style.visibility</p:attrName>
                                        </p:attrNameLst>
                                      </p:cBhvr>
                                      <p:to>
                                        <p:strVal val="visible"/>
                                      </p:to>
                                    </p:set>
                                    <p:animEffect transition="in" filter="wipe(left)">
                                      <p:cBhvr>
                                        <p:cTn id="12" dur="500"/>
                                        <p:tgtEl>
                                          <p:spTgt spid="40963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36">
                                            <p:txEl>
                                              <p:pRg st="2" end="2"/>
                                            </p:txEl>
                                          </p:spTgt>
                                        </p:tgtEl>
                                        <p:attrNameLst>
                                          <p:attrName>style.visibility</p:attrName>
                                        </p:attrNameLst>
                                      </p:cBhvr>
                                      <p:to>
                                        <p:strVal val="visible"/>
                                      </p:to>
                                    </p:set>
                                    <p:animEffect transition="in" filter="wipe(left)">
                                      <p:cBhvr>
                                        <p:cTn id="17" dur="500"/>
                                        <p:tgtEl>
                                          <p:spTgt spid="40963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09627"/>
                                        </p:tgtEl>
                                        <p:attrNameLst>
                                          <p:attrName>style.visibility</p:attrName>
                                        </p:attrNameLst>
                                      </p:cBhvr>
                                      <p:to>
                                        <p:strVal val="visible"/>
                                      </p:to>
                                    </p:set>
                                    <p:animEffect transition="in" filter="wipe(down)">
                                      <p:cBhvr>
                                        <p:cTn id="22" dur="500"/>
                                        <p:tgtEl>
                                          <p:spTgt spid="409627"/>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09631"/>
                                        </p:tgtEl>
                                        <p:attrNameLst>
                                          <p:attrName>style.visibility</p:attrName>
                                        </p:attrNameLst>
                                      </p:cBhvr>
                                      <p:to>
                                        <p:strVal val="visible"/>
                                      </p:to>
                                    </p:set>
                                    <p:animEffect transition="in" filter="wipe(left)">
                                      <p:cBhvr>
                                        <p:cTn id="26" dur="500"/>
                                        <p:tgtEl>
                                          <p:spTgt spid="409631"/>
                                        </p:tgtEl>
                                      </p:cBhvr>
                                    </p:animEffect>
                                  </p:childTnLst>
                                </p:cTn>
                              </p:par>
                            </p:childTnLst>
                          </p:cTn>
                        </p:par>
                        <p:par>
                          <p:cTn id="27" fill="hold" nodeType="after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409632"/>
                                        </p:tgtEl>
                                        <p:attrNameLst>
                                          <p:attrName>style.visibility</p:attrName>
                                        </p:attrNameLst>
                                      </p:cBhvr>
                                      <p:to>
                                        <p:strVal val="visible"/>
                                      </p:to>
                                    </p:set>
                                    <p:animEffect transition="in" filter="wipe(left)">
                                      <p:cBhvr>
                                        <p:cTn id="30" dur="500"/>
                                        <p:tgtEl>
                                          <p:spTgt spid="40963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409626"/>
                                        </p:tgtEl>
                                        <p:attrNameLst>
                                          <p:attrName>style.visibility</p:attrName>
                                        </p:attrNameLst>
                                      </p:cBhvr>
                                      <p:to>
                                        <p:strVal val="visible"/>
                                      </p:to>
                                    </p:set>
                                    <p:animEffect transition="in" filter="wipe(down)">
                                      <p:cBhvr>
                                        <p:cTn id="35" dur="500"/>
                                        <p:tgtEl>
                                          <p:spTgt spid="409626"/>
                                        </p:tgtEl>
                                      </p:cBhvr>
                                    </p:animEffect>
                                  </p:childTnLst>
                                </p:cTn>
                              </p:par>
                            </p:childTnLst>
                          </p:cTn>
                        </p:par>
                        <p:par>
                          <p:cTn id="36" fill="hold" nodeType="afterGroup">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409630"/>
                                        </p:tgtEl>
                                        <p:attrNameLst>
                                          <p:attrName>style.visibility</p:attrName>
                                        </p:attrNameLst>
                                      </p:cBhvr>
                                      <p:to>
                                        <p:strVal val="visible"/>
                                      </p:to>
                                    </p:set>
                                    <p:animEffect transition="in" filter="wipe(left)">
                                      <p:cBhvr>
                                        <p:cTn id="39" dur="500"/>
                                        <p:tgtEl>
                                          <p:spTgt spid="409630"/>
                                        </p:tgtEl>
                                      </p:cBhvr>
                                    </p:animEffect>
                                  </p:childTnLst>
                                </p:cTn>
                              </p:par>
                            </p:childTnLst>
                          </p:cTn>
                        </p:par>
                        <p:par>
                          <p:cTn id="40" fill="hold" nodeType="afterGroup">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409633"/>
                                        </p:tgtEl>
                                        <p:attrNameLst>
                                          <p:attrName>style.visibility</p:attrName>
                                        </p:attrNameLst>
                                      </p:cBhvr>
                                      <p:to>
                                        <p:strVal val="visible"/>
                                      </p:to>
                                    </p:set>
                                    <p:animEffect transition="in" filter="wipe(left)">
                                      <p:cBhvr>
                                        <p:cTn id="43" dur="500"/>
                                        <p:tgtEl>
                                          <p:spTgt spid="40963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409625"/>
                                        </p:tgtEl>
                                        <p:attrNameLst>
                                          <p:attrName>style.visibility</p:attrName>
                                        </p:attrNameLst>
                                      </p:cBhvr>
                                      <p:to>
                                        <p:strVal val="visible"/>
                                      </p:to>
                                    </p:set>
                                    <p:animEffect transition="in" filter="wipe(down)">
                                      <p:cBhvr>
                                        <p:cTn id="48" dur="500"/>
                                        <p:tgtEl>
                                          <p:spTgt spid="409625"/>
                                        </p:tgtEl>
                                      </p:cBhvr>
                                    </p:animEffect>
                                  </p:childTnLst>
                                </p:cTn>
                              </p:par>
                            </p:childTnLst>
                          </p:cTn>
                        </p:par>
                        <p:par>
                          <p:cTn id="49" fill="hold" nodeType="afterGroup">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409629"/>
                                        </p:tgtEl>
                                        <p:attrNameLst>
                                          <p:attrName>style.visibility</p:attrName>
                                        </p:attrNameLst>
                                      </p:cBhvr>
                                      <p:to>
                                        <p:strVal val="visible"/>
                                      </p:to>
                                    </p:set>
                                    <p:animEffect transition="in" filter="wipe(left)">
                                      <p:cBhvr>
                                        <p:cTn id="52" dur="500"/>
                                        <p:tgtEl>
                                          <p:spTgt spid="409629"/>
                                        </p:tgtEl>
                                      </p:cBhvr>
                                    </p:animEffect>
                                  </p:childTnLst>
                                </p:cTn>
                              </p:par>
                            </p:childTnLst>
                          </p:cTn>
                        </p:par>
                        <p:par>
                          <p:cTn id="53" fill="hold" nodeType="afterGroup">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409634"/>
                                        </p:tgtEl>
                                        <p:attrNameLst>
                                          <p:attrName>style.visibility</p:attrName>
                                        </p:attrNameLst>
                                      </p:cBhvr>
                                      <p:to>
                                        <p:strVal val="visible"/>
                                      </p:to>
                                    </p:set>
                                    <p:animEffect transition="in" filter="wipe(left)">
                                      <p:cBhvr>
                                        <p:cTn id="56" dur="500"/>
                                        <p:tgtEl>
                                          <p:spTgt spid="40963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409624"/>
                                        </p:tgtEl>
                                        <p:attrNameLst>
                                          <p:attrName>style.visibility</p:attrName>
                                        </p:attrNameLst>
                                      </p:cBhvr>
                                      <p:to>
                                        <p:strVal val="visible"/>
                                      </p:to>
                                    </p:set>
                                    <p:animEffect transition="in" filter="wipe(down)">
                                      <p:cBhvr>
                                        <p:cTn id="61" dur="500"/>
                                        <p:tgtEl>
                                          <p:spTgt spid="409624"/>
                                        </p:tgtEl>
                                      </p:cBhvr>
                                    </p:animEffect>
                                  </p:childTnLst>
                                </p:cTn>
                              </p:par>
                            </p:childTnLst>
                          </p:cTn>
                        </p:par>
                        <p:par>
                          <p:cTn id="62" fill="hold" nodeType="afterGroup">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409628"/>
                                        </p:tgtEl>
                                        <p:attrNameLst>
                                          <p:attrName>style.visibility</p:attrName>
                                        </p:attrNameLst>
                                      </p:cBhvr>
                                      <p:to>
                                        <p:strVal val="visible"/>
                                      </p:to>
                                    </p:set>
                                    <p:animEffect transition="in" filter="wipe(left)">
                                      <p:cBhvr>
                                        <p:cTn id="65" dur="500"/>
                                        <p:tgtEl>
                                          <p:spTgt spid="409628"/>
                                        </p:tgtEl>
                                      </p:cBhvr>
                                    </p:animEffect>
                                  </p:childTnLst>
                                </p:cTn>
                              </p:par>
                            </p:childTnLst>
                          </p:cTn>
                        </p:par>
                        <p:par>
                          <p:cTn id="66" fill="hold" nodeType="afterGroup">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409635"/>
                                        </p:tgtEl>
                                        <p:attrNameLst>
                                          <p:attrName>style.visibility</p:attrName>
                                        </p:attrNameLst>
                                      </p:cBhvr>
                                      <p:to>
                                        <p:strVal val="visible"/>
                                      </p:to>
                                    </p:set>
                                    <p:animEffect transition="in" filter="wipe(left)">
                                      <p:cBhvr>
                                        <p:cTn id="69" dur="500"/>
                                        <p:tgtEl>
                                          <p:spTgt spid="409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4" grpId="0" animBg="1" autoUpdateAnimBg="0"/>
      <p:bldP spid="409625" grpId="0" animBg="1" autoUpdateAnimBg="0"/>
      <p:bldP spid="409626" grpId="0" animBg="1" autoUpdateAnimBg="0"/>
      <p:bldP spid="409627" grpId="0" animBg="1" autoUpdateAnimBg="0"/>
      <p:bldP spid="409628" grpId="0" animBg="1" autoUpdateAnimBg="0"/>
      <p:bldP spid="409629" grpId="0" animBg="1" autoUpdateAnimBg="0"/>
      <p:bldP spid="409630" grpId="0" animBg="1" autoUpdateAnimBg="0"/>
      <p:bldP spid="409631" grpId="0" animBg="1" autoUpdateAnimBg="0"/>
      <p:bldP spid="409632" grpId="0" animBg="1" autoUpdateAnimBg="0"/>
      <p:bldP spid="409633" grpId="0" animBg="1" autoUpdateAnimBg="0"/>
      <p:bldP spid="409634" grpId="0" animBg="1" autoUpdateAnimBg="0"/>
      <p:bldP spid="409635" grpId="0" animBg="1" autoUpdateAnimBg="0"/>
      <p:bldP spid="409636" grpId="0"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Les couches du modèle TCP/IP</a:t>
            </a:r>
          </a:p>
        </p:txBody>
      </p:sp>
      <p:sp>
        <p:nvSpPr>
          <p:cNvPr id="409624" name="Text Box 24"/>
          <p:cNvSpPr txBox="1">
            <a:spLocks noChangeArrowheads="1"/>
          </p:cNvSpPr>
          <p:nvPr/>
        </p:nvSpPr>
        <p:spPr bwMode="gray">
          <a:xfrm>
            <a:off x="714375" y="1428750"/>
            <a:ext cx="762000" cy="1000125"/>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4</a:t>
            </a:r>
          </a:p>
        </p:txBody>
      </p:sp>
      <p:sp>
        <p:nvSpPr>
          <p:cNvPr id="409625" name="Text Box 25"/>
          <p:cNvSpPr txBox="1">
            <a:spLocks noChangeArrowheads="1"/>
          </p:cNvSpPr>
          <p:nvPr/>
        </p:nvSpPr>
        <p:spPr bwMode="gray">
          <a:xfrm>
            <a:off x="723900" y="2714625"/>
            <a:ext cx="762000" cy="92868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3</a:t>
            </a:r>
          </a:p>
        </p:txBody>
      </p:sp>
      <p:sp>
        <p:nvSpPr>
          <p:cNvPr id="409626" name="Text Box 26"/>
          <p:cNvSpPr txBox="1">
            <a:spLocks noChangeArrowheads="1"/>
          </p:cNvSpPr>
          <p:nvPr/>
        </p:nvSpPr>
        <p:spPr bwMode="gray">
          <a:xfrm>
            <a:off x="714375" y="3857625"/>
            <a:ext cx="762000" cy="92868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2</a:t>
            </a:r>
          </a:p>
        </p:txBody>
      </p:sp>
      <p:sp>
        <p:nvSpPr>
          <p:cNvPr id="409627" name="Text Box 27"/>
          <p:cNvSpPr txBox="1">
            <a:spLocks noChangeArrowheads="1"/>
          </p:cNvSpPr>
          <p:nvPr/>
        </p:nvSpPr>
        <p:spPr bwMode="gray">
          <a:xfrm>
            <a:off x="714375" y="5000625"/>
            <a:ext cx="762000" cy="92868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1</a:t>
            </a:r>
          </a:p>
        </p:txBody>
      </p:sp>
      <p:sp>
        <p:nvSpPr>
          <p:cNvPr id="409628" name="Text Box 28"/>
          <p:cNvSpPr txBox="1">
            <a:spLocks noChangeArrowheads="1"/>
          </p:cNvSpPr>
          <p:nvPr/>
        </p:nvSpPr>
        <p:spPr bwMode="auto">
          <a:xfrm>
            <a:off x="1562100" y="1428750"/>
            <a:ext cx="1971675" cy="1000125"/>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Application</a:t>
            </a:r>
          </a:p>
        </p:txBody>
      </p:sp>
      <p:sp>
        <p:nvSpPr>
          <p:cNvPr id="409629" name="Text Box 29"/>
          <p:cNvSpPr txBox="1">
            <a:spLocks noChangeArrowheads="1"/>
          </p:cNvSpPr>
          <p:nvPr/>
        </p:nvSpPr>
        <p:spPr bwMode="auto">
          <a:xfrm>
            <a:off x="1571625" y="2714625"/>
            <a:ext cx="1971675" cy="92868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Transport</a:t>
            </a:r>
          </a:p>
        </p:txBody>
      </p:sp>
      <p:sp>
        <p:nvSpPr>
          <p:cNvPr id="409630" name="Text Box 30"/>
          <p:cNvSpPr txBox="1">
            <a:spLocks noChangeArrowheads="1"/>
          </p:cNvSpPr>
          <p:nvPr/>
        </p:nvSpPr>
        <p:spPr bwMode="auto">
          <a:xfrm>
            <a:off x="1562100" y="3857625"/>
            <a:ext cx="1971675" cy="92868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Internet</a:t>
            </a:r>
          </a:p>
        </p:txBody>
      </p:sp>
      <p:sp>
        <p:nvSpPr>
          <p:cNvPr id="409631" name="Text Box 31"/>
          <p:cNvSpPr txBox="1">
            <a:spLocks noChangeArrowheads="1"/>
          </p:cNvSpPr>
          <p:nvPr/>
        </p:nvSpPr>
        <p:spPr bwMode="auto">
          <a:xfrm>
            <a:off x="1562100" y="5000625"/>
            <a:ext cx="1971675" cy="92868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Accès Réseau</a:t>
            </a:r>
          </a:p>
        </p:txBody>
      </p:sp>
      <p:sp>
        <p:nvSpPr>
          <p:cNvPr id="409632" name="Text Box 32"/>
          <p:cNvSpPr txBox="1">
            <a:spLocks noChangeArrowheads="1"/>
          </p:cNvSpPr>
          <p:nvPr/>
        </p:nvSpPr>
        <p:spPr bwMode="auto">
          <a:xfrm>
            <a:off x="3619500" y="5000625"/>
            <a:ext cx="4943475" cy="92868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just">
              <a:buClrTx/>
              <a:buFontTx/>
              <a:buNone/>
            </a:pPr>
            <a:r>
              <a:rPr lang="fr-FR">
                <a:latin typeface="Arial" pitchFamily="34" charset="0"/>
              </a:rPr>
              <a:t>Contrôle les périphérique matériels et les supports qui constituent le réseau</a:t>
            </a:r>
          </a:p>
        </p:txBody>
      </p:sp>
      <p:sp>
        <p:nvSpPr>
          <p:cNvPr id="409633" name="Text Box 33"/>
          <p:cNvSpPr txBox="1">
            <a:spLocks noChangeArrowheads="1"/>
          </p:cNvSpPr>
          <p:nvPr/>
        </p:nvSpPr>
        <p:spPr bwMode="auto">
          <a:xfrm>
            <a:off x="3619500" y="3857625"/>
            <a:ext cx="4943475" cy="92868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just">
              <a:buClrTx/>
              <a:buFontTx/>
              <a:buNone/>
            </a:pPr>
            <a:r>
              <a:rPr lang="fr-FR">
                <a:latin typeface="Arial" pitchFamily="34" charset="0"/>
              </a:rPr>
              <a:t>Détermine le meilleur chemin à travers le réseau</a:t>
            </a:r>
          </a:p>
        </p:txBody>
      </p:sp>
      <p:sp>
        <p:nvSpPr>
          <p:cNvPr id="409634" name="Text Box 34"/>
          <p:cNvSpPr txBox="1">
            <a:spLocks noChangeArrowheads="1"/>
          </p:cNvSpPr>
          <p:nvPr/>
        </p:nvSpPr>
        <p:spPr bwMode="auto">
          <a:xfrm>
            <a:off x="3629025" y="2714625"/>
            <a:ext cx="4943475" cy="92868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just">
              <a:buClrTx/>
              <a:buFontTx/>
              <a:buNone/>
            </a:pPr>
            <a:r>
              <a:rPr lang="fr-FR">
                <a:latin typeface="Arial" pitchFamily="34" charset="0"/>
              </a:rPr>
              <a:t>Prend en charge l communication entre différents périphériques à travers divers réseaux</a:t>
            </a:r>
          </a:p>
        </p:txBody>
      </p:sp>
      <p:sp>
        <p:nvSpPr>
          <p:cNvPr id="409635" name="Text Box 35"/>
          <p:cNvSpPr txBox="1">
            <a:spLocks noChangeArrowheads="1"/>
          </p:cNvSpPr>
          <p:nvPr/>
        </p:nvSpPr>
        <p:spPr bwMode="auto">
          <a:xfrm>
            <a:off x="3619500" y="1428750"/>
            <a:ext cx="4943475" cy="1000125"/>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just">
              <a:buClrTx/>
              <a:buFontTx/>
              <a:buNone/>
            </a:pPr>
            <a:r>
              <a:rPr lang="fr-FR">
                <a:latin typeface="Arial" pitchFamily="34" charset="0"/>
              </a:rPr>
              <a:t>Représentation des données pour l’utilisateurs, ainsi que du codage et contrôle du dialogue</a:t>
            </a:r>
          </a:p>
        </p:txBody>
      </p:sp>
      <p:sp>
        <p:nvSpPr>
          <p:cNvPr id="17"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9627"/>
                                        </p:tgtEl>
                                        <p:attrNameLst>
                                          <p:attrName>style.visibility</p:attrName>
                                        </p:attrNameLst>
                                      </p:cBhvr>
                                      <p:to>
                                        <p:strVal val="visible"/>
                                      </p:to>
                                    </p:set>
                                    <p:animEffect transition="in" filter="wipe(down)">
                                      <p:cBhvr>
                                        <p:cTn id="7" dur="500"/>
                                        <p:tgtEl>
                                          <p:spTgt spid="409627"/>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9631"/>
                                        </p:tgtEl>
                                        <p:attrNameLst>
                                          <p:attrName>style.visibility</p:attrName>
                                        </p:attrNameLst>
                                      </p:cBhvr>
                                      <p:to>
                                        <p:strVal val="visible"/>
                                      </p:to>
                                    </p:set>
                                    <p:animEffect transition="in" filter="wipe(left)">
                                      <p:cBhvr>
                                        <p:cTn id="11" dur="500"/>
                                        <p:tgtEl>
                                          <p:spTgt spid="409631"/>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09632"/>
                                        </p:tgtEl>
                                        <p:attrNameLst>
                                          <p:attrName>style.visibility</p:attrName>
                                        </p:attrNameLst>
                                      </p:cBhvr>
                                      <p:to>
                                        <p:strVal val="visible"/>
                                      </p:to>
                                    </p:set>
                                    <p:animEffect transition="in" filter="wipe(left)">
                                      <p:cBhvr>
                                        <p:cTn id="15" dur="500"/>
                                        <p:tgtEl>
                                          <p:spTgt spid="40963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09626"/>
                                        </p:tgtEl>
                                        <p:attrNameLst>
                                          <p:attrName>style.visibility</p:attrName>
                                        </p:attrNameLst>
                                      </p:cBhvr>
                                      <p:to>
                                        <p:strVal val="visible"/>
                                      </p:to>
                                    </p:set>
                                    <p:animEffect transition="in" filter="wipe(down)">
                                      <p:cBhvr>
                                        <p:cTn id="20" dur="500"/>
                                        <p:tgtEl>
                                          <p:spTgt spid="409626"/>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09630"/>
                                        </p:tgtEl>
                                        <p:attrNameLst>
                                          <p:attrName>style.visibility</p:attrName>
                                        </p:attrNameLst>
                                      </p:cBhvr>
                                      <p:to>
                                        <p:strVal val="visible"/>
                                      </p:to>
                                    </p:set>
                                    <p:animEffect transition="in" filter="wipe(left)">
                                      <p:cBhvr>
                                        <p:cTn id="24" dur="500"/>
                                        <p:tgtEl>
                                          <p:spTgt spid="409630"/>
                                        </p:tgtEl>
                                      </p:cBhvr>
                                    </p:animEffect>
                                  </p:childTnLst>
                                </p:cTn>
                              </p:par>
                            </p:childTnLst>
                          </p:cTn>
                        </p:par>
                        <p:par>
                          <p:cTn id="25" fill="hold" nodeType="afterGroup">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409633"/>
                                        </p:tgtEl>
                                        <p:attrNameLst>
                                          <p:attrName>style.visibility</p:attrName>
                                        </p:attrNameLst>
                                      </p:cBhvr>
                                      <p:to>
                                        <p:strVal val="visible"/>
                                      </p:to>
                                    </p:set>
                                    <p:animEffect transition="in" filter="wipe(left)">
                                      <p:cBhvr>
                                        <p:cTn id="28" dur="500"/>
                                        <p:tgtEl>
                                          <p:spTgt spid="40963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409625"/>
                                        </p:tgtEl>
                                        <p:attrNameLst>
                                          <p:attrName>style.visibility</p:attrName>
                                        </p:attrNameLst>
                                      </p:cBhvr>
                                      <p:to>
                                        <p:strVal val="visible"/>
                                      </p:to>
                                    </p:set>
                                    <p:animEffect transition="in" filter="wipe(down)">
                                      <p:cBhvr>
                                        <p:cTn id="33" dur="500"/>
                                        <p:tgtEl>
                                          <p:spTgt spid="409625"/>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409629"/>
                                        </p:tgtEl>
                                        <p:attrNameLst>
                                          <p:attrName>style.visibility</p:attrName>
                                        </p:attrNameLst>
                                      </p:cBhvr>
                                      <p:to>
                                        <p:strVal val="visible"/>
                                      </p:to>
                                    </p:set>
                                    <p:animEffect transition="in" filter="wipe(left)">
                                      <p:cBhvr>
                                        <p:cTn id="37" dur="500"/>
                                        <p:tgtEl>
                                          <p:spTgt spid="409629"/>
                                        </p:tgtEl>
                                      </p:cBhvr>
                                    </p:animEffect>
                                  </p:childTnLst>
                                </p:cTn>
                              </p:par>
                            </p:childTnLst>
                          </p:cTn>
                        </p:par>
                        <p:par>
                          <p:cTn id="38" fill="hold" nodeType="afterGroup">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409634"/>
                                        </p:tgtEl>
                                        <p:attrNameLst>
                                          <p:attrName>style.visibility</p:attrName>
                                        </p:attrNameLst>
                                      </p:cBhvr>
                                      <p:to>
                                        <p:strVal val="visible"/>
                                      </p:to>
                                    </p:set>
                                    <p:animEffect transition="in" filter="wipe(left)">
                                      <p:cBhvr>
                                        <p:cTn id="41" dur="500"/>
                                        <p:tgtEl>
                                          <p:spTgt spid="40963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409624"/>
                                        </p:tgtEl>
                                        <p:attrNameLst>
                                          <p:attrName>style.visibility</p:attrName>
                                        </p:attrNameLst>
                                      </p:cBhvr>
                                      <p:to>
                                        <p:strVal val="visible"/>
                                      </p:to>
                                    </p:set>
                                    <p:animEffect transition="in" filter="wipe(down)">
                                      <p:cBhvr>
                                        <p:cTn id="46" dur="500"/>
                                        <p:tgtEl>
                                          <p:spTgt spid="409624"/>
                                        </p:tgtEl>
                                      </p:cBhvr>
                                    </p:animEffect>
                                  </p:childTnLst>
                                </p:cTn>
                              </p:par>
                            </p:childTnLst>
                          </p:cTn>
                        </p:par>
                        <p:par>
                          <p:cTn id="47" fill="hold" nodeType="afterGroup">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409628"/>
                                        </p:tgtEl>
                                        <p:attrNameLst>
                                          <p:attrName>style.visibility</p:attrName>
                                        </p:attrNameLst>
                                      </p:cBhvr>
                                      <p:to>
                                        <p:strVal val="visible"/>
                                      </p:to>
                                    </p:set>
                                    <p:animEffect transition="in" filter="wipe(left)">
                                      <p:cBhvr>
                                        <p:cTn id="50" dur="500"/>
                                        <p:tgtEl>
                                          <p:spTgt spid="409628"/>
                                        </p:tgtEl>
                                      </p:cBhvr>
                                    </p:animEffect>
                                  </p:childTnLst>
                                </p:cTn>
                              </p:par>
                            </p:childTnLst>
                          </p:cTn>
                        </p:par>
                        <p:par>
                          <p:cTn id="51" fill="hold" nodeType="afterGroup">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409635"/>
                                        </p:tgtEl>
                                        <p:attrNameLst>
                                          <p:attrName>style.visibility</p:attrName>
                                        </p:attrNameLst>
                                      </p:cBhvr>
                                      <p:to>
                                        <p:strVal val="visible"/>
                                      </p:to>
                                    </p:set>
                                    <p:animEffect transition="in" filter="wipe(left)">
                                      <p:cBhvr>
                                        <p:cTn id="54" dur="500"/>
                                        <p:tgtEl>
                                          <p:spTgt spid="409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4" grpId="0" animBg="1" autoUpdateAnimBg="0"/>
      <p:bldP spid="409625" grpId="0" animBg="1" autoUpdateAnimBg="0"/>
      <p:bldP spid="409626" grpId="0" animBg="1" autoUpdateAnimBg="0"/>
      <p:bldP spid="409627" grpId="0" animBg="1" autoUpdateAnimBg="0"/>
      <p:bldP spid="409628" grpId="0" animBg="1" autoUpdateAnimBg="0"/>
      <p:bldP spid="409629" grpId="0" animBg="1" autoUpdateAnimBg="0"/>
      <p:bldP spid="409630" grpId="0" animBg="1" autoUpdateAnimBg="0"/>
      <p:bldP spid="409631" grpId="0" animBg="1" autoUpdateAnimBg="0"/>
      <p:bldP spid="409632" grpId="0" animBg="1" autoUpdateAnimBg="0"/>
      <p:bldP spid="409633" grpId="0" animBg="1" autoUpdateAnimBg="0"/>
      <p:bldP spid="409634" grpId="0" animBg="1" autoUpdateAnimBg="0"/>
      <p:bldP spid="409635"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Comparaison avec le modèles OSI</a:t>
            </a:r>
          </a:p>
        </p:txBody>
      </p:sp>
      <p:sp>
        <p:nvSpPr>
          <p:cNvPr id="412752" name="Line 80"/>
          <p:cNvSpPr>
            <a:spLocks noChangeShapeType="1"/>
          </p:cNvSpPr>
          <p:nvPr/>
        </p:nvSpPr>
        <p:spPr bwMode="auto">
          <a:xfrm>
            <a:off x="4268788" y="2422525"/>
            <a:ext cx="1223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sp>
        <p:nvSpPr>
          <p:cNvPr id="412753" name="Line 81"/>
          <p:cNvSpPr>
            <a:spLocks noChangeShapeType="1"/>
          </p:cNvSpPr>
          <p:nvPr/>
        </p:nvSpPr>
        <p:spPr bwMode="auto">
          <a:xfrm>
            <a:off x="4268788" y="4078288"/>
            <a:ext cx="1223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sp>
        <p:nvSpPr>
          <p:cNvPr id="412754" name="Line 82"/>
          <p:cNvSpPr>
            <a:spLocks noChangeShapeType="1"/>
          </p:cNvSpPr>
          <p:nvPr/>
        </p:nvSpPr>
        <p:spPr bwMode="auto">
          <a:xfrm>
            <a:off x="4268788" y="4654550"/>
            <a:ext cx="1223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sp>
        <p:nvSpPr>
          <p:cNvPr id="412755" name="Line 83"/>
          <p:cNvSpPr>
            <a:spLocks noChangeShapeType="1"/>
          </p:cNvSpPr>
          <p:nvPr/>
        </p:nvSpPr>
        <p:spPr bwMode="auto">
          <a:xfrm>
            <a:off x="4268788" y="5230813"/>
            <a:ext cx="1223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sp>
        <p:nvSpPr>
          <p:cNvPr id="412756" name="Line 84"/>
          <p:cNvSpPr>
            <a:spLocks noChangeShapeType="1"/>
          </p:cNvSpPr>
          <p:nvPr/>
        </p:nvSpPr>
        <p:spPr bwMode="auto">
          <a:xfrm>
            <a:off x="4268788" y="6381750"/>
            <a:ext cx="1223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fr-FR"/>
          </a:p>
        </p:txBody>
      </p:sp>
      <p:grpSp>
        <p:nvGrpSpPr>
          <p:cNvPr id="2" name="Group 93"/>
          <p:cNvGrpSpPr>
            <a:grpSpLocks/>
          </p:cNvGrpSpPr>
          <p:nvPr/>
        </p:nvGrpSpPr>
        <p:grpSpPr bwMode="auto">
          <a:xfrm>
            <a:off x="1187450" y="1123950"/>
            <a:ext cx="2973388" cy="5257800"/>
            <a:chOff x="748" y="708"/>
            <a:chExt cx="1873" cy="3312"/>
          </a:xfrm>
        </p:grpSpPr>
        <p:sp>
          <p:nvSpPr>
            <p:cNvPr id="74774" name="Text Box 31"/>
            <p:cNvSpPr txBox="1">
              <a:spLocks noChangeArrowheads="1"/>
            </p:cNvSpPr>
            <p:nvPr/>
          </p:nvSpPr>
          <p:spPr bwMode="gray">
            <a:xfrm>
              <a:off x="845" y="2615"/>
              <a:ext cx="480" cy="31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4</a:t>
              </a:r>
            </a:p>
          </p:txBody>
        </p:sp>
        <p:sp>
          <p:nvSpPr>
            <p:cNvPr id="74775" name="Text Box 32"/>
            <p:cNvSpPr txBox="1">
              <a:spLocks noChangeArrowheads="1"/>
            </p:cNvSpPr>
            <p:nvPr/>
          </p:nvSpPr>
          <p:spPr bwMode="gray">
            <a:xfrm>
              <a:off x="845" y="2977"/>
              <a:ext cx="480" cy="31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3</a:t>
              </a:r>
            </a:p>
          </p:txBody>
        </p:sp>
        <p:sp>
          <p:nvSpPr>
            <p:cNvPr id="74776" name="Text Box 33"/>
            <p:cNvSpPr txBox="1">
              <a:spLocks noChangeArrowheads="1"/>
            </p:cNvSpPr>
            <p:nvPr/>
          </p:nvSpPr>
          <p:spPr bwMode="gray">
            <a:xfrm>
              <a:off x="845" y="3347"/>
              <a:ext cx="480" cy="310"/>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2</a:t>
              </a:r>
            </a:p>
          </p:txBody>
        </p:sp>
        <p:sp>
          <p:nvSpPr>
            <p:cNvPr id="74777" name="Text Box 34"/>
            <p:cNvSpPr txBox="1">
              <a:spLocks noChangeArrowheads="1"/>
            </p:cNvSpPr>
            <p:nvPr/>
          </p:nvSpPr>
          <p:spPr bwMode="gray">
            <a:xfrm>
              <a:off x="845" y="3720"/>
              <a:ext cx="480" cy="300"/>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1</a:t>
              </a:r>
            </a:p>
          </p:txBody>
        </p:sp>
        <p:sp>
          <p:nvSpPr>
            <p:cNvPr id="74778" name="Text Box 35"/>
            <p:cNvSpPr txBox="1">
              <a:spLocks noChangeArrowheads="1"/>
            </p:cNvSpPr>
            <p:nvPr/>
          </p:nvSpPr>
          <p:spPr bwMode="auto">
            <a:xfrm>
              <a:off x="1373" y="2615"/>
              <a:ext cx="1248" cy="31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Transport</a:t>
              </a:r>
            </a:p>
          </p:txBody>
        </p:sp>
        <p:sp>
          <p:nvSpPr>
            <p:cNvPr id="74779" name="Text Box 36"/>
            <p:cNvSpPr txBox="1">
              <a:spLocks noChangeArrowheads="1"/>
            </p:cNvSpPr>
            <p:nvPr/>
          </p:nvSpPr>
          <p:spPr bwMode="auto">
            <a:xfrm>
              <a:off x="1373" y="2977"/>
              <a:ext cx="1248" cy="31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Réseau</a:t>
              </a:r>
            </a:p>
          </p:txBody>
        </p:sp>
        <p:sp>
          <p:nvSpPr>
            <p:cNvPr id="74780" name="Text Box 37"/>
            <p:cNvSpPr txBox="1">
              <a:spLocks noChangeArrowheads="1"/>
            </p:cNvSpPr>
            <p:nvPr/>
          </p:nvSpPr>
          <p:spPr bwMode="auto">
            <a:xfrm>
              <a:off x="1373" y="3347"/>
              <a:ext cx="1248" cy="310"/>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1600" b="1">
                  <a:latin typeface="Arial" pitchFamily="34" charset="0"/>
                </a:rPr>
                <a:t>Liaison de données</a:t>
              </a:r>
            </a:p>
          </p:txBody>
        </p:sp>
        <p:sp>
          <p:nvSpPr>
            <p:cNvPr id="74781" name="Text Box 38"/>
            <p:cNvSpPr txBox="1">
              <a:spLocks noChangeArrowheads="1"/>
            </p:cNvSpPr>
            <p:nvPr/>
          </p:nvSpPr>
          <p:spPr bwMode="auto">
            <a:xfrm>
              <a:off x="1373" y="3720"/>
              <a:ext cx="1248" cy="300"/>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Physique</a:t>
              </a:r>
            </a:p>
          </p:txBody>
        </p:sp>
        <p:sp>
          <p:nvSpPr>
            <p:cNvPr id="74782" name="Text Box 39"/>
            <p:cNvSpPr txBox="1">
              <a:spLocks noChangeArrowheads="1"/>
            </p:cNvSpPr>
            <p:nvPr/>
          </p:nvSpPr>
          <p:spPr bwMode="gray">
            <a:xfrm>
              <a:off x="839" y="2253"/>
              <a:ext cx="480" cy="316"/>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5</a:t>
              </a:r>
            </a:p>
          </p:txBody>
        </p:sp>
        <p:sp>
          <p:nvSpPr>
            <p:cNvPr id="74783" name="Text Box 40"/>
            <p:cNvSpPr txBox="1">
              <a:spLocks noChangeArrowheads="1"/>
            </p:cNvSpPr>
            <p:nvPr/>
          </p:nvSpPr>
          <p:spPr bwMode="auto">
            <a:xfrm>
              <a:off x="1373" y="2253"/>
              <a:ext cx="1242" cy="316"/>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Session</a:t>
              </a:r>
            </a:p>
          </p:txBody>
        </p:sp>
        <p:sp>
          <p:nvSpPr>
            <p:cNvPr id="74784" name="Text Box 41"/>
            <p:cNvSpPr txBox="1">
              <a:spLocks noChangeArrowheads="1"/>
            </p:cNvSpPr>
            <p:nvPr/>
          </p:nvSpPr>
          <p:spPr bwMode="gray">
            <a:xfrm>
              <a:off x="839" y="1890"/>
              <a:ext cx="480" cy="316"/>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6</a:t>
              </a:r>
            </a:p>
          </p:txBody>
        </p:sp>
        <p:sp>
          <p:nvSpPr>
            <p:cNvPr id="74785" name="Text Box 42"/>
            <p:cNvSpPr txBox="1">
              <a:spLocks noChangeArrowheads="1"/>
            </p:cNvSpPr>
            <p:nvPr/>
          </p:nvSpPr>
          <p:spPr bwMode="auto">
            <a:xfrm>
              <a:off x="1373" y="1890"/>
              <a:ext cx="1242" cy="316"/>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Présentation</a:t>
              </a:r>
            </a:p>
          </p:txBody>
        </p:sp>
        <p:sp>
          <p:nvSpPr>
            <p:cNvPr id="74786" name="Text Box 43"/>
            <p:cNvSpPr txBox="1">
              <a:spLocks noChangeArrowheads="1"/>
            </p:cNvSpPr>
            <p:nvPr/>
          </p:nvSpPr>
          <p:spPr bwMode="gray">
            <a:xfrm>
              <a:off x="839" y="1526"/>
              <a:ext cx="480" cy="31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7</a:t>
              </a:r>
            </a:p>
          </p:txBody>
        </p:sp>
        <p:sp>
          <p:nvSpPr>
            <p:cNvPr id="74787" name="Text Box 44"/>
            <p:cNvSpPr txBox="1">
              <a:spLocks noChangeArrowheads="1"/>
            </p:cNvSpPr>
            <p:nvPr/>
          </p:nvSpPr>
          <p:spPr bwMode="auto">
            <a:xfrm>
              <a:off x="1373" y="1526"/>
              <a:ext cx="1242" cy="31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Application</a:t>
              </a:r>
            </a:p>
          </p:txBody>
        </p:sp>
        <p:pic>
          <p:nvPicPr>
            <p:cNvPr id="74788" name="Picture 85" descr="Icon 1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 y="708"/>
              <a:ext cx="862" cy="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89" name="Rectangle 86"/>
            <p:cNvSpPr>
              <a:spLocks noChangeArrowheads="1"/>
            </p:cNvSpPr>
            <p:nvPr/>
          </p:nvSpPr>
          <p:spPr bwMode="auto">
            <a:xfrm>
              <a:off x="1565" y="1133"/>
              <a:ext cx="10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p>
              <a:r>
                <a:rPr lang="fr-FR" sz="1800" b="1"/>
                <a:t>Modèle OSI</a:t>
              </a:r>
            </a:p>
          </p:txBody>
        </p:sp>
      </p:grpSp>
      <p:grpSp>
        <p:nvGrpSpPr>
          <p:cNvPr id="3" name="Group 94"/>
          <p:cNvGrpSpPr>
            <a:grpSpLocks/>
          </p:cNvGrpSpPr>
          <p:nvPr/>
        </p:nvGrpSpPr>
        <p:grpSpPr bwMode="auto">
          <a:xfrm>
            <a:off x="5291138" y="1123950"/>
            <a:ext cx="3313112" cy="5257800"/>
            <a:chOff x="3333" y="708"/>
            <a:chExt cx="2087" cy="3312"/>
          </a:xfrm>
        </p:grpSpPr>
        <p:sp>
          <p:nvSpPr>
            <p:cNvPr id="74764" name="Text Box 63"/>
            <p:cNvSpPr txBox="1">
              <a:spLocks noChangeArrowheads="1"/>
            </p:cNvSpPr>
            <p:nvPr/>
          </p:nvSpPr>
          <p:spPr bwMode="auto">
            <a:xfrm>
              <a:off x="3534" y="2615"/>
              <a:ext cx="1248" cy="317"/>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Transport</a:t>
              </a:r>
            </a:p>
          </p:txBody>
        </p:sp>
        <p:sp>
          <p:nvSpPr>
            <p:cNvPr id="74765" name="Text Box 64"/>
            <p:cNvSpPr txBox="1">
              <a:spLocks noChangeArrowheads="1"/>
            </p:cNvSpPr>
            <p:nvPr/>
          </p:nvSpPr>
          <p:spPr bwMode="auto">
            <a:xfrm>
              <a:off x="3534" y="2977"/>
              <a:ext cx="1248" cy="318"/>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Internet</a:t>
              </a:r>
            </a:p>
          </p:txBody>
        </p:sp>
        <p:sp>
          <p:nvSpPr>
            <p:cNvPr id="74766" name="Text Box 65"/>
            <p:cNvSpPr txBox="1">
              <a:spLocks noChangeArrowheads="1"/>
            </p:cNvSpPr>
            <p:nvPr/>
          </p:nvSpPr>
          <p:spPr bwMode="auto">
            <a:xfrm>
              <a:off x="3534" y="3347"/>
              <a:ext cx="1248" cy="6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Accès Réseau</a:t>
              </a:r>
            </a:p>
          </p:txBody>
        </p:sp>
        <p:sp>
          <p:nvSpPr>
            <p:cNvPr id="74767" name="Text Box 68"/>
            <p:cNvSpPr txBox="1">
              <a:spLocks noChangeArrowheads="1"/>
            </p:cNvSpPr>
            <p:nvPr/>
          </p:nvSpPr>
          <p:spPr bwMode="auto">
            <a:xfrm>
              <a:off x="3534" y="1526"/>
              <a:ext cx="1242" cy="104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b="1">
                  <a:latin typeface="Arial" pitchFamily="34" charset="0"/>
                </a:rPr>
                <a:t>Application</a:t>
              </a:r>
            </a:p>
          </p:txBody>
        </p:sp>
        <p:sp>
          <p:nvSpPr>
            <p:cNvPr id="74768" name="Text Box 73"/>
            <p:cNvSpPr txBox="1">
              <a:spLocks noChangeArrowheads="1"/>
            </p:cNvSpPr>
            <p:nvPr/>
          </p:nvSpPr>
          <p:spPr bwMode="gray">
            <a:xfrm>
              <a:off x="4840" y="2615"/>
              <a:ext cx="480" cy="317"/>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3</a:t>
              </a:r>
            </a:p>
          </p:txBody>
        </p:sp>
        <p:sp>
          <p:nvSpPr>
            <p:cNvPr id="74769" name="Text Box 74"/>
            <p:cNvSpPr txBox="1">
              <a:spLocks noChangeArrowheads="1"/>
            </p:cNvSpPr>
            <p:nvPr/>
          </p:nvSpPr>
          <p:spPr bwMode="gray">
            <a:xfrm>
              <a:off x="4840" y="2977"/>
              <a:ext cx="480" cy="31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2</a:t>
              </a:r>
            </a:p>
          </p:txBody>
        </p:sp>
        <p:sp>
          <p:nvSpPr>
            <p:cNvPr id="74770" name="Text Box 75"/>
            <p:cNvSpPr txBox="1">
              <a:spLocks noChangeArrowheads="1"/>
            </p:cNvSpPr>
            <p:nvPr/>
          </p:nvSpPr>
          <p:spPr bwMode="gray">
            <a:xfrm>
              <a:off x="4840" y="3347"/>
              <a:ext cx="480" cy="673"/>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1</a:t>
              </a:r>
            </a:p>
          </p:txBody>
        </p:sp>
        <p:sp>
          <p:nvSpPr>
            <p:cNvPr id="74771" name="Text Box 79"/>
            <p:cNvSpPr txBox="1">
              <a:spLocks noChangeArrowheads="1"/>
            </p:cNvSpPr>
            <p:nvPr/>
          </p:nvSpPr>
          <p:spPr bwMode="gray">
            <a:xfrm>
              <a:off x="4834" y="1526"/>
              <a:ext cx="480" cy="1043"/>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ctr">
                <a:buClrTx/>
                <a:buFontTx/>
                <a:buNone/>
              </a:pPr>
              <a:r>
                <a:rPr lang="fr-FR" sz="3600" b="1">
                  <a:solidFill>
                    <a:srgbClr val="FFFFFF"/>
                  </a:solidFill>
                  <a:latin typeface="Arial" pitchFamily="34" charset="0"/>
                </a:rPr>
                <a:t>4</a:t>
              </a:r>
            </a:p>
          </p:txBody>
        </p:sp>
        <p:pic>
          <p:nvPicPr>
            <p:cNvPr id="74772" name="Picture 87" descr="Icon 1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558" y="708"/>
              <a:ext cx="862" cy="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73" name="Rectangle 88"/>
            <p:cNvSpPr>
              <a:spLocks noChangeArrowheads="1"/>
            </p:cNvSpPr>
            <p:nvPr/>
          </p:nvSpPr>
          <p:spPr bwMode="auto">
            <a:xfrm>
              <a:off x="3333" y="1117"/>
              <a:ext cx="13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p>
              <a:r>
                <a:rPr lang="fr-FR" sz="1800" b="1"/>
                <a:t>Modèle TCP/IP</a:t>
              </a:r>
            </a:p>
          </p:txBody>
        </p:sp>
      </p:grpSp>
      <p:sp>
        <p:nvSpPr>
          <p:cNvPr id="39"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2754"/>
                                        </p:tgtEl>
                                        <p:attrNameLst>
                                          <p:attrName>style.visibility</p:attrName>
                                        </p:attrNameLst>
                                      </p:cBhvr>
                                      <p:to>
                                        <p:strVal val="visible"/>
                                      </p:to>
                                    </p:set>
                                    <p:animEffect transition="in" filter="wipe(left)">
                                      <p:cBhvr>
                                        <p:cTn id="12" dur="500"/>
                                        <p:tgtEl>
                                          <p:spTgt spid="41275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12753"/>
                                        </p:tgtEl>
                                        <p:attrNameLst>
                                          <p:attrName>style.visibility</p:attrName>
                                        </p:attrNameLst>
                                      </p:cBhvr>
                                      <p:to>
                                        <p:strVal val="visible"/>
                                      </p:to>
                                    </p:set>
                                    <p:animEffect transition="in" filter="wipe(left)">
                                      <p:cBhvr>
                                        <p:cTn id="15" dur="500"/>
                                        <p:tgtEl>
                                          <p:spTgt spid="41275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12752"/>
                                        </p:tgtEl>
                                        <p:attrNameLst>
                                          <p:attrName>style.visibility</p:attrName>
                                        </p:attrNameLst>
                                      </p:cBhvr>
                                      <p:to>
                                        <p:strVal val="visible"/>
                                      </p:to>
                                    </p:set>
                                    <p:animEffect transition="in" filter="wipe(left)">
                                      <p:cBhvr>
                                        <p:cTn id="18" dur="500"/>
                                        <p:tgtEl>
                                          <p:spTgt spid="41275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12755"/>
                                        </p:tgtEl>
                                        <p:attrNameLst>
                                          <p:attrName>style.visibility</p:attrName>
                                        </p:attrNameLst>
                                      </p:cBhvr>
                                      <p:to>
                                        <p:strVal val="visible"/>
                                      </p:to>
                                    </p:set>
                                    <p:animEffect transition="in" filter="wipe(left)">
                                      <p:cBhvr>
                                        <p:cTn id="21" dur="500"/>
                                        <p:tgtEl>
                                          <p:spTgt spid="41275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12756"/>
                                        </p:tgtEl>
                                        <p:attrNameLst>
                                          <p:attrName>style.visibility</p:attrName>
                                        </p:attrNameLst>
                                      </p:cBhvr>
                                      <p:to>
                                        <p:strVal val="visible"/>
                                      </p:to>
                                    </p:set>
                                    <p:animEffect transition="in" filter="wipe(left)">
                                      <p:cBhvr>
                                        <p:cTn id="24" dur="500"/>
                                        <p:tgtEl>
                                          <p:spTgt spid="41275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752" grpId="0" animBg="1"/>
      <p:bldP spid="412753" grpId="0" animBg="1"/>
      <p:bldP spid="412754" grpId="0" animBg="1"/>
      <p:bldP spid="412755" grpId="0" animBg="1"/>
      <p:bldP spid="4127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Comparaison avec le modèles OSI</a:t>
            </a:r>
          </a:p>
        </p:txBody>
      </p:sp>
      <p:sp>
        <p:nvSpPr>
          <p:cNvPr id="38" name="Rectangle 8"/>
          <p:cNvSpPr>
            <a:spLocks noChangeArrowheads="1"/>
          </p:cNvSpPr>
          <p:nvPr/>
        </p:nvSpPr>
        <p:spPr bwMode="auto">
          <a:xfrm>
            <a:off x="500063" y="928688"/>
            <a:ext cx="7705725"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spcBef>
                <a:spcPct val="20000"/>
              </a:spcBef>
              <a:spcAft>
                <a:spcPct val="30000"/>
              </a:spcAft>
              <a:buClr>
                <a:schemeClr val="hlink"/>
              </a:buClr>
              <a:buFont typeface="Wingdings" pitchFamily="2" charset="2"/>
              <a:buChar char="n"/>
            </a:pPr>
            <a:r>
              <a:rPr lang="fr-FR" sz="2200" b="1">
                <a:solidFill>
                  <a:srgbClr val="0070C0"/>
                </a:solidFill>
                <a:latin typeface="Arial" pitchFamily="34" charset="0"/>
              </a:rPr>
              <a:t>Point commun</a:t>
            </a:r>
          </a:p>
          <a:p>
            <a:pPr marL="860425" lvl="1" indent="-342900">
              <a:spcBef>
                <a:spcPct val="20000"/>
              </a:spcBef>
              <a:spcAft>
                <a:spcPct val="30000"/>
              </a:spcAft>
              <a:buClr>
                <a:schemeClr val="bg2"/>
              </a:buClr>
              <a:buFont typeface="Wingdings" pitchFamily="2" charset="2"/>
              <a:buChar char="n"/>
            </a:pPr>
            <a:r>
              <a:rPr lang="fr-FR" sz="2200">
                <a:solidFill>
                  <a:srgbClr val="333333"/>
                </a:solidFill>
                <a:latin typeface="Arial" pitchFamily="34" charset="0"/>
              </a:rPr>
              <a:t>Modèles en couches</a:t>
            </a:r>
          </a:p>
          <a:p>
            <a:pPr marL="860425" lvl="1" indent="-342900">
              <a:spcBef>
                <a:spcPct val="20000"/>
              </a:spcBef>
              <a:spcAft>
                <a:spcPct val="30000"/>
              </a:spcAft>
              <a:buClr>
                <a:schemeClr val="bg2"/>
              </a:buClr>
              <a:buFont typeface="Wingdings" pitchFamily="2" charset="2"/>
              <a:buChar char="n"/>
            </a:pPr>
            <a:r>
              <a:rPr lang="fr-FR" sz="2200">
                <a:solidFill>
                  <a:srgbClr val="333333"/>
                </a:solidFill>
                <a:latin typeface="Arial" pitchFamily="34" charset="0"/>
              </a:rPr>
              <a:t>Couche Application similaire mais avec des services différents</a:t>
            </a:r>
          </a:p>
          <a:p>
            <a:pPr marL="860425" lvl="1" indent="-342900">
              <a:spcBef>
                <a:spcPct val="20000"/>
              </a:spcBef>
              <a:spcAft>
                <a:spcPct val="30000"/>
              </a:spcAft>
              <a:buClr>
                <a:schemeClr val="bg2"/>
              </a:buClr>
              <a:buFont typeface="Wingdings" pitchFamily="2" charset="2"/>
              <a:buChar char="n"/>
            </a:pPr>
            <a:r>
              <a:rPr lang="fr-FR" sz="2200">
                <a:solidFill>
                  <a:srgbClr val="333333"/>
                </a:solidFill>
                <a:latin typeface="Arial" pitchFamily="34" charset="0"/>
              </a:rPr>
              <a:t>Couche Transport et couche Réseau comparables</a:t>
            </a:r>
          </a:p>
          <a:p>
            <a:pPr marL="1203325" lvl="2" indent="-228600">
              <a:spcBef>
                <a:spcPct val="20000"/>
              </a:spcBef>
              <a:spcAft>
                <a:spcPct val="30000"/>
              </a:spcAft>
              <a:buClr>
                <a:schemeClr val="bg2"/>
              </a:buClr>
              <a:buFont typeface="Wingdings" pitchFamily="2" charset="2"/>
              <a:buChar char="§"/>
            </a:pPr>
            <a:r>
              <a:rPr lang="fr-FR" sz="2200">
                <a:solidFill>
                  <a:srgbClr val="333333"/>
                </a:solidFill>
                <a:latin typeface="Arial" pitchFamily="34" charset="0"/>
              </a:rPr>
              <a:t>Toutes deux assurent la commutation des paquets</a:t>
            </a:r>
          </a:p>
        </p:txBody>
      </p:sp>
      <p:sp>
        <p:nvSpPr>
          <p:cNvPr id="39" name="Rectangle 8"/>
          <p:cNvSpPr>
            <a:spLocks noChangeArrowheads="1"/>
          </p:cNvSpPr>
          <p:nvPr/>
        </p:nvSpPr>
        <p:spPr bwMode="auto">
          <a:xfrm>
            <a:off x="500063" y="4113213"/>
            <a:ext cx="7705725"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spcBef>
                <a:spcPct val="20000"/>
              </a:spcBef>
              <a:spcAft>
                <a:spcPct val="30000"/>
              </a:spcAft>
              <a:buClr>
                <a:schemeClr val="hlink"/>
              </a:buClr>
              <a:buFont typeface="Wingdings" pitchFamily="2" charset="2"/>
              <a:buChar char="n"/>
            </a:pPr>
            <a:r>
              <a:rPr lang="fr-FR" sz="2200" b="1" dirty="0">
                <a:solidFill>
                  <a:srgbClr val="0070C0"/>
                </a:solidFill>
                <a:latin typeface="Arial" pitchFamily="34" charset="0"/>
              </a:rPr>
              <a:t>Différences</a:t>
            </a:r>
          </a:p>
          <a:p>
            <a:pPr marL="860425" lvl="1" indent="-342900">
              <a:spcBef>
                <a:spcPct val="20000"/>
              </a:spcBef>
              <a:spcAft>
                <a:spcPct val="30000"/>
              </a:spcAft>
              <a:buClr>
                <a:schemeClr val="bg2"/>
              </a:buClr>
              <a:buFont typeface="Wingdings" pitchFamily="2" charset="2"/>
              <a:buChar char="n"/>
            </a:pPr>
            <a:r>
              <a:rPr lang="fr-FR" sz="2200" dirty="0">
                <a:solidFill>
                  <a:srgbClr val="333333"/>
                </a:solidFill>
                <a:latin typeface="Arial" pitchFamily="34" charset="0"/>
              </a:rPr>
              <a:t>N’utilise pas les mêmes technologies</a:t>
            </a:r>
          </a:p>
          <a:p>
            <a:pPr marL="860425" lvl="1" indent="-342900">
              <a:spcBef>
                <a:spcPct val="20000"/>
              </a:spcBef>
              <a:spcAft>
                <a:spcPct val="30000"/>
              </a:spcAft>
              <a:buClr>
                <a:schemeClr val="bg2"/>
              </a:buClr>
              <a:buFont typeface="Wingdings" pitchFamily="2" charset="2"/>
              <a:buChar char="n"/>
            </a:pPr>
            <a:r>
              <a:rPr lang="fr-FR" sz="2200" dirty="0">
                <a:solidFill>
                  <a:srgbClr val="333333"/>
                </a:solidFill>
                <a:latin typeface="Arial" pitchFamily="34" charset="0"/>
              </a:rPr>
              <a:t>Les réseaux sont construits avec TCP/IP</a:t>
            </a:r>
          </a:p>
          <a:p>
            <a:pPr marL="860425" lvl="1" indent="-342900">
              <a:spcBef>
                <a:spcPct val="20000"/>
              </a:spcBef>
              <a:spcAft>
                <a:spcPct val="30000"/>
              </a:spcAft>
              <a:buClr>
                <a:schemeClr val="bg2"/>
              </a:buClr>
              <a:buFont typeface="Wingdings" pitchFamily="2" charset="2"/>
              <a:buChar char="n"/>
            </a:pPr>
            <a:r>
              <a:rPr lang="fr-FR" sz="2200" dirty="0">
                <a:solidFill>
                  <a:srgbClr val="333333"/>
                </a:solidFill>
                <a:latin typeface="Arial" pitchFamily="34" charset="0"/>
              </a:rPr>
              <a:t>Le modèle OSI est utilisé comme un </a:t>
            </a:r>
            <a:r>
              <a:rPr lang="fr-FR" sz="2200" b="1" dirty="0">
                <a:latin typeface="Arial" pitchFamily="34" charset="0"/>
              </a:rPr>
              <a:t>modèle de référence</a:t>
            </a:r>
            <a:r>
              <a:rPr lang="fr-FR" sz="2200" dirty="0">
                <a:solidFill>
                  <a:srgbClr val="333333"/>
                </a:solidFill>
                <a:latin typeface="Arial" pitchFamily="34" charset="0"/>
              </a:rPr>
              <a:t>, et n’est pas implémenté physiquement sur les appareils</a:t>
            </a:r>
          </a:p>
        </p:txBody>
      </p:sp>
      <p:sp>
        <p:nvSpPr>
          <p:cNvPr id="8"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wipe(left)">
                                      <p:cBhvr>
                                        <p:cTn id="7" dur="500"/>
                                        <p:tgtEl>
                                          <p:spTgt spid="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
                                            <p:txEl>
                                              <p:pRg st="1" end="1"/>
                                            </p:txEl>
                                          </p:spTgt>
                                        </p:tgtEl>
                                        <p:attrNameLst>
                                          <p:attrName>style.visibility</p:attrName>
                                        </p:attrNameLst>
                                      </p:cBhvr>
                                      <p:to>
                                        <p:strVal val="visible"/>
                                      </p:to>
                                    </p:set>
                                    <p:animEffect transition="in" filter="wipe(left)">
                                      <p:cBhvr>
                                        <p:cTn id="12" dur="500"/>
                                        <p:tgtEl>
                                          <p:spTgt spid="3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
                                            <p:txEl>
                                              <p:pRg st="2" end="2"/>
                                            </p:txEl>
                                          </p:spTgt>
                                        </p:tgtEl>
                                        <p:attrNameLst>
                                          <p:attrName>style.visibility</p:attrName>
                                        </p:attrNameLst>
                                      </p:cBhvr>
                                      <p:to>
                                        <p:strVal val="visible"/>
                                      </p:to>
                                    </p:set>
                                    <p:animEffect transition="in" filter="wipe(left)">
                                      <p:cBhvr>
                                        <p:cTn id="17" dur="500"/>
                                        <p:tgtEl>
                                          <p:spTgt spid="3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
                                            <p:txEl>
                                              <p:pRg st="3" end="3"/>
                                            </p:txEl>
                                          </p:spTgt>
                                        </p:tgtEl>
                                        <p:attrNameLst>
                                          <p:attrName>style.visibility</p:attrName>
                                        </p:attrNameLst>
                                      </p:cBhvr>
                                      <p:to>
                                        <p:strVal val="visible"/>
                                      </p:to>
                                    </p:set>
                                    <p:animEffect transition="in" filter="wipe(left)">
                                      <p:cBhvr>
                                        <p:cTn id="22" dur="500"/>
                                        <p:tgtEl>
                                          <p:spTgt spid="3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
                                            <p:txEl>
                                              <p:pRg st="4" end="4"/>
                                            </p:txEl>
                                          </p:spTgt>
                                        </p:tgtEl>
                                        <p:attrNameLst>
                                          <p:attrName>style.visibility</p:attrName>
                                        </p:attrNameLst>
                                      </p:cBhvr>
                                      <p:to>
                                        <p:strVal val="visible"/>
                                      </p:to>
                                    </p:set>
                                    <p:animEffect transition="in" filter="wipe(left)">
                                      <p:cBhvr>
                                        <p:cTn id="27" dur="500"/>
                                        <p:tgtEl>
                                          <p:spTgt spid="3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wipe(left)">
                                      <p:cBhvr>
                                        <p:cTn id="32" dur="500"/>
                                        <p:tgtEl>
                                          <p:spTgt spid="3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
                                            <p:txEl>
                                              <p:pRg st="1" end="1"/>
                                            </p:txEl>
                                          </p:spTgt>
                                        </p:tgtEl>
                                        <p:attrNameLst>
                                          <p:attrName>style.visibility</p:attrName>
                                        </p:attrNameLst>
                                      </p:cBhvr>
                                      <p:to>
                                        <p:strVal val="visible"/>
                                      </p:to>
                                    </p:set>
                                    <p:animEffect transition="in" filter="wipe(left)">
                                      <p:cBhvr>
                                        <p:cTn id="37" dur="500"/>
                                        <p:tgtEl>
                                          <p:spTgt spid="39">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9">
                                            <p:txEl>
                                              <p:pRg st="2" end="2"/>
                                            </p:txEl>
                                          </p:spTgt>
                                        </p:tgtEl>
                                        <p:attrNameLst>
                                          <p:attrName>style.visibility</p:attrName>
                                        </p:attrNameLst>
                                      </p:cBhvr>
                                      <p:to>
                                        <p:strVal val="visible"/>
                                      </p:to>
                                    </p:set>
                                    <p:animEffect transition="in" filter="wipe(left)">
                                      <p:cBhvr>
                                        <p:cTn id="42" dur="500"/>
                                        <p:tgtEl>
                                          <p:spTgt spid="39">
                                            <p:txEl>
                                              <p:pRg st="2" end="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9">
                                            <p:txEl>
                                              <p:pRg st="3" end="3"/>
                                            </p:txEl>
                                          </p:spTgt>
                                        </p:tgtEl>
                                        <p:attrNameLst>
                                          <p:attrName>style.visibility</p:attrName>
                                        </p:attrNameLst>
                                      </p:cBhvr>
                                      <p:to>
                                        <p:strVal val="visible"/>
                                      </p:to>
                                    </p:set>
                                    <p:animEffect transition="in" filter="wipe(left)">
                                      <p:cBhvr>
                                        <p:cTn id="47" dur="500"/>
                                        <p:tgtEl>
                                          <p:spTgt spid="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uild="p" bldLvl="3" autoUpdateAnimBg="0"/>
      <p:bldP spid="39" grpId="0" build="p" bldLvl="3"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pitchFamily="34" charset="0"/>
              </a:rPr>
              <a:t>Processus de Communication</a:t>
            </a:r>
          </a:p>
        </p:txBody>
      </p:sp>
      <p:sp>
        <p:nvSpPr>
          <p:cNvPr id="39" name="Rectangle 8"/>
          <p:cNvSpPr>
            <a:spLocks noChangeArrowheads="1"/>
          </p:cNvSpPr>
          <p:nvPr/>
        </p:nvSpPr>
        <p:spPr bwMode="auto">
          <a:xfrm>
            <a:off x="428625" y="857250"/>
            <a:ext cx="8358188" cy="1317625"/>
          </a:xfrm>
          <a:prstGeom prst="rect">
            <a:avLst/>
          </a:prstGeom>
          <a:noFill/>
          <a:ln w="9525">
            <a:noFill/>
            <a:miter lim="800000"/>
            <a:headEnd/>
            <a:tailEnd/>
          </a:ln>
        </p:spPr>
        <p:txBody>
          <a:bodyPr>
            <a:spAutoFit/>
          </a:bodyPr>
          <a:lstStyle/>
          <a:p>
            <a:pPr marL="342900" indent="-342900">
              <a:spcBef>
                <a:spcPct val="20000"/>
              </a:spcBef>
              <a:spcAft>
                <a:spcPts val="0"/>
              </a:spcAft>
              <a:buClr>
                <a:schemeClr val="hlink"/>
              </a:buClr>
              <a:buFont typeface="Wingdings" pitchFamily="2" charset="2"/>
              <a:buChar char="n"/>
              <a:defRPr/>
            </a:pPr>
            <a:r>
              <a:rPr lang="fr-FR" b="1" dirty="0">
                <a:solidFill>
                  <a:srgbClr val="0070C0"/>
                </a:solidFill>
                <a:latin typeface="Arial" charset="0"/>
                <a:cs typeface="Arial" charset="0"/>
              </a:rPr>
              <a:t>Encapsulation</a:t>
            </a:r>
            <a:r>
              <a:rPr lang="fr-FR" sz="2200" dirty="0">
                <a:latin typeface="Arial" charset="0"/>
                <a:cs typeface="Arial" charset="0"/>
              </a:rPr>
              <a:t> </a:t>
            </a:r>
          </a:p>
          <a:p>
            <a:pPr algn="just">
              <a:spcBef>
                <a:spcPct val="20000"/>
              </a:spcBef>
              <a:spcAft>
                <a:spcPct val="30000"/>
              </a:spcAft>
              <a:buClr>
                <a:schemeClr val="hlink"/>
              </a:buClr>
              <a:defRPr/>
            </a:pPr>
            <a:r>
              <a:rPr lang="fr-FR" sz="1800" dirty="0">
                <a:solidFill>
                  <a:srgbClr val="333333"/>
                </a:solidFill>
                <a:latin typeface="Arial" charset="0"/>
                <a:cs typeface="Arial" charset="0"/>
              </a:rPr>
              <a:t>Lorsque les données d’application descendent la pile de protocoles en vue de leur transmission sur le support réseau, différents protocoles ajoutent des informations à chaque niveau. Il s’agit du processus d’encapsulation.</a:t>
            </a:r>
          </a:p>
        </p:txBody>
      </p:sp>
      <p:pic>
        <p:nvPicPr>
          <p:cNvPr id="1003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2286000"/>
            <a:ext cx="8099425"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box(in)">
                                      <p:cBhvr>
                                        <p:cTn id="7" dur="500"/>
                                        <p:tgtEl>
                                          <p:spTgt spid="100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3"/>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dirty="0">
                <a:solidFill>
                  <a:srgbClr val="000000"/>
                </a:solidFill>
                <a:latin typeface="Arial" pitchFamily="34" charset="0"/>
              </a:rPr>
              <a:t>Processus de Communication</a:t>
            </a:r>
          </a:p>
        </p:txBody>
      </p:sp>
      <p:sp>
        <p:nvSpPr>
          <p:cNvPr id="39" name="Rectangle 8"/>
          <p:cNvSpPr>
            <a:spLocks noChangeArrowheads="1"/>
          </p:cNvSpPr>
          <p:nvPr/>
        </p:nvSpPr>
        <p:spPr bwMode="auto">
          <a:xfrm>
            <a:off x="428625" y="857250"/>
            <a:ext cx="8358188" cy="1262063"/>
          </a:xfrm>
          <a:prstGeom prst="rect">
            <a:avLst/>
          </a:prstGeom>
          <a:noFill/>
          <a:ln w="9525">
            <a:noFill/>
            <a:miter lim="800000"/>
            <a:headEnd/>
            <a:tailEnd/>
          </a:ln>
        </p:spPr>
        <p:txBody>
          <a:bodyPr>
            <a:spAutoFit/>
          </a:bodyPr>
          <a:lstStyle/>
          <a:p>
            <a:pPr marL="342900" indent="-342900">
              <a:spcBef>
                <a:spcPct val="20000"/>
              </a:spcBef>
              <a:spcAft>
                <a:spcPts val="0"/>
              </a:spcAft>
              <a:buClr>
                <a:schemeClr val="hlink"/>
              </a:buClr>
              <a:buFont typeface="Wingdings" pitchFamily="2" charset="2"/>
              <a:buChar char="n"/>
              <a:defRPr/>
            </a:pPr>
            <a:r>
              <a:rPr lang="fr-FR" b="1" dirty="0" err="1">
                <a:solidFill>
                  <a:srgbClr val="0070C0"/>
                </a:solidFill>
                <a:latin typeface="Arial" charset="0"/>
                <a:cs typeface="Arial" charset="0"/>
              </a:rPr>
              <a:t>Désencapsulation</a:t>
            </a:r>
            <a:r>
              <a:rPr lang="fr-FR" sz="2200" dirty="0">
                <a:latin typeface="Arial" charset="0"/>
                <a:cs typeface="Arial" charset="0"/>
              </a:rPr>
              <a:t> </a:t>
            </a:r>
          </a:p>
          <a:p>
            <a:pPr algn="just">
              <a:spcBef>
                <a:spcPts val="0"/>
              </a:spcBef>
              <a:spcAft>
                <a:spcPct val="30000"/>
              </a:spcAft>
              <a:buClr>
                <a:schemeClr val="hlink"/>
              </a:buClr>
              <a:defRPr/>
            </a:pPr>
            <a:r>
              <a:rPr lang="fr-FR" sz="1800" dirty="0">
                <a:solidFill>
                  <a:srgbClr val="333333"/>
                </a:solidFill>
                <a:latin typeface="Arial" charset="0"/>
                <a:cs typeface="Arial" charset="0"/>
              </a:rPr>
              <a:t>Processus de suppression des données de contrôle lorsqu’elles remontent vers les niveaux supérieurs du modèle en couche. </a:t>
            </a:r>
            <a:r>
              <a:rPr lang="fr-FR" sz="1800" dirty="0" err="1">
                <a:solidFill>
                  <a:srgbClr val="333333"/>
                </a:solidFill>
                <a:latin typeface="Arial" charset="0"/>
                <a:cs typeface="Arial" charset="0"/>
              </a:rPr>
              <a:t>Wireshark</a:t>
            </a:r>
            <a:r>
              <a:rPr lang="fr-FR" sz="1800" dirty="0">
                <a:solidFill>
                  <a:srgbClr val="333333"/>
                </a:solidFill>
                <a:latin typeface="Arial" charset="0"/>
                <a:cs typeface="Arial" charset="0"/>
              </a:rPr>
              <a:t> permet l’examen de protocoles!</a:t>
            </a:r>
          </a:p>
        </p:txBody>
      </p:sp>
      <p:pic>
        <p:nvPicPr>
          <p:cNvPr id="101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0" y="2076450"/>
            <a:ext cx="741680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 Box 9"/>
          <p:cNvSpPr txBox="1">
            <a:spLocks noChangeArrowheads="1"/>
          </p:cNvSpPr>
          <p:nvPr/>
        </p:nvSpPr>
        <p:spPr bwMode="auto">
          <a:xfrm>
            <a:off x="395420" y="107258"/>
            <a:ext cx="8172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spcBef>
                <a:spcPct val="0"/>
              </a:spcBef>
              <a:buClrTx/>
              <a:buFontTx/>
              <a:buNone/>
            </a:pPr>
            <a:r>
              <a:rPr lang="fr-FR" sz="1800" b="1" dirty="0">
                <a:solidFill>
                  <a:srgbClr val="000000"/>
                </a:solidFill>
                <a:latin typeface="Arial" pitchFamily="34" charset="0"/>
              </a:rPr>
              <a:t>Modèle en couches</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box(in)">
                                      <p:cBhvr>
                                        <p:cTn id="7" dur="500"/>
                                        <p:tgtEl>
                                          <p:spTgt spid="101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0" y="1557338"/>
            <a:ext cx="9144000" cy="2557462"/>
          </a:xfrm>
          <a:prstGeom prst="rect">
            <a:avLst/>
          </a:prstGeom>
          <a:gradFill rotWithShape="1">
            <a:gsLst>
              <a:gs pos="0">
                <a:schemeClr val="accent2">
                  <a:alpha val="50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sp>
        <p:nvSpPr>
          <p:cNvPr id="35843" name="Rectangle 9"/>
          <p:cNvSpPr>
            <a:spLocks noGrp="1" noChangeArrowheads="1"/>
          </p:cNvSpPr>
          <p:nvPr>
            <p:ph type="ctrTitle" idx="4294967295"/>
          </p:nvPr>
        </p:nvSpPr>
        <p:spPr>
          <a:xfrm>
            <a:off x="603250" y="2349500"/>
            <a:ext cx="8001000" cy="1071563"/>
          </a:xfrm>
          <a:noFill/>
        </p:spPr>
        <p:txBody>
          <a:bodyPr/>
          <a:lstStyle/>
          <a:p>
            <a:pPr algn="ctr"/>
            <a:r>
              <a:rPr lang="fr-FR" sz="3200" dirty="0">
                <a:solidFill>
                  <a:srgbClr val="002060"/>
                </a:solidFill>
              </a:rPr>
              <a:t>Fonctionnalité et protocoles des  couches applicatives</a:t>
            </a:r>
          </a:p>
        </p:txBody>
      </p:sp>
      <p:sp>
        <p:nvSpPr>
          <p:cNvPr id="35844" name="AutoShape 13" descr="Afficher l'image d'origine"/>
          <p:cNvSpPr>
            <a:spLocks noChangeAspect="1" noChangeArrowheads="1"/>
          </p:cNvSpPr>
          <p:nvPr/>
        </p:nvSpPr>
        <p:spPr bwMode="auto">
          <a:xfrm>
            <a:off x="153988"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Tree>
    <p:custDataLst>
      <p:tags r:id="rId1"/>
    </p:custDataLst>
    <p:extLst>
      <p:ext uri="{BB962C8B-B14F-4D97-AF65-F5344CB8AC3E}">
        <p14:creationId xmlns:p14="http://schemas.microsoft.com/office/powerpoint/2010/main" val="2332063418"/>
      </p:ext>
    </p:extLst>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9"/>
          <p:cNvSpPr txBox="1">
            <a:spLocks noChangeArrowheads="1"/>
          </p:cNvSpPr>
          <p:nvPr/>
        </p:nvSpPr>
        <p:spPr bwMode="auto">
          <a:xfrm>
            <a:off x="323410" y="108290"/>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dirty="0">
                <a:solidFill>
                  <a:srgbClr val="000000"/>
                </a:solidFill>
                <a:latin typeface="Arial" charset="0"/>
              </a:rPr>
              <a:t>Fonctionnalité et protocoles des  couches applicatives</a:t>
            </a:r>
          </a:p>
        </p:txBody>
      </p:sp>
      <p:sp>
        <p:nvSpPr>
          <p:cNvPr id="3072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charset="0"/>
              </a:rPr>
              <a:t>Fonctionnalité</a:t>
            </a:r>
          </a:p>
        </p:txBody>
      </p:sp>
      <p:pic>
        <p:nvPicPr>
          <p:cNvPr id="30724"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725" y="1268700"/>
            <a:ext cx="6840538" cy="3730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25" name="object 4"/>
          <p:cNvSpPr txBox="1">
            <a:spLocks noChangeArrowheads="1"/>
          </p:cNvSpPr>
          <p:nvPr/>
        </p:nvSpPr>
        <p:spPr bwMode="auto">
          <a:xfrm>
            <a:off x="395420" y="4941210"/>
            <a:ext cx="864120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429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marL="273050" indent="-177800" algn="just" eaLnBrk="1" hangingPunct="1">
              <a:spcBef>
                <a:spcPts val="0"/>
              </a:spcBef>
              <a:buClr>
                <a:srgbClr val="008080"/>
              </a:buClr>
              <a:buFont typeface="Wingdings" pitchFamily="2" charset="2"/>
              <a:buChar char="§"/>
              <a:tabLst>
                <a:tab pos="177800" algn="l"/>
              </a:tabLst>
            </a:pPr>
            <a:r>
              <a:rPr lang="fr-FR" dirty="0">
                <a:solidFill>
                  <a:srgbClr val="3A3A3A"/>
                </a:solidFill>
                <a:latin typeface="Arial" charset="0"/>
              </a:rPr>
              <a:t>La couche application (couche 7) est la couche supérieure des modèles  OSI et TCP/IP, qui sert d’interface entre les applications à chaque extrémité  du réseau.</a:t>
            </a:r>
          </a:p>
          <a:p>
            <a:pPr marL="273050" indent="-177800" algn="just" eaLnBrk="1" hangingPunct="1">
              <a:spcBef>
                <a:spcPts val="0"/>
              </a:spcBef>
              <a:buClr>
                <a:srgbClr val="008080"/>
              </a:buClr>
              <a:buFont typeface="Wingdings" pitchFamily="2" charset="2"/>
              <a:buChar char="§"/>
              <a:tabLst>
                <a:tab pos="177800" algn="l"/>
              </a:tabLst>
            </a:pPr>
            <a:r>
              <a:rPr lang="fr-FR" dirty="0">
                <a:solidFill>
                  <a:srgbClr val="3A3A3A"/>
                </a:solidFill>
                <a:latin typeface="Arial" charset="0"/>
              </a:rPr>
              <a:t>Ses protocoles, nombreux et continuellement en développement,  permettent l’échange des données entre les programmes s’exécutant sur  les hôtes source et de destination.</a:t>
            </a:r>
          </a:p>
        </p:txBody>
      </p:sp>
      <p:sp>
        <p:nvSpPr>
          <p:cNvPr id="2" name="Rectangle 1"/>
          <p:cNvSpPr/>
          <p:nvPr/>
        </p:nvSpPr>
        <p:spPr>
          <a:xfrm>
            <a:off x="395419" y="980660"/>
            <a:ext cx="7673843" cy="400110"/>
          </a:xfrm>
          <a:prstGeom prst="rect">
            <a:avLst/>
          </a:prstGeom>
        </p:spPr>
        <p:txBody>
          <a:bodyPr wrap="square">
            <a:spAutoFit/>
          </a:bodyPr>
          <a:lstStyle/>
          <a:p>
            <a:pPr marL="342900" indent="-342900">
              <a:spcBef>
                <a:spcPct val="0"/>
              </a:spcBef>
              <a:buClr>
                <a:srgbClr val="0000CC"/>
              </a:buClr>
              <a:buFont typeface="Wingdings" pitchFamily="2" charset="2"/>
              <a:buChar char="q"/>
            </a:pPr>
            <a:r>
              <a:rPr lang="fr-FR" b="1" dirty="0">
                <a:solidFill>
                  <a:srgbClr val="0000CC"/>
                </a:solidFill>
                <a:latin typeface="Arial" charset="0"/>
              </a:rPr>
              <a:t>Couche Application: Modèles OSI et TCP/IP</a:t>
            </a:r>
          </a:p>
        </p:txBody>
      </p:sp>
    </p:spTree>
    <p:custDataLst>
      <p:tags r:id="rId1"/>
    </p:custDataLst>
    <p:extLst>
      <p:ext uri="{BB962C8B-B14F-4D97-AF65-F5344CB8AC3E}">
        <p14:creationId xmlns:p14="http://schemas.microsoft.com/office/powerpoint/2010/main" val="529819435"/>
      </p:ext>
    </p:extLst>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3988" y="1360749"/>
            <a:ext cx="6200137" cy="2532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277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2563" y="4299210"/>
            <a:ext cx="6143857" cy="2586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 Box 9"/>
          <p:cNvSpPr txBox="1">
            <a:spLocks noChangeArrowheads="1"/>
          </p:cNvSpPr>
          <p:nvPr/>
        </p:nvSpPr>
        <p:spPr bwMode="auto">
          <a:xfrm>
            <a:off x="323410" y="108290"/>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dirty="0">
                <a:solidFill>
                  <a:srgbClr val="000000"/>
                </a:solidFill>
                <a:latin typeface="Arial" charset="0"/>
              </a:rPr>
              <a:t>Fonctionnalité et protocoles des  couches applicatives</a:t>
            </a:r>
          </a:p>
        </p:txBody>
      </p:sp>
      <p:sp>
        <p:nvSpPr>
          <p:cNvPr id="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charset="0"/>
              </a:rPr>
              <a:t>Fonctionnalité</a:t>
            </a:r>
          </a:p>
        </p:txBody>
      </p:sp>
      <p:sp>
        <p:nvSpPr>
          <p:cNvPr id="10" name="Rectangle 9"/>
          <p:cNvSpPr/>
          <p:nvPr/>
        </p:nvSpPr>
        <p:spPr>
          <a:xfrm>
            <a:off x="395419" y="908650"/>
            <a:ext cx="7673843" cy="400110"/>
          </a:xfrm>
          <a:prstGeom prst="rect">
            <a:avLst/>
          </a:prstGeom>
        </p:spPr>
        <p:txBody>
          <a:bodyPr wrap="square">
            <a:spAutoFit/>
          </a:bodyPr>
          <a:lstStyle/>
          <a:p>
            <a:pPr marL="342900" indent="-342900">
              <a:spcBef>
                <a:spcPct val="0"/>
              </a:spcBef>
              <a:buClr>
                <a:srgbClr val="0000CC"/>
              </a:buClr>
              <a:buFont typeface="Wingdings" pitchFamily="2" charset="2"/>
              <a:buChar char="q"/>
            </a:pPr>
            <a:r>
              <a:rPr lang="fr-FR" b="1" dirty="0">
                <a:solidFill>
                  <a:srgbClr val="0000CC"/>
                </a:solidFill>
                <a:latin typeface="Arial" charset="0"/>
              </a:rPr>
              <a:t>Couche Application: Modèles OSI et TCP/IP</a:t>
            </a:r>
          </a:p>
        </p:txBody>
      </p:sp>
    </p:spTree>
    <p:custDataLst>
      <p:tags r:id="rId1"/>
    </p:custDataLst>
    <p:extLst>
      <p:ext uri="{BB962C8B-B14F-4D97-AF65-F5344CB8AC3E}">
        <p14:creationId xmlns:p14="http://schemas.microsoft.com/office/powerpoint/2010/main" val="111902822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checkerboard(across)">
                                      <p:cBhvr>
                                        <p:cTn id="7" dur="500"/>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object 4"/>
          <p:cNvSpPr txBox="1">
            <a:spLocks noChangeArrowheads="1"/>
          </p:cNvSpPr>
          <p:nvPr/>
        </p:nvSpPr>
        <p:spPr bwMode="auto">
          <a:xfrm>
            <a:off x="467295" y="5818130"/>
            <a:ext cx="856932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429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algn="just" eaLnBrk="1" hangingPunct="1">
              <a:buClr>
                <a:srgbClr val="008080"/>
              </a:buClr>
              <a:buFont typeface="Wingdings" pitchFamily="2" charset="2"/>
              <a:buChar char="§"/>
            </a:pPr>
            <a:r>
              <a:rPr lang="fr-FR" dirty="0">
                <a:solidFill>
                  <a:srgbClr val="333333"/>
                </a:solidFill>
                <a:latin typeface="Arial" charset="0"/>
              </a:rPr>
              <a:t>Les fonctionnalités des protocoles de couche application TCP/IP s’intègrent  à la structure des 3 couches supérieures du modèle OSI : les couches  </a:t>
            </a:r>
            <a:r>
              <a:rPr lang="fr-FR" b="1" dirty="0">
                <a:solidFill>
                  <a:srgbClr val="333333"/>
                </a:solidFill>
                <a:latin typeface="Arial" charset="0"/>
              </a:rPr>
              <a:t>application, présentation </a:t>
            </a:r>
            <a:r>
              <a:rPr lang="fr-FR" dirty="0">
                <a:solidFill>
                  <a:srgbClr val="333333"/>
                </a:solidFill>
                <a:latin typeface="Arial" charset="0"/>
              </a:rPr>
              <a:t>et </a:t>
            </a:r>
            <a:r>
              <a:rPr lang="fr-FR" b="1" dirty="0">
                <a:solidFill>
                  <a:srgbClr val="333333"/>
                </a:solidFill>
                <a:latin typeface="Arial" charset="0"/>
              </a:rPr>
              <a:t>session. </a:t>
            </a:r>
            <a:endParaRPr lang="fr-FR" dirty="0">
              <a:solidFill>
                <a:srgbClr val="333333"/>
              </a:solidFill>
              <a:latin typeface="Arial" charset="0"/>
            </a:endParaRPr>
          </a:p>
        </p:txBody>
      </p:sp>
      <p:pic>
        <p:nvPicPr>
          <p:cNvPr id="3379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4" y="1216728"/>
            <a:ext cx="6240825" cy="460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 Box 9"/>
          <p:cNvSpPr txBox="1">
            <a:spLocks noChangeArrowheads="1"/>
          </p:cNvSpPr>
          <p:nvPr/>
        </p:nvSpPr>
        <p:spPr bwMode="auto">
          <a:xfrm>
            <a:off x="323410" y="108290"/>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dirty="0">
                <a:solidFill>
                  <a:srgbClr val="000000"/>
                </a:solidFill>
                <a:latin typeface="Arial" charset="0"/>
              </a:rPr>
              <a:t>Fonctionnalité et protocoles des  couches applicatives</a:t>
            </a:r>
          </a:p>
        </p:txBody>
      </p:sp>
      <p:sp>
        <p:nvSpPr>
          <p:cNvPr id="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charset="0"/>
              </a:rPr>
              <a:t>Fonctionnalité</a:t>
            </a:r>
          </a:p>
        </p:txBody>
      </p:sp>
      <p:sp>
        <p:nvSpPr>
          <p:cNvPr id="10" name="Rectangle 9"/>
          <p:cNvSpPr/>
          <p:nvPr/>
        </p:nvSpPr>
        <p:spPr>
          <a:xfrm>
            <a:off x="395419" y="908650"/>
            <a:ext cx="7673843" cy="400110"/>
          </a:xfrm>
          <a:prstGeom prst="rect">
            <a:avLst/>
          </a:prstGeom>
        </p:spPr>
        <p:txBody>
          <a:bodyPr wrap="square">
            <a:spAutoFit/>
          </a:bodyPr>
          <a:lstStyle/>
          <a:p>
            <a:pPr marL="342900" indent="-342900">
              <a:spcBef>
                <a:spcPct val="0"/>
              </a:spcBef>
              <a:buClr>
                <a:srgbClr val="0000CC"/>
              </a:buClr>
              <a:buFont typeface="Wingdings" pitchFamily="2" charset="2"/>
              <a:buChar char="q"/>
            </a:pPr>
            <a:r>
              <a:rPr lang="fr-FR" b="1" dirty="0">
                <a:solidFill>
                  <a:srgbClr val="0000CC"/>
                </a:solidFill>
                <a:latin typeface="Arial" charset="0"/>
              </a:rPr>
              <a:t>Couche Application: Modèles OSI et TCP/IP</a:t>
            </a:r>
          </a:p>
        </p:txBody>
      </p:sp>
    </p:spTree>
    <p:custDataLst>
      <p:tags r:id="rId1"/>
    </p:custDataLst>
    <p:extLst>
      <p:ext uri="{BB962C8B-B14F-4D97-AF65-F5344CB8AC3E}">
        <p14:creationId xmlns:p14="http://schemas.microsoft.com/office/powerpoint/2010/main" val="4181589619"/>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object 4"/>
          <p:cNvSpPr txBox="1">
            <a:spLocks noChangeArrowheads="1"/>
          </p:cNvSpPr>
          <p:nvPr/>
        </p:nvSpPr>
        <p:spPr bwMode="auto">
          <a:xfrm>
            <a:off x="465136" y="5013220"/>
            <a:ext cx="867886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marL="177800" indent="-165100" eaLnBrk="1" hangingPunct="1">
              <a:spcBef>
                <a:spcPts val="0"/>
              </a:spcBef>
              <a:buFont typeface="Wingdings" pitchFamily="2" charset="2"/>
              <a:buChar char="§"/>
            </a:pPr>
            <a:r>
              <a:rPr lang="fr-FR" dirty="0">
                <a:solidFill>
                  <a:srgbClr val="262626"/>
                </a:solidFill>
                <a:latin typeface="Arial" charset="0"/>
              </a:rPr>
              <a:t>La couche présentation remplit trois fonctions principales :</a:t>
            </a:r>
          </a:p>
          <a:p>
            <a:pPr marL="355600" indent="-177800" eaLnBrk="1" hangingPunct="1">
              <a:spcBef>
                <a:spcPts val="0"/>
              </a:spcBef>
              <a:buClr>
                <a:srgbClr val="00007C"/>
              </a:buClr>
              <a:buFont typeface="Arial" pitchFamily="34" charset="0"/>
              <a:buChar char="•"/>
            </a:pPr>
            <a:r>
              <a:rPr lang="fr-FR" dirty="0">
                <a:solidFill>
                  <a:srgbClr val="262626"/>
                </a:solidFill>
                <a:latin typeface="Arial" charset="0"/>
              </a:rPr>
              <a:t>Le </a:t>
            </a:r>
            <a:r>
              <a:rPr lang="fr-FR" b="1" dirty="0">
                <a:solidFill>
                  <a:srgbClr val="262626"/>
                </a:solidFill>
                <a:latin typeface="Arial" charset="0"/>
              </a:rPr>
              <a:t>codage </a:t>
            </a:r>
            <a:r>
              <a:rPr lang="fr-FR" dirty="0">
                <a:solidFill>
                  <a:srgbClr val="262626"/>
                </a:solidFill>
                <a:latin typeface="Arial" charset="0"/>
              </a:rPr>
              <a:t>et la </a:t>
            </a:r>
            <a:r>
              <a:rPr lang="fr-FR" b="1" dirty="0">
                <a:solidFill>
                  <a:srgbClr val="262626"/>
                </a:solidFill>
                <a:latin typeface="Arial" charset="0"/>
              </a:rPr>
              <a:t>conversion </a:t>
            </a:r>
            <a:r>
              <a:rPr lang="fr-FR" dirty="0">
                <a:solidFill>
                  <a:srgbClr val="262626"/>
                </a:solidFill>
                <a:latin typeface="Arial" charset="0"/>
              </a:rPr>
              <a:t>des données de la couche application pour assurer l’interprétation de ces données entre les périphériques source et  destination ;</a:t>
            </a:r>
          </a:p>
          <a:p>
            <a:pPr marL="355600" indent="-177800" eaLnBrk="1" hangingPunct="1">
              <a:spcBef>
                <a:spcPts val="0"/>
              </a:spcBef>
              <a:buClr>
                <a:srgbClr val="00007C"/>
              </a:buClr>
              <a:buFont typeface="Arial" pitchFamily="34" charset="0"/>
              <a:buChar char="•"/>
            </a:pPr>
            <a:r>
              <a:rPr lang="fr-FR" dirty="0">
                <a:solidFill>
                  <a:srgbClr val="262626"/>
                </a:solidFill>
                <a:latin typeface="Arial" charset="0"/>
              </a:rPr>
              <a:t>La </a:t>
            </a:r>
            <a:r>
              <a:rPr lang="fr-FR" b="1" dirty="0">
                <a:solidFill>
                  <a:srgbClr val="262626"/>
                </a:solidFill>
                <a:latin typeface="Arial" charset="0"/>
              </a:rPr>
              <a:t>compression </a:t>
            </a:r>
            <a:r>
              <a:rPr lang="fr-FR" dirty="0">
                <a:solidFill>
                  <a:srgbClr val="262626"/>
                </a:solidFill>
                <a:latin typeface="Arial" charset="0"/>
              </a:rPr>
              <a:t>et la </a:t>
            </a:r>
            <a:r>
              <a:rPr lang="fr-FR" b="1" dirty="0">
                <a:solidFill>
                  <a:srgbClr val="262626"/>
                </a:solidFill>
                <a:latin typeface="Arial" charset="0"/>
              </a:rPr>
              <a:t>décompression </a:t>
            </a:r>
            <a:r>
              <a:rPr lang="fr-FR" dirty="0">
                <a:solidFill>
                  <a:srgbClr val="262626"/>
                </a:solidFill>
                <a:latin typeface="Arial" charset="0"/>
              </a:rPr>
              <a:t>des données ;</a:t>
            </a:r>
          </a:p>
          <a:p>
            <a:pPr marL="355600" indent="-177800" eaLnBrk="1" hangingPunct="1">
              <a:spcBef>
                <a:spcPts val="0"/>
              </a:spcBef>
              <a:buClr>
                <a:srgbClr val="00007C"/>
              </a:buClr>
              <a:buFont typeface="Arial" pitchFamily="34" charset="0"/>
              <a:buChar char="•"/>
            </a:pPr>
            <a:r>
              <a:rPr lang="fr-FR" dirty="0">
                <a:solidFill>
                  <a:srgbClr val="262626"/>
                </a:solidFill>
                <a:latin typeface="Arial" charset="0"/>
              </a:rPr>
              <a:t>Le </a:t>
            </a:r>
            <a:r>
              <a:rPr lang="fr-FR" b="1" dirty="0">
                <a:solidFill>
                  <a:srgbClr val="262626"/>
                </a:solidFill>
                <a:latin typeface="Arial" charset="0"/>
              </a:rPr>
              <a:t>chiffrement </a:t>
            </a:r>
            <a:r>
              <a:rPr lang="fr-FR" dirty="0">
                <a:solidFill>
                  <a:srgbClr val="262626"/>
                </a:solidFill>
                <a:latin typeface="Arial" charset="0"/>
              </a:rPr>
              <a:t>et le </a:t>
            </a:r>
            <a:r>
              <a:rPr lang="fr-FR" b="1" dirty="0">
                <a:solidFill>
                  <a:srgbClr val="262626"/>
                </a:solidFill>
                <a:latin typeface="Arial" charset="0"/>
              </a:rPr>
              <a:t>déchiffrement </a:t>
            </a:r>
            <a:r>
              <a:rPr lang="fr-FR" dirty="0">
                <a:solidFill>
                  <a:srgbClr val="262626"/>
                </a:solidFill>
                <a:latin typeface="Arial" charset="0"/>
              </a:rPr>
              <a:t>des données</a:t>
            </a:r>
            <a:r>
              <a:rPr lang="fr-FR" dirty="0">
                <a:latin typeface="Arial" charset="0"/>
              </a:rPr>
              <a:t>.</a:t>
            </a:r>
          </a:p>
        </p:txBody>
      </p:sp>
      <p:pic>
        <p:nvPicPr>
          <p:cNvPr id="3482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0275" y="1052671"/>
            <a:ext cx="5972175" cy="39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 Box 9"/>
          <p:cNvSpPr txBox="1">
            <a:spLocks noChangeArrowheads="1"/>
          </p:cNvSpPr>
          <p:nvPr/>
        </p:nvSpPr>
        <p:spPr bwMode="auto">
          <a:xfrm>
            <a:off x="323410" y="108290"/>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dirty="0">
                <a:solidFill>
                  <a:srgbClr val="000000"/>
                </a:solidFill>
                <a:latin typeface="Arial" charset="0"/>
              </a:rPr>
              <a:t>Fonctionnalité et protocoles des  couches applicatives</a:t>
            </a:r>
          </a:p>
        </p:txBody>
      </p:sp>
      <p:sp>
        <p:nvSpPr>
          <p:cNvPr id="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charset="0"/>
              </a:rPr>
              <a:t>Fonctionnalité</a:t>
            </a:r>
          </a:p>
        </p:txBody>
      </p:sp>
      <p:sp>
        <p:nvSpPr>
          <p:cNvPr id="10" name="Rectangle 9"/>
          <p:cNvSpPr/>
          <p:nvPr/>
        </p:nvSpPr>
        <p:spPr>
          <a:xfrm>
            <a:off x="395419" y="908650"/>
            <a:ext cx="7673843" cy="400110"/>
          </a:xfrm>
          <a:prstGeom prst="rect">
            <a:avLst/>
          </a:prstGeom>
        </p:spPr>
        <p:txBody>
          <a:bodyPr wrap="square">
            <a:spAutoFit/>
          </a:bodyPr>
          <a:lstStyle/>
          <a:p>
            <a:pPr marL="342900" indent="-342900">
              <a:spcBef>
                <a:spcPct val="0"/>
              </a:spcBef>
              <a:buClr>
                <a:srgbClr val="0000CC"/>
              </a:buClr>
              <a:buFont typeface="Wingdings" pitchFamily="2" charset="2"/>
              <a:buChar char="q"/>
            </a:pPr>
            <a:r>
              <a:rPr lang="fr-FR" b="1" dirty="0">
                <a:solidFill>
                  <a:srgbClr val="0000CC"/>
                </a:solidFill>
                <a:latin typeface="Arial" charset="0"/>
              </a:rPr>
              <a:t>Couche présentation: Modèles OSI et TCP/IP</a:t>
            </a:r>
          </a:p>
        </p:txBody>
      </p:sp>
    </p:spTree>
    <p:custDataLst>
      <p:tags r:id="rId1"/>
    </p:custDataLst>
    <p:extLst>
      <p:ext uri="{BB962C8B-B14F-4D97-AF65-F5344CB8AC3E}">
        <p14:creationId xmlns:p14="http://schemas.microsoft.com/office/powerpoint/2010/main" val="2658133002"/>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object 6"/>
          <p:cNvSpPr txBox="1">
            <a:spLocks noChangeArrowheads="1"/>
          </p:cNvSpPr>
          <p:nvPr/>
        </p:nvSpPr>
        <p:spPr bwMode="auto">
          <a:xfrm>
            <a:off x="467429" y="5013220"/>
            <a:ext cx="8641201"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84225" indent="-314325"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marL="177800" indent="-165100" eaLnBrk="1" hangingPunct="1">
              <a:spcBef>
                <a:spcPct val="0"/>
              </a:spcBef>
              <a:buClr>
                <a:srgbClr val="00007C"/>
              </a:buClr>
              <a:buFont typeface="Wingdings" pitchFamily="2" charset="2"/>
              <a:buChar char="§"/>
              <a:tabLst>
                <a:tab pos="177800" algn="l"/>
              </a:tabLst>
            </a:pPr>
            <a:r>
              <a:rPr lang="fr-FR" dirty="0">
                <a:solidFill>
                  <a:srgbClr val="262626"/>
                </a:solidFill>
                <a:latin typeface="Arial" charset="0"/>
              </a:rPr>
              <a:t>Permet un dialogue entre les applications source et de destination.</a:t>
            </a:r>
          </a:p>
          <a:p>
            <a:pPr marL="177800" indent="-165100" eaLnBrk="1" hangingPunct="1">
              <a:spcBef>
                <a:spcPct val="0"/>
              </a:spcBef>
              <a:buClr>
                <a:srgbClr val="00007C"/>
              </a:buClr>
              <a:buFont typeface="Wingdings" pitchFamily="2" charset="2"/>
              <a:buChar char="§"/>
              <a:tabLst>
                <a:tab pos="177800" algn="l"/>
              </a:tabLst>
            </a:pPr>
            <a:r>
              <a:rPr lang="fr-FR" dirty="0">
                <a:solidFill>
                  <a:srgbClr val="262626"/>
                </a:solidFill>
                <a:latin typeface="Arial" charset="0"/>
              </a:rPr>
              <a:t>Traite l’échange des informations pour :</a:t>
            </a:r>
          </a:p>
          <a:p>
            <a:pPr indent="-177800" eaLnBrk="1" hangingPunct="1">
              <a:spcBef>
                <a:spcPct val="0"/>
              </a:spcBef>
              <a:buClr>
                <a:srgbClr val="00007C"/>
              </a:buClr>
              <a:buFont typeface="Arial" pitchFamily="34" charset="0"/>
              <a:buChar char="•"/>
              <a:tabLst>
                <a:tab pos="177800" algn="l"/>
              </a:tabLst>
            </a:pPr>
            <a:r>
              <a:rPr lang="fr-FR" dirty="0">
                <a:solidFill>
                  <a:srgbClr val="262626"/>
                </a:solidFill>
                <a:latin typeface="Arial" charset="0"/>
              </a:rPr>
              <a:t>Initier un dialogue</a:t>
            </a:r>
          </a:p>
          <a:p>
            <a:pPr indent="-177800" eaLnBrk="1" hangingPunct="1">
              <a:spcBef>
                <a:spcPct val="0"/>
              </a:spcBef>
              <a:buClr>
                <a:srgbClr val="00007C"/>
              </a:buClr>
              <a:buFont typeface="Arial" pitchFamily="34" charset="0"/>
              <a:buChar char="•"/>
              <a:tabLst>
                <a:tab pos="177800" algn="l"/>
              </a:tabLst>
            </a:pPr>
            <a:r>
              <a:rPr lang="fr-FR" dirty="0">
                <a:solidFill>
                  <a:srgbClr val="262626"/>
                </a:solidFill>
                <a:latin typeface="Arial" charset="0"/>
              </a:rPr>
              <a:t>Maintenir un dialogue</a:t>
            </a:r>
          </a:p>
          <a:p>
            <a:pPr indent="-177800" eaLnBrk="1" hangingPunct="1">
              <a:spcBef>
                <a:spcPct val="0"/>
              </a:spcBef>
              <a:buClr>
                <a:srgbClr val="00007C"/>
              </a:buClr>
              <a:buFont typeface="Arial" pitchFamily="34" charset="0"/>
              <a:buChar char="•"/>
              <a:tabLst>
                <a:tab pos="177800" algn="l"/>
              </a:tabLst>
            </a:pPr>
            <a:r>
              <a:rPr lang="fr-FR" dirty="0">
                <a:solidFill>
                  <a:srgbClr val="262626"/>
                </a:solidFill>
                <a:latin typeface="Arial" charset="0"/>
              </a:rPr>
              <a:t>Redémarrer les sessions interrompues ou inactives pendant une longue  période.</a:t>
            </a:r>
          </a:p>
        </p:txBody>
      </p:sp>
      <p:pic>
        <p:nvPicPr>
          <p:cNvPr id="3584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0300" y="1340710"/>
            <a:ext cx="4343400" cy="3653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Text Box 9"/>
          <p:cNvSpPr txBox="1">
            <a:spLocks noChangeArrowheads="1"/>
          </p:cNvSpPr>
          <p:nvPr/>
        </p:nvSpPr>
        <p:spPr bwMode="auto">
          <a:xfrm>
            <a:off x="323410" y="108290"/>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dirty="0">
                <a:solidFill>
                  <a:srgbClr val="000000"/>
                </a:solidFill>
                <a:latin typeface="Arial" charset="0"/>
              </a:rPr>
              <a:t>Fonctionnalité et protocoles des  couches applicatives</a:t>
            </a:r>
          </a:p>
        </p:txBody>
      </p:sp>
      <p:sp>
        <p:nvSpPr>
          <p:cNvPr id="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charset="0"/>
              </a:rPr>
              <a:t>Fonctionnalité</a:t>
            </a:r>
          </a:p>
        </p:txBody>
      </p:sp>
      <p:sp>
        <p:nvSpPr>
          <p:cNvPr id="10" name="Rectangle 9"/>
          <p:cNvSpPr/>
          <p:nvPr/>
        </p:nvSpPr>
        <p:spPr>
          <a:xfrm>
            <a:off x="395419" y="980660"/>
            <a:ext cx="7673843" cy="400110"/>
          </a:xfrm>
          <a:prstGeom prst="rect">
            <a:avLst/>
          </a:prstGeom>
        </p:spPr>
        <p:txBody>
          <a:bodyPr wrap="square">
            <a:spAutoFit/>
          </a:bodyPr>
          <a:lstStyle/>
          <a:p>
            <a:pPr marL="342900" indent="-342900">
              <a:spcBef>
                <a:spcPct val="0"/>
              </a:spcBef>
              <a:buClr>
                <a:srgbClr val="0000CC"/>
              </a:buClr>
              <a:buFont typeface="Wingdings" pitchFamily="2" charset="2"/>
              <a:buChar char="q"/>
            </a:pPr>
            <a:r>
              <a:rPr lang="fr-FR" b="1" dirty="0">
                <a:solidFill>
                  <a:srgbClr val="0000CC"/>
                </a:solidFill>
                <a:latin typeface="Arial" charset="0"/>
              </a:rPr>
              <a:t>Couche Application: Modèles OSI et TCP/IP</a:t>
            </a:r>
          </a:p>
        </p:txBody>
      </p:sp>
    </p:spTree>
    <p:custDataLst>
      <p:tags r:id="rId1"/>
    </p:custDataLst>
    <p:extLst>
      <p:ext uri="{BB962C8B-B14F-4D97-AF65-F5344CB8AC3E}">
        <p14:creationId xmlns:p14="http://schemas.microsoft.com/office/powerpoint/2010/main" val="3920751399"/>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A1A5A2F-7909-7B2F-A80E-9C223D84C4C4}"/>
              </a:ext>
            </a:extLst>
          </p:cNvPr>
          <p:cNvSpPr txBox="1"/>
          <p:nvPr/>
        </p:nvSpPr>
        <p:spPr>
          <a:xfrm>
            <a:off x="1187530" y="480942"/>
            <a:ext cx="2464136" cy="400110"/>
          </a:xfrm>
          <a:prstGeom prst="rect">
            <a:avLst/>
          </a:prstGeom>
          <a:noFill/>
        </p:spPr>
        <p:txBody>
          <a:bodyPr wrap="none" rtlCol="0">
            <a:spAutoFit/>
          </a:bodyPr>
          <a:lstStyle/>
          <a:p>
            <a:r>
              <a:rPr lang="fr-FR" b="1" dirty="0"/>
              <a:t>Le PDU: la suite</a:t>
            </a:r>
          </a:p>
        </p:txBody>
      </p:sp>
      <p:sp>
        <p:nvSpPr>
          <p:cNvPr id="5" name="ZoneTexte 4">
            <a:extLst>
              <a:ext uri="{FF2B5EF4-FFF2-40B4-BE49-F238E27FC236}">
                <a16:creationId xmlns:a16="http://schemas.microsoft.com/office/drawing/2014/main" id="{8E04E28C-39C1-8647-62C5-C9B0215821FC}"/>
              </a:ext>
            </a:extLst>
          </p:cNvPr>
          <p:cNvSpPr txBox="1"/>
          <p:nvPr/>
        </p:nvSpPr>
        <p:spPr>
          <a:xfrm>
            <a:off x="395420" y="980660"/>
            <a:ext cx="8524449" cy="1323439"/>
          </a:xfrm>
          <a:prstGeom prst="rect">
            <a:avLst/>
          </a:prstGeom>
          <a:noFill/>
        </p:spPr>
        <p:txBody>
          <a:bodyPr wrap="square" rtlCol="0">
            <a:spAutoFit/>
          </a:bodyPr>
          <a:lstStyle/>
          <a:p>
            <a:r>
              <a:rPr lang="fr-FR" sz="1600" dirty="0"/>
              <a:t>Un </a:t>
            </a:r>
            <a:r>
              <a:rPr lang="fr-FR" sz="1600" b="1" dirty="0"/>
              <a:t>PDU</a:t>
            </a:r>
            <a:r>
              <a:rPr lang="fr-FR" sz="1600" dirty="0"/>
              <a:t> (</a:t>
            </a:r>
            <a:r>
              <a:rPr lang="fr-FR" sz="1600" i="1" dirty="0"/>
              <a:t>Protocol Data Unit</a:t>
            </a:r>
            <a:r>
              <a:rPr lang="fr-FR" sz="1600" dirty="0"/>
              <a:t> ou unité de données de protocole) est une structure de données utilisée dans les réseaux de communication pour transmettre des informations entre les couches du modèle </a:t>
            </a:r>
            <a:r>
              <a:rPr lang="fr-FR" sz="1600" b="1" dirty="0"/>
              <a:t>OSI</a:t>
            </a:r>
            <a:r>
              <a:rPr lang="fr-FR" sz="1600" dirty="0"/>
              <a:t> ou </a:t>
            </a:r>
            <a:r>
              <a:rPr lang="fr-FR" sz="1600" b="1" dirty="0"/>
              <a:t>TCP/IP</a:t>
            </a:r>
            <a:r>
              <a:rPr lang="fr-FR" sz="1600" dirty="0"/>
              <a:t>. Chaque couche du modèle OSI ajoute ses propres en-têtes et éventuellement des données supplémentaires au PDU avant de le transmettre à la couche inférieure.</a:t>
            </a:r>
          </a:p>
        </p:txBody>
      </p:sp>
      <p:pic>
        <p:nvPicPr>
          <p:cNvPr id="7" name="Image 6">
            <a:extLst>
              <a:ext uri="{FF2B5EF4-FFF2-40B4-BE49-F238E27FC236}">
                <a16:creationId xmlns:a16="http://schemas.microsoft.com/office/drawing/2014/main" id="{65CAC7B3-D748-2BFC-536C-B9CC7DB5C675}"/>
              </a:ext>
            </a:extLst>
          </p:cNvPr>
          <p:cNvPicPr>
            <a:picLocks noChangeAspect="1"/>
          </p:cNvPicPr>
          <p:nvPr/>
        </p:nvPicPr>
        <p:blipFill>
          <a:blip r:embed="rId2"/>
          <a:stretch>
            <a:fillRect/>
          </a:stretch>
        </p:blipFill>
        <p:spPr>
          <a:xfrm>
            <a:off x="376360" y="2403707"/>
            <a:ext cx="8732270" cy="4212033"/>
          </a:xfrm>
          <a:prstGeom prst="rect">
            <a:avLst/>
          </a:prstGeom>
        </p:spPr>
      </p:pic>
    </p:spTree>
    <p:extLst>
      <p:ext uri="{BB962C8B-B14F-4D97-AF65-F5344CB8AC3E}">
        <p14:creationId xmlns:p14="http://schemas.microsoft.com/office/powerpoint/2010/main" val="2794925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D7E7765-6832-57E8-A603-AD5BE4006481}"/>
              </a:ext>
            </a:extLst>
          </p:cNvPr>
          <p:cNvPicPr>
            <a:picLocks noChangeAspect="1"/>
          </p:cNvPicPr>
          <p:nvPr/>
        </p:nvPicPr>
        <p:blipFill>
          <a:blip r:embed="rId2"/>
          <a:stretch>
            <a:fillRect/>
          </a:stretch>
        </p:blipFill>
        <p:spPr>
          <a:xfrm>
            <a:off x="395420" y="908650"/>
            <a:ext cx="8748580" cy="3645866"/>
          </a:xfrm>
          <a:prstGeom prst="rect">
            <a:avLst/>
          </a:prstGeom>
        </p:spPr>
      </p:pic>
    </p:spTree>
    <p:extLst>
      <p:ext uri="{BB962C8B-B14F-4D97-AF65-F5344CB8AC3E}">
        <p14:creationId xmlns:p14="http://schemas.microsoft.com/office/powerpoint/2010/main" val="2387351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FA0DCDD9-BAE7-B1CC-3D07-769C4D56B2E3}"/>
              </a:ext>
            </a:extLst>
          </p:cNvPr>
          <p:cNvPicPr>
            <a:picLocks noChangeAspect="1"/>
          </p:cNvPicPr>
          <p:nvPr/>
        </p:nvPicPr>
        <p:blipFill>
          <a:blip r:embed="rId2"/>
          <a:stretch>
            <a:fillRect/>
          </a:stretch>
        </p:blipFill>
        <p:spPr>
          <a:xfrm>
            <a:off x="467430" y="908650"/>
            <a:ext cx="8676570" cy="3229970"/>
          </a:xfrm>
          <a:prstGeom prst="rect">
            <a:avLst/>
          </a:prstGeom>
        </p:spPr>
      </p:pic>
    </p:spTree>
    <p:extLst>
      <p:ext uri="{BB962C8B-B14F-4D97-AF65-F5344CB8AC3E}">
        <p14:creationId xmlns:p14="http://schemas.microsoft.com/office/powerpoint/2010/main" val="3016622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799B21D-E8D3-F113-7ABF-00620B63980C}"/>
              </a:ext>
            </a:extLst>
          </p:cNvPr>
          <p:cNvPicPr>
            <a:picLocks noChangeAspect="1"/>
          </p:cNvPicPr>
          <p:nvPr/>
        </p:nvPicPr>
        <p:blipFill>
          <a:blip r:embed="rId2"/>
          <a:stretch>
            <a:fillRect/>
          </a:stretch>
        </p:blipFill>
        <p:spPr>
          <a:xfrm>
            <a:off x="467430" y="980660"/>
            <a:ext cx="8440328" cy="4182059"/>
          </a:xfrm>
          <a:prstGeom prst="rect">
            <a:avLst/>
          </a:prstGeom>
        </p:spPr>
      </p:pic>
    </p:spTree>
    <p:extLst>
      <p:ext uri="{BB962C8B-B14F-4D97-AF65-F5344CB8AC3E}">
        <p14:creationId xmlns:p14="http://schemas.microsoft.com/office/powerpoint/2010/main" val="1521299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9"/>
          <p:cNvSpPr txBox="1">
            <a:spLocks noChangeArrowheads="1"/>
          </p:cNvSpPr>
          <p:nvPr/>
        </p:nvSpPr>
        <p:spPr bwMode="auto">
          <a:xfrm>
            <a:off x="395420" y="108290"/>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3686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charset="0"/>
              </a:rPr>
              <a:t>Services et protocoles </a:t>
            </a:r>
          </a:p>
        </p:txBody>
      </p:sp>
      <p:pic>
        <p:nvPicPr>
          <p:cNvPr id="3686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9063" y="928688"/>
            <a:ext cx="4991100"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object 4"/>
          <p:cNvSpPr txBox="1">
            <a:spLocks noChangeArrowheads="1"/>
          </p:cNvSpPr>
          <p:nvPr/>
        </p:nvSpPr>
        <p:spPr bwMode="auto">
          <a:xfrm>
            <a:off x="642938" y="1071563"/>
            <a:ext cx="479318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2700" eaLnBrk="0" hangingPunct="0">
              <a:tabLst>
                <a:tab pos="2117725" algn="l"/>
              </a:tabLst>
              <a:defRPr sz="2000">
                <a:solidFill>
                  <a:schemeClr val="tx1"/>
                </a:solidFill>
                <a:latin typeface="Verdana" pitchFamily="34" charset="0"/>
                <a:cs typeface="Arial" charset="0"/>
              </a:defRPr>
            </a:lvl1pPr>
            <a:lvl2pPr marL="742950" indent="-285750" eaLnBrk="0" hangingPunct="0">
              <a:tabLst>
                <a:tab pos="2117725" algn="l"/>
              </a:tabLst>
              <a:defRPr sz="2000">
                <a:solidFill>
                  <a:schemeClr val="tx1"/>
                </a:solidFill>
                <a:latin typeface="Verdana" pitchFamily="34" charset="0"/>
                <a:cs typeface="Arial" charset="0"/>
              </a:defRPr>
            </a:lvl2pPr>
            <a:lvl3pPr marL="1143000" indent="-228600" eaLnBrk="0" hangingPunct="0">
              <a:tabLst>
                <a:tab pos="2117725" algn="l"/>
              </a:tabLst>
              <a:defRPr sz="2000">
                <a:solidFill>
                  <a:schemeClr val="tx1"/>
                </a:solidFill>
                <a:latin typeface="Verdana" pitchFamily="34" charset="0"/>
                <a:cs typeface="Arial" charset="0"/>
              </a:defRPr>
            </a:lvl3pPr>
            <a:lvl4pPr marL="1600200" indent="-228600" eaLnBrk="0" hangingPunct="0">
              <a:tabLst>
                <a:tab pos="2117725" algn="l"/>
              </a:tabLst>
              <a:defRPr sz="2000">
                <a:solidFill>
                  <a:schemeClr val="tx1"/>
                </a:solidFill>
                <a:latin typeface="Verdana" pitchFamily="34" charset="0"/>
                <a:cs typeface="Arial" charset="0"/>
              </a:defRPr>
            </a:lvl4pPr>
            <a:lvl5pPr marL="2057400" indent="-228600" eaLnBrk="0" hangingPunct="0">
              <a:tabLst>
                <a:tab pos="2117725"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2117725"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2117725"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2117725"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2117725" algn="l"/>
              </a:tabLst>
              <a:defRPr sz="2000">
                <a:solidFill>
                  <a:schemeClr val="tx1"/>
                </a:solidFill>
                <a:latin typeface="Verdana" pitchFamily="34" charset="0"/>
                <a:cs typeface="Arial" charset="0"/>
              </a:defRPr>
            </a:lvl9pPr>
          </a:lstStyle>
          <a:p>
            <a:pPr eaLnBrk="1" hangingPunct="1"/>
            <a:r>
              <a:rPr lang="fr-FR" b="1" dirty="0">
                <a:solidFill>
                  <a:srgbClr val="333333"/>
                </a:solidFill>
                <a:latin typeface="Arial" charset="0"/>
              </a:rPr>
              <a:t>Remarque: </a:t>
            </a:r>
          </a:p>
          <a:p>
            <a:pPr eaLnBrk="1" hangingPunct="1"/>
            <a:r>
              <a:rPr lang="fr-FR" dirty="0">
                <a:solidFill>
                  <a:srgbClr val="262626"/>
                </a:solidFill>
                <a:latin typeface="Arial" charset="0"/>
              </a:rPr>
              <a:t>une machine  joue   habituellement	le  rôle de serveur pour  plusieurs applications</a:t>
            </a:r>
          </a:p>
        </p:txBody>
      </p:sp>
      <p:sp>
        <p:nvSpPr>
          <p:cNvPr id="9" name="object 5"/>
          <p:cNvSpPr txBox="1"/>
          <p:nvPr/>
        </p:nvSpPr>
        <p:spPr>
          <a:xfrm>
            <a:off x="785813" y="4000500"/>
            <a:ext cx="7929562" cy="2632075"/>
          </a:xfrm>
          <a:prstGeom prst="rect">
            <a:avLst/>
          </a:prstGeom>
        </p:spPr>
        <p:txBody>
          <a:bodyPr lIns="0" tIns="0" rIns="0" bIns="0">
            <a:spAutoFit/>
          </a:bodyPr>
          <a:lstStyle/>
          <a:p>
            <a:pPr marL="355600" indent="-342900">
              <a:buClr>
                <a:srgbClr val="00007C"/>
              </a:buClr>
              <a:buFont typeface="Wingdings"/>
              <a:buChar char=""/>
              <a:tabLst>
                <a:tab pos="355600" algn="l"/>
              </a:tabLst>
              <a:defRPr/>
            </a:pPr>
            <a:r>
              <a:rPr sz="1800" spc="-5" dirty="0">
                <a:solidFill>
                  <a:srgbClr val="333333"/>
                </a:solidFill>
                <a:latin typeface="+mn-lt"/>
                <a:cs typeface="Arial"/>
              </a:rPr>
              <a:t>Protocoles </a:t>
            </a:r>
            <a:r>
              <a:rPr sz="1800" dirty="0">
                <a:solidFill>
                  <a:srgbClr val="333333"/>
                </a:solidFill>
                <a:latin typeface="+mn-lt"/>
                <a:cs typeface="Arial"/>
              </a:rPr>
              <a:t>TCP/IP</a:t>
            </a:r>
            <a:r>
              <a:rPr sz="1800" spc="-75" dirty="0">
                <a:solidFill>
                  <a:srgbClr val="333333"/>
                </a:solidFill>
                <a:latin typeface="+mn-lt"/>
                <a:cs typeface="Arial"/>
              </a:rPr>
              <a:t> </a:t>
            </a:r>
            <a:r>
              <a:rPr sz="1800" spc="-5" dirty="0">
                <a:solidFill>
                  <a:srgbClr val="333333"/>
                </a:solidFill>
                <a:latin typeface="+mn-lt"/>
                <a:cs typeface="Arial"/>
              </a:rPr>
              <a:t>courants:</a:t>
            </a:r>
            <a:endParaRPr sz="1800" dirty="0">
              <a:solidFill>
                <a:srgbClr val="333333"/>
              </a:solidFill>
              <a:latin typeface="+mn-lt"/>
              <a:cs typeface="Arial"/>
            </a:endParaRPr>
          </a:p>
          <a:p>
            <a:pPr marL="818515" lvl="1" indent="-348615">
              <a:buClr>
                <a:srgbClr val="9999CC"/>
              </a:buClr>
              <a:buFont typeface="Wingdings" pitchFamily="2" charset="2"/>
              <a:buChar char="ü"/>
              <a:tabLst>
                <a:tab pos="819150" algn="l"/>
                <a:tab pos="1554480" algn="l"/>
              </a:tabLst>
              <a:defRPr/>
            </a:pPr>
            <a:r>
              <a:rPr sz="1800" b="1" spc="-5" dirty="0">
                <a:solidFill>
                  <a:srgbClr val="333333"/>
                </a:solidFill>
                <a:latin typeface="+mn-lt"/>
                <a:cs typeface="Arial"/>
              </a:rPr>
              <a:t>DNS</a:t>
            </a:r>
            <a:r>
              <a:rPr sz="1800" dirty="0">
                <a:solidFill>
                  <a:srgbClr val="333333"/>
                </a:solidFill>
                <a:latin typeface="+mn-lt"/>
                <a:cs typeface="Arial"/>
              </a:rPr>
              <a:t>: </a:t>
            </a:r>
            <a:r>
              <a:rPr sz="1800" spc="-5" dirty="0">
                <a:solidFill>
                  <a:srgbClr val="333333"/>
                </a:solidFill>
                <a:latin typeface="+mn-lt"/>
                <a:cs typeface="Arial"/>
              </a:rPr>
              <a:t>traduction d’adresses Internet en </a:t>
            </a:r>
            <a:r>
              <a:rPr sz="1800" spc="-5" dirty="0" err="1">
                <a:solidFill>
                  <a:srgbClr val="333333"/>
                </a:solidFill>
                <a:latin typeface="+mn-lt"/>
                <a:cs typeface="Arial"/>
              </a:rPr>
              <a:t>adresses</a:t>
            </a:r>
            <a:r>
              <a:rPr sz="1800" spc="60" dirty="0">
                <a:solidFill>
                  <a:srgbClr val="333333"/>
                </a:solidFill>
                <a:latin typeface="+mn-lt"/>
                <a:cs typeface="Arial"/>
              </a:rPr>
              <a:t> </a:t>
            </a:r>
            <a:r>
              <a:rPr sz="1800" spc="-5" dirty="0">
                <a:solidFill>
                  <a:srgbClr val="333333"/>
                </a:solidFill>
                <a:latin typeface="+mn-lt"/>
                <a:cs typeface="Arial"/>
              </a:rPr>
              <a:t>IP;</a:t>
            </a:r>
            <a:endParaRPr lang="fr-FR" sz="1800" spc="-5" dirty="0">
              <a:solidFill>
                <a:srgbClr val="333333"/>
              </a:solidFill>
              <a:latin typeface="+mn-lt"/>
              <a:cs typeface="Arial"/>
            </a:endParaRPr>
          </a:p>
          <a:p>
            <a:pPr marL="818515" lvl="1" indent="-348615">
              <a:buClr>
                <a:srgbClr val="9999CC"/>
              </a:buClr>
              <a:buFont typeface="Wingdings" pitchFamily="2" charset="2"/>
              <a:buChar char="ü"/>
              <a:tabLst>
                <a:tab pos="819150" algn="l"/>
                <a:tab pos="1554480" algn="l"/>
              </a:tabLst>
              <a:defRPr/>
            </a:pPr>
            <a:r>
              <a:rPr sz="1800" b="1" spc="-5" dirty="0">
                <a:solidFill>
                  <a:srgbClr val="333333"/>
                </a:solidFill>
                <a:latin typeface="+mn-lt"/>
                <a:cs typeface="Arial"/>
              </a:rPr>
              <a:t>HTTP  </a:t>
            </a:r>
            <a:r>
              <a:rPr sz="1800" dirty="0">
                <a:solidFill>
                  <a:srgbClr val="333333"/>
                </a:solidFill>
                <a:latin typeface="+mn-lt"/>
                <a:cs typeface="Arial"/>
              </a:rPr>
              <a:t>: </a:t>
            </a:r>
            <a:r>
              <a:rPr sz="1800" spc="-5" dirty="0">
                <a:solidFill>
                  <a:srgbClr val="333333"/>
                </a:solidFill>
                <a:latin typeface="+mn-lt"/>
                <a:cs typeface="Arial"/>
              </a:rPr>
              <a:t>transfert  des fichiers qui constituent les pages du</a:t>
            </a:r>
            <a:r>
              <a:rPr sz="1800" spc="105" dirty="0">
                <a:solidFill>
                  <a:srgbClr val="333333"/>
                </a:solidFill>
                <a:latin typeface="+mn-lt"/>
                <a:cs typeface="Arial"/>
              </a:rPr>
              <a:t> </a:t>
            </a:r>
            <a:r>
              <a:rPr sz="1800" spc="-5" dirty="0">
                <a:solidFill>
                  <a:srgbClr val="333333"/>
                </a:solidFill>
                <a:latin typeface="+mn-lt"/>
                <a:cs typeface="Arial"/>
              </a:rPr>
              <a:t>Web;</a:t>
            </a:r>
            <a:endParaRPr sz="1800" dirty="0">
              <a:solidFill>
                <a:srgbClr val="333333"/>
              </a:solidFill>
              <a:latin typeface="+mn-lt"/>
              <a:cs typeface="Arial"/>
            </a:endParaRPr>
          </a:p>
          <a:p>
            <a:pPr marL="818515" lvl="1" indent="-348615">
              <a:buClr>
                <a:srgbClr val="9999CC"/>
              </a:buClr>
              <a:buFont typeface="Wingdings" pitchFamily="2" charset="2"/>
              <a:buChar char="ü"/>
              <a:tabLst>
                <a:tab pos="819150" algn="l"/>
              </a:tabLst>
              <a:defRPr/>
            </a:pPr>
            <a:r>
              <a:rPr sz="1800" b="1" spc="-5" dirty="0">
                <a:solidFill>
                  <a:srgbClr val="333333"/>
                </a:solidFill>
                <a:latin typeface="+mn-lt"/>
                <a:cs typeface="Arial"/>
              </a:rPr>
              <a:t>SMTP  </a:t>
            </a:r>
            <a:r>
              <a:rPr sz="1800" dirty="0">
                <a:solidFill>
                  <a:srgbClr val="333333"/>
                </a:solidFill>
                <a:latin typeface="+mn-lt"/>
                <a:cs typeface="Arial"/>
              </a:rPr>
              <a:t>: </a:t>
            </a:r>
            <a:r>
              <a:rPr sz="1800" spc="-5" dirty="0">
                <a:solidFill>
                  <a:srgbClr val="333333"/>
                </a:solidFill>
                <a:latin typeface="+mn-lt"/>
                <a:cs typeface="Arial"/>
              </a:rPr>
              <a:t>transfert  de courriels et de pièces</a:t>
            </a:r>
            <a:r>
              <a:rPr sz="1800" spc="65" dirty="0">
                <a:solidFill>
                  <a:srgbClr val="333333"/>
                </a:solidFill>
                <a:latin typeface="+mn-lt"/>
                <a:cs typeface="Arial"/>
              </a:rPr>
              <a:t> </a:t>
            </a:r>
            <a:r>
              <a:rPr sz="1800" spc="-5" dirty="0">
                <a:solidFill>
                  <a:srgbClr val="333333"/>
                </a:solidFill>
                <a:latin typeface="+mn-lt"/>
                <a:cs typeface="Arial"/>
              </a:rPr>
              <a:t>jointes;</a:t>
            </a:r>
            <a:endParaRPr sz="1800" dirty="0">
              <a:solidFill>
                <a:srgbClr val="333333"/>
              </a:solidFill>
              <a:latin typeface="+mn-lt"/>
              <a:cs typeface="Arial"/>
            </a:endParaRPr>
          </a:p>
          <a:p>
            <a:pPr marL="818515" lvl="1" indent="-348615">
              <a:buClr>
                <a:srgbClr val="9999CC"/>
              </a:buClr>
              <a:buFont typeface="Wingdings" pitchFamily="2" charset="2"/>
              <a:buChar char="ü"/>
              <a:tabLst>
                <a:tab pos="819150" algn="l"/>
              </a:tabLst>
              <a:defRPr/>
            </a:pPr>
            <a:r>
              <a:rPr sz="1800" b="1" spc="-5" dirty="0">
                <a:solidFill>
                  <a:srgbClr val="333333"/>
                </a:solidFill>
                <a:latin typeface="+mn-lt"/>
                <a:cs typeface="Arial"/>
              </a:rPr>
              <a:t>Telnet </a:t>
            </a:r>
            <a:r>
              <a:rPr sz="1800" dirty="0">
                <a:solidFill>
                  <a:srgbClr val="333333"/>
                </a:solidFill>
                <a:latin typeface="+mn-lt"/>
                <a:cs typeface="Arial"/>
              </a:rPr>
              <a:t>: </a:t>
            </a:r>
            <a:r>
              <a:rPr sz="1800" spc="-5" dirty="0">
                <a:solidFill>
                  <a:srgbClr val="333333"/>
                </a:solidFill>
                <a:latin typeface="+mn-lt"/>
                <a:cs typeface="Arial"/>
              </a:rPr>
              <a:t>émulation de terminal, pour permettre un accès distant</a:t>
            </a:r>
            <a:r>
              <a:rPr sz="1800" spc="105" dirty="0">
                <a:solidFill>
                  <a:srgbClr val="333333"/>
                </a:solidFill>
                <a:latin typeface="+mn-lt"/>
                <a:cs typeface="Arial"/>
              </a:rPr>
              <a:t> </a:t>
            </a:r>
            <a:r>
              <a:rPr sz="1800" spc="-5" dirty="0">
                <a:solidFill>
                  <a:srgbClr val="333333"/>
                </a:solidFill>
                <a:latin typeface="+mn-lt"/>
                <a:cs typeface="Arial"/>
              </a:rPr>
              <a:t>au</a:t>
            </a:r>
            <a:r>
              <a:rPr lang="fr-FR" sz="1800" spc="-5" dirty="0">
                <a:solidFill>
                  <a:srgbClr val="333333"/>
                </a:solidFill>
                <a:latin typeface="+mn-lt"/>
                <a:cs typeface="Arial"/>
              </a:rPr>
              <a:t>  </a:t>
            </a:r>
            <a:r>
              <a:rPr sz="1800" spc="-5" dirty="0" err="1">
                <a:solidFill>
                  <a:srgbClr val="333333"/>
                </a:solidFill>
                <a:latin typeface="+mn-lt"/>
                <a:cs typeface="Arial"/>
              </a:rPr>
              <a:t>serveurs</a:t>
            </a:r>
            <a:r>
              <a:rPr sz="1800" spc="-5" dirty="0">
                <a:solidFill>
                  <a:srgbClr val="333333"/>
                </a:solidFill>
                <a:latin typeface="+mn-lt"/>
                <a:cs typeface="Arial"/>
              </a:rPr>
              <a:t> et aux périphériques</a:t>
            </a:r>
            <a:r>
              <a:rPr sz="1800" spc="40" dirty="0">
                <a:solidFill>
                  <a:srgbClr val="333333"/>
                </a:solidFill>
                <a:latin typeface="+mn-lt"/>
                <a:cs typeface="Arial"/>
              </a:rPr>
              <a:t> </a:t>
            </a:r>
            <a:r>
              <a:rPr sz="1800" spc="-5" dirty="0">
                <a:solidFill>
                  <a:srgbClr val="333333"/>
                </a:solidFill>
                <a:latin typeface="+mn-lt"/>
                <a:cs typeface="Arial"/>
              </a:rPr>
              <a:t>réseau;</a:t>
            </a:r>
            <a:endParaRPr sz="1800" dirty="0">
              <a:solidFill>
                <a:srgbClr val="333333"/>
              </a:solidFill>
              <a:latin typeface="+mn-lt"/>
              <a:cs typeface="Arial"/>
            </a:endParaRPr>
          </a:p>
          <a:p>
            <a:pPr marL="818515" lvl="1" indent="-348615">
              <a:buClr>
                <a:srgbClr val="9999CC"/>
              </a:buClr>
              <a:buFont typeface="Wingdings" pitchFamily="2" charset="2"/>
              <a:buChar char="ü"/>
              <a:tabLst>
                <a:tab pos="819150" algn="l"/>
                <a:tab pos="1504315" algn="l"/>
              </a:tabLst>
              <a:defRPr/>
            </a:pPr>
            <a:r>
              <a:rPr sz="1800" b="1" dirty="0">
                <a:solidFill>
                  <a:srgbClr val="333333"/>
                </a:solidFill>
                <a:latin typeface="+mn-lt"/>
                <a:cs typeface="Arial"/>
              </a:rPr>
              <a:t>FTP</a:t>
            </a:r>
            <a:r>
              <a:rPr lang="fr-FR" sz="1800" b="1" dirty="0">
                <a:solidFill>
                  <a:srgbClr val="333333"/>
                </a:solidFill>
                <a:latin typeface="+mn-lt"/>
                <a:cs typeface="Arial"/>
              </a:rPr>
              <a:t> </a:t>
            </a:r>
            <a:r>
              <a:rPr sz="1800" dirty="0">
                <a:solidFill>
                  <a:srgbClr val="333333"/>
                </a:solidFill>
                <a:latin typeface="+mn-lt"/>
                <a:cs typeface="Arial"/>
              </a:rPr>
              <a:t>: </a:t>
            </a:r>
            <a:r>
              <a:rPr sz="1800" spc="-5" dirty="0">
                <a:solidFill>
                  <a:srgbClr val="333333"/>
                </a:solidFill>
                <a:latin typeface="+mn-lt"/>
                <a:cs typeface="Arial"/>
              </a:rPr>
              <a:t>transfert interactif de fichiers entre les</a:t>
            </a:r>
            <a:r>
              <a:rPr sz="1800" spc="55" dirty="0">
                <a:solidFill>
                  <a:srgbClr val="333333"/>
                </a:solidFill>
                <a:latin typeface="+mn-lt"/>
                <a:cs typeface="Arial"/>
              </a:rPr>
              <a:t> </a:t>
            </a:r>
            <a:r>
              <a:rPr sz="1800" spc="-5" dirty="0">
                <a:solidFill>
                  <a:srgbClr val="333333"/>
                </a:solidFill>
                <a:latin typeface="+mn-lt"/>
                <a:cs typeface="Arial"/>
              </a:rPr>
              <a:t>systèmes.</a:t>
            </a:r>
            <a:endParaRPr sz="1800" dirty="0">
              <a:solidFill>
                <a:srgbClr val="333333"/>
              </a:solidFill>
              <a:latin typeface="+mn-lt"/>
              <a:cs typeface="Arial"/>
            </a:endParaRPr>
          </a:p>
        </p:txBody>
      </p:sp>
    </p:spTree>
    <p:custDataLst>
      <p:tags r:id="rId1"/>
    </p:custDataLst>
    <p:extLst>
      <p:ext uri="{BB962C8B-B14F-4D97-AF65-F5344CB8AC3E}">
        <p14:creationId xmlns:p14="http://schemas.microsoft.com/office/powerpoint/2010/main" val="285078518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box(in)">
                                      <p:cBhvr>
                                        <p:cTn id="7" dur="500"/>
                                        <p:tgtEl>
                                          <p:spTgt spid="36869"/>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ox(in)">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3789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Applications, Utilisateurs, services et protocoles</a:t>
            </a:r>
          </a:p>
        </p:txBody>
      </p:sp>
      <p:pic>
        <p:nvPicPr>
          <p:cNvPr id="3789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725" y="1143000"/>
            <a:ext cx="7307263"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825437007"/>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389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Fonctions du protocole de couche Application</a:t>
            </a:r>
          </a:p>
        </p:txBody>
      </p:sp>
      <p:pic>
        <p:nvPicPr>
          <p:cNvPr id="3891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0" y="1123950"/>
            <a:ext cx="6786563" cy="294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8917" name="object 4"/>
          <p:cNvSpPr>
            <a:spLocks noChangeArrowheads="1"/>
          </p:cNvSpPr>
          <p:nvPr/>
        </p:nvSpPr>
        <p:spPr bwMode="auto">
          <a:xfrm>
            <a:off x="2214563" y="4310063"/>
            <a:ext cx="4572000" cy="7620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7" name="Rectangle 6"/>
          <p:cNvSpPr/>
          <p:nvPr/>
        </p:nvSpPr>
        <p:spPr>
          <a:xfrm>
            <a:off x="785813" y="5053013"/>
            <a:ext cx="8072437" cy="1733550"/>
          </a:xfrm>
          <a:prstGeom prst="rect">
            <a:avLst/>
          </a:prstGeom>
        </p:spPr>
        <p:txBody>
          <a:bodyPr>
            <a:spAutoFit/>
          </a:bodyPr>
          <a:lstStyle/>
          <a:p>
            <a:pPr marL="355600" indent="-342900">
              <a:buClr>
                <a:srgbClr val="00007C"/>
              </a:buClr>
              <a:buFont typeface="Wingdings"/>
              <a:buChar char=""/>
              <a:tabLst>
                <a:tab pos="355600" algn="l"/>
              </a:tabLst>
              <a:defRPr/>
            </a:pPr>
            <a:r>
              <a:rPr lang="fr-FR" sz="1800" dirty="0">
                <a:solidFill>
                  <a:srgbClr val="333333"/>
                </a:solidFill>
                <a:latin typeface="Arial"/>
                <a:cs typeface="Arial"/>
              </a:rPr>
              <a:t>Les </a:t>
            </a:r>
            <a:r>
              <a:rPr lang="fr-FR" sz="1800" spc="-5" dirty="0">
                <a:solidFill>
                  <a:srgbClr val="333333"/>
                </a:solidFill>
                <a:latin typeface="Arial"/>
                <a:cs typeface="Arial"/>
              </a:rPr>
              <a:t>applications </a:t>
            </a:r>
            <a:r>
              <a:rPr lang="fr-FR" sz="1800" dirty="0">
                <a:solidFill>
                  <a:srgbClr val="333333"/>
                </a:solidFill>
                <a:latin typeface="Arial"/>
                <a:cs typeface="Arial"/>
              </a:rPr>
              <a:t>et </a:t>
            </a:r>
            <a:r>
              <a:rPr lang="fr-FR" sz="1800" spc="-5" dirty="0">
                <a:solidFill>
                  <a:srgbClr val="333333"/>
                </a:solidFill>
                <a:latin typeface="Arial"/>
                <a:cs typeface="Arial"/>
              </a:rPr>
              <a:t>les </a:t>
            </a:r>
            <a:r>
              <a:rPr lang="fr-FR" sz="1800" dirty="0">
                <a:solidFill>
                  <a:srgbClr val="333333"/>
                </a:solidFill>
                <a:latin typeface="Arial"/>
                <a:cs typeface="Arial"/>
              </a:rPr>
              <a:t>services peuvent </a:t>
            </a:r>
            <a:r>
              <a:rPr lang="fr-FR" sz="1800" spc="-5" dirty="0">
                <a:solidFill>
                  <a:srgbClr val="333333"/>
                </a:solidFill>
                <a:latin typeface="Arial"/>
                <a:cs typeface="Arial"/>
              </a:rPr>
              <a:t>utiliser </a:t>
            </a:r>
            <a:r>
              <a:rPr lang="fr-FR" sz="1800" dirty="0">
                <a:solidFill>
                  <a:srgbClr val="333333"/>
                </a:solidFill>
                <a:latin typeface="Arial"/>
                <a:cs typeface="Arial"/>
              </a:rPr>
              <a:t>plusieurs</a:t>
            </a:r>
            <a:r>
              <a:rPr lang="fr-FR" sz="1800" spc="-125" dirty="0">
                <a:solidFill>
                  <a:srgbClr val="333333"/>
                </a:solidFill>
                <a:latin typeface="Arial"/>
                <a:cs typeface="Arial"/>
              </a:rPr>
              <a:t> </a:t>
            </a:r>
            <a:r>
              <a:rPr lang="fr-FR" sz="1800" dirty="0">
                <a:solidFill>
                  <a:srgbClr val="333333"/>
                </a:solidFill>
                <a:latin typeface="Arial"/>
                <a:cs typeface="Arial"/>
              </a:rPr>
              <a:t>protocoles.</a:t>
            </a:r>
          </a:p>
          <a:p>
            <a:pPr marL="355600" indent="-342900">
              <a:spcBef>
                <a:spcPts val="480"/>
              </a:spcBef>
              <a:buClr>
                <a:srgbClr val="00007C"/>
              </a:buClr>
              <a:buFont typeface="Wingdings"/>
              <a:buChar char=""/>
              <a:tabLst>
                <a:tab pos="355600" algn="l"/>
              </a:tabLst>
              <a:defRPr/>
            </a:pPr>
            <a:r>
              <a:rPr lang="fr-FR" sz="1800" dirty="0">
                <a:solidFill>
                  <a:srgbClr val="333333"/>
                </a:solidFill>
                <a:latin typeface="Arial"/>
                <a:cs typeface="Arial"/>
              </a:rPr>
              <a:t>Un </a:t>
            </a:r>
            <a:r>
              <a:rPr lang="fr-FR" sz="1800" spc="-5" dirty="0">
                <a:solidFill>
                  <a:srgbClr val="333333"/>
                </a:solidFill>
                <a:latin typeface="Arial"/>
                <a:cs typeface="Arial"/>
              </a:rPr>
              <a:t>navigateur </a:t>
            </a:r>
            <a:r>
              <a:rPr lang="fr-FR" sz="1800" dirty="0">
                <a:solidFill>
                  <a:srgbClr val="333333"/>
                </a:solidFill>
                <a:latin typeface="Arial"/>
                <a:cs typeface="Arial"/>
              </a:rPr>
              <a:t>Web</a:t>
            </a:r>
            <a:r>
              <a:rPr lang="fr-FR" sz="1800" spc="-105" dirty="0">
                <a:solidFill>
                  <a:srgbClr val="333333"/>
                </a:solidFill>
                <a:latin typeface="Arial"/>
                <a:cs typeface="Arial"/>
              </a:rPr>
              <a:t> </a:t>
            </a:r>
            <a:r>
              <a:rPr lang="fr-FR" sz="1800" dirty="0">
                <a:solidFill>
                  <a:srgbClr val="333333"/>
                </a:solidFill>
                <a:latin typeface="Arial"/>
                <a:cs typeface="Arial"/>
              </a:rPr>
              <a:t>(HTTP):</a:t>
            </a:r>
          </a:p>
          <a:p>
            <a:pPr marL="756285" lvl="1" indent="-286385">
              <a:spcBef>
                <a:spcPts val="480"/>
              </a:spcBef>
              <a:buClr>
                <a:srgbClr val="9999CC"/>
              </a:buClr>
              <a:buFont typeface="Wingdings" pitchFamily="2" charset="2"/>
              <a:buChar char="ü"/>
              <a:tabLst>
                <a:tab pos="756920" algn="l"/>
              </a:tabLst>
              <a:defRPr/>
            </a:pPr>
            <a:r>
              <a:rPr lang="fr-FR" sz="1800" dirty="0">
                <a:solidFill>
                  <a:srgbClr val="333333"/>
                </a:solidFill>
                <a:latin typeface="Arial"/>
                <a:cs typeface="Arial"/>
              </a:rPr>
              <a:t>Peut </a:t>
            </a:r>
            <a:r>
              <a:rPr lang="fr-FR" sz="1800" spc="-5" dirty="0">
                <a:solidFill>
                  <a:srgbClr val="333333"/>
                </a:solidFill>
                <a:latin typeface="Arial"/>
                <a:cs typeface="Arial"/>
              </a:rPr>
              <a:t>impliquer</a:t>
            </a:r>
            <a:r>
              <a:rPr lang="fr-FR" sz="1800" spc="-110" dirty="0">
                <a:solidFill>
                  <a:srgbClr val="333333"/>
                </a:solidFill>
                <a:latin typeface="Arial"/>
                <a:cs typeface="Arial"/>
              </a:rPr>
              <a:t> </a:t>
            </a:r>
            <a:r>
              <a:rPr lang="fr-FR" sz="1800" dirty="0">
                <a:solidFill>
                  <a:srgbClr val="333333"/>
                </a:solidFill>
                <a:latin typeface="Arial"/>
                <a:cs typeface="Arial"/>
              </a:rPr>
              <a:t>: DNS, ARP,</a:t>
            </a:r>
            <a:r>
              <a:rPr lang="fr-FR" sz="1800" spc="-120" dirty="0">
                <a:solidFill>
                  <a:srgbClr val="333333"/>
                </a:solidFill>
                <a:latin typeface="Arial"/>
                <a:cs typeface="Arial"/>
              </a:rPr>
              <a:t> </a:t>
            </a:r>
            <a:r>
              <a:rPr lang="fr-FR" sz="1800" dirty="0">
                <a:solidFill>
                  <a:srgbClr val="333333"/>
                </a:solidFill>
                <a:latin typeface="Arial"/>
                <a:cs typeface="Arial"/>
              </a:rPr>
              <a:t>ICMP</a:t>
            </a:r>
          </a:p>
          <a:p>
            <a:pPr marL="756285" lvl="1" indent="-286385">
              <a:spcBef>
                <a:spcPts val="480"/>
              </a:spcBef>
              <a:buClr>
                <a:srgbClr val="9999CC"/>
              </a:buClr>
              <a:buFont typeface="Wingdings" pitchFamily="2" charset="2"/>
              <a:buChar char="ü"/>
              <a:tabLst>
                <a:tab pos="756920" algn="l"/>
              </a:tabLst>
              <a:defRPr/>
            </a:pPr>
            <a:r>
              <a:rPr lang="fr-FR" sz="1800" dirty="0">
                <a:solidFill>
                  <a:srgbClr val="333333"/>
                </a:solidFill>
                <a:latin typeface="Arial"/>
                <a:cs typeface="Arial"/>
              </a:rPr>
              <a:t>Peut </a:t>
            </a:r>
            <a:r>
              <a:rPr lang="fr-FR" sz="1800" spc="-5" dirty="0">
                <a:solidFill>
                  <a:srgbClr val="333333"/>
                </a:solidFill>
                <a:latin typeface="Arial"/>
                <a:cs typeface="Arial"/>
              </a:rPr>
              <a:t>utiliser</a:t>
            </a:r>
            <a:r>
              <a:rPr lang="fr-FR" sz="1800" spc="-110" dirty="0">
                <a:solidFill>
                  <a:srgbClr val="333333"/>
                </a:solidFill>
                <a:latin typeface="Arial"/>
                <a:cs typeface="Arial"/>
              </a:rPr>
              <a:t> </a:t>
            </a:r>
            <a:r>
              <a:rPr lang="fr-FR" sz="1800" dirty="0">
                <a:solidFill>
                  <a:srgbClr val="333333"/>
                </a:solidFill>
                <a:latin typeface="Arial"/>
                <a:cs typeface="Arial"/>
              </a:rPr>
              <a:t>: TCP, UDP, </a:t>
            </a:r>
            <a:r>
              <a:rPr lang="fr-FR" sz="1800" spc="-5" dirty="0">
                <a:solidFill>
                  <a:srgbClr val="333333"/>
                </a:solidFill>
                <a:latin typeface="Arial"/>
                <a:cs typeface="Arial"/>
              </a:rPr>
              <a:t>Ethernet,</a:t>
            </a:r>
            <a:r>
              <a:rPr lang="fr-FR" sz="1800" spc="-105" dirty="0">
                <a:solidFill>
                  <a:srgbClr val="333333"/>
                </a:solidFill>
                <a:latin typeface="Arial"/>
                <a:cs typeface="Arial"/>
              </a:rPr>
              <a:t> </a:t>
            </a:r>
            <a:r>
              <a:rPr lang="fr-FR" sz="1800" spc="-5" dirty="0">
                <a:solidFill>
                  <a:srgbClr val="333333"/>
                </a:solidFill>
                <a:latin typeface="Arial"/>
                <a:cs typeface="Arial"/>
              </a:rPr>
              <a:t>PPP</a:t>
            </a:r>
            <a:endParaRPr lang="fr-FR" sz="1800" dirty="0">
              <a:solidFill>
                <a:srgbClr val="333333"/>
              </a:solidFill>
              <a:latin typeface="Arial"/>
              <a:cs typeface="Arial"/>
            </a:endParaRPr>
          </a:p>
          <a:p>
            <a:pPr marL="756285" lvl="1" indent="-286385">
              <a:spcBef>
                <a:spcPts val="480"/>
              </a:spcBef>
              <a:buClr>
                <a:srgbClr val="9999CC"/>
              </a:buClr>
              <a:buFont typeface="Wingdings" pitchFamily="2" charset="2"/>
              <a:buChar char="ü"/>
              <a:tabLst>
                <a:tab pos="756920" algn="l"/>
              </a:tabLst>
              <a:defRPr/>
            </a:pPr>
            <a:r>
              <a:rPr lang="fr-FR" sz="1800" spc="-5" dirty="0">
                <a:solidFill>
                  <a:srgbClr val="333333"/>
                </a:solidFill>
                <a:latin typeface="Arial"/>
                <a:cs typeface="Arial"/>
              </a:rPr>
              <a:t>Utilise</a:t>
            </a:r>
            <a:r>
              <a:rPr lang="fr-FR" sz="1800" spc="-85" dirty="0">
                <a:solidFill>
                  <a:srgbClr val="333333"/>
                </a:solidFill>
                <a:latin typeface="Arial"/>
                <a:cs typeface="Arial"/>
              </a:rPr>
              <a:t> </a:t>
            </a:r>
            <a:r>
              <a:rPr lang="fr-FR" sz="1800" dirty="0">
                <a:solidFill>
                  <a:srgbClr val="333333"/>
                </a:solidFill>
                <a:latin typeface="Arial"/>
                <a:cs typeface="Arial"/>
              </a:rPr>
              <a:t>: </a:t>
            </a:r>
            <a:r>
              <a:rPr lang="fr-FR" sz="1800" spc="-5" dirty="0">
                <a:solidFill>
                  <a:srgbClr val="333333"/>
                </a:solidFill>
                <a:latin typeface="Arial"/>
                <a:cs typeface="Arial"/>
              </a:rPr>
              <a:t>IP</a:t>
            </a:r>
            <a:endParaRPr lang="fr-FR" sz="1800" dirty="0">
              <a:solidFill>
                <a:srgbClr val="333333"/>
              </a:solidFill>
              <a:latin typeface="Arial"/>
              <a:cs typeface="Arial"/>
            </a:endParaRPr>
          </a:p>
        </p:txBody>
      </p:sp>
    </p:spTree>
    <p:custDataLst>
      <p:tags r:id="rId1"/>
    </p:custDataLst>
    <p:extLst>
      <p:ext uri="{BB962C8B-B14F-4D97-AF65-F5344CB8AC3E}">
        <p14:creationId xmlns:p14="http://schemas.microsoft.com/office/powerpoint/2010/main" val="2011092246"/>
      </p:ext>
    </p:extLst>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3993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Modèle Client-Serveur</a:t>
            </a:r>
          </a:p>
        </p:txBody>
      </p:sp>
      <p:pic>
        <p:nvPicPr>
          <p:cNvPr id="3994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1100" y="1071563"/>
            <a:ext cx="6781800"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9941" name="object 5"/>
          <p:cNvSpPr txBox="1">
            <a:spLocks noChangeArrowheads="1"/>
          </p:cNvSpPr>
          <p:nvPr/>
        </p:nvSpPr>
        <p:spPr bwMode="auto">
          <a:xfrm>
            <a:off x="714375" y="4451350"/>
            <a:ext cx="7847013"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42950" indent="-285750" eaLnBrk="0" hangingPunct="0">
              <a:tabLst>
                <a:tab pos="355600" algn="l"/>
              </a:tabLst>
              <a:defRPr sz="2000">
                <a:solidFill>
                  <a:schemeClr val="tx1"/>
                </a:solidFill>
                <a:latin typeface="Verdana" pitchFamily="34" charset="0"/>
                <a:cs typeface="Arial" charset="0"/>
              </a:defRPr>
            </a:lvl2pPr>
            <a:lvl3pPr marL="1270000" indent="-3429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eaLnBrk="1" hangingPunct="1">
              <a:lnSpc>
                <a:spcPct val="80000"/>
              </a:lnSpc>
              <a:buClr>
                <a:srgbClr val="00007C"/>
              </a:buClr>
              <a:buFont typeface="Wingdings" pitchFamily="2" charset="2"/>
              <a:buChar char=""/>
            </a:pPr>
            <a:r>
              <a:rPr lang="fr-FR" sz="1600">
                <a:solidFill>
                  <a:srgbClr val="333333"/>
                </a:solidFill>
                <a:latin typeface="Arial" charset="0"/>
              </a:rPr>
              <a:t>Le modèle </a:t>
            </a:r>
            <a:r>
              <a:rPr lang="fr-FR" sz="1600" b="1">
                <a:solidFill>
                  <a:srgbClr val="333333"/>
                </a:solidFill>
                <a:latin typeface="Arial" charset="0"/>
              </a:rPr>
              <a:t>Client/Serveur </a:t>
            </a:r>
            <a:r>
              <a:rPr lang="fr-FR" sz="1600">
                <a:solidFill>
                  <a:srgbClr val="333333"/>
                </a:solidFill>
                <a:latin typeface="Arial" charset="0"/>
              </a:rPr>
              <a:t>présente les avantages suivants: une  administration centralisée et une mise en oeuvre plus facile de la sécurité.</a:t>
            </a:r>
          </a:p>
          <a:p>
            <a:pPr eaLnBrk="1" hangingPunct="1">
              <a:lnSpc>
                <a:spcPct val="80000"/>
              </a:lnSpc>
              <a:spcBef>
                <a:spcPts val="425"/>
              </a:spcBef>
              <a:buClr>
                <a:srgbClr val="00007C"/>
              </a:buClr>
              <a:buFont typeface="Wingdings" pitchFamily="2" charset="2"/>
              <a:buChar char=""/>
            </a:pPr>
            <a:r>
              <a:rPr lang="fr-FR" sz="1600" b="1">
                <a:solidFill>
                  <a:srgbClr val="333333"/>
                </a:solidFill>
                <a:latin typeface="Arial" charset="0"/>
              </a:rPr>
              <a:t>Client</a:t>
            </a:r>
            <a:r>
              <a:rPr lang="fr-FR" sz="1600">
                <a:solidFill>
                  <a:srgbClr val="333333"/>
                </a:solidFill>
                <a:latin typeface="Arial" charset="0"/>
              </a:rPr>
              <a:t>: initie les échanges de données et peut aussi télécharger des  données vers le serveur (upload).</a:t>
            </a:r>
          </a:p>
          <a:p>
            <a:pPr eaLnBrk="1" hangingPunct="1">
              <a:lnSpc>
                <a:spcPct val="80000"/>
              </a:lnSpc>
              <a:spcBef>
                <a:spcPts val="425"/>
              </a:spcBef>
              <a:buClr>
                <a:srgbClr val="00007C"/>
              </a:buClr>
              <a:buFont typeface="Wingdings" pitchFamily="2" charset="2"/>
              <a:buChar char=""/>
            </a:pPr>
            <a:r>
              <a:rPr lang="fr-FR" sz="1600" b="1">
                <a:solidFill>
                  <a:srgbClr val="333333"/>
                </a:solidFill>
                <a:latin typeface="Arial" charset="0"/>
              </a:rPr>
              <a:t>Serveur</a:t>
            </a:r>
            <a:r>
              <a:rPr lang="fr-FR" sz="1600">
                <a:solidFill>
                  <a:srgbClr val="333333"/>
                </a:solidFill>
                <a:latin typeface="Arial" charset="0"/>
              </a:rPr>
              <a:t>: répond à la demande en y envoyant le ou les flux de données.</a:t>
            </a:r>
          </a:p>
          <a:p>
            <a:pPr eaLnBrk="1" hangingPunct="1">
              <a:lnSpc>
                <a:spcPct val="80000"/>
              </a:lnSpc>
              <a:spcBef>
                <a:spcPts val="425"/>
              </a:spcBef>
              <a:buClr>
                <a:srgbClr val="00007C"/>
              </a:buClr>
              <a:buFont typeface="Wingdings" pitchFamily="2" charset="2"/>
              <a:buChar char=""/>
            </a:pPr>
            <a:r>
              <a:rPr lang="fr-FR" sz="1600">
                <a:solidFill>
                  <a:srgbClr val="333333"/>
                </a:solidFill>
                <a:latin typeface="Arial" charset="0"/>
              </a:rPr>
              <a:t>Cet échange peut mettre en place la sécurité en nécessitant des  informations de contrôle et les permissions, telles que:</a:t>
            </a:r>
          </a:p>
          <a:p>
            <a:pPr lvl="2" eaLnBrk="1" hangingPunct="1">
              <a:lnSpc>
                <a:spcPct val="80000"/>
              </a:lnSpc>
              <a:spcBef>
                <a:spcPts val="425"/>
              </a:spcBef>
              <a:buClr>
                <a:srgbClr val="00007C"/>
              </a:buClr>
              <a:buFont typeface="Wingdings" pitchFamily="2" charset="2"/>
              <a:buChar char="ü"/>
            </a:pPr>
            <a:r>
              <a:rPr lang="fr-FR" sz="1800">
                <a:solidFill>
                  <a:srgbClr val="333333"/>
                </a:solidFill>
                <a:latin typeface="Arial" charset="0"/>
              </a:rPr>
              <a:t>l’authentification de l’utilisateur</a:t>
            </a:r>
          </a:p>
          <a:p>
            <a:pPr lvl="2" eaLnBrk="1" hangingPunct="1">
              <a:lnSpc>
                <a:spcPct val="80000"/>
              </a:lnSpc>
              <a:spcBef>
                <a:spcPts val="425"/>
              </a:spcBef>
              <a:buClr>
                <a:srgbClr val="00007C"/>
              </a:buClr>
              <a:buFont typeface="Wingdings" pitchFamily="2" charset="2"/>
              <a:buChar char="ü"/>
            </a:pPr>
            <a:r>
              <a:rPr lang="fr-FR" sz="1800">
                <a:solidFill>
                  <a:srgbClr val="333333"/>
                </a:solidFill>
                <a:latin typeface="Arial" charset="0"/>
              </a:rPr>
              <a:t>l’identification d’un fichier de données à transférer</a:t>
            </a:r>
          </a:p>
        </p:txBody>
      </p:sp>
    </p:spTree>
    <p:custDataLst>
      <p:tags r:id="rId1"/>
    </p:custDataLst>
    <p:extLst>
      <p:ext uri="{BB962C8B-B14F-4D97-AF65-F5344CB8AC3E}">
        <p14:creationId xmlns:p14="http://schemas.microsoft.com/office/powerpoint/2010/main" val="1166207415"/>
      </p:ext>
    </p:extLst>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096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Serveurs</a:t>
            </a:r>
          </a:p>
        </p:txBody>
      </p:sp>
      <p:pic>
        <p:nvPicPr>
          <p:cNvPr id="4096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963" y="857250"/>
            <a:ext cx="6696075" cy="407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0965" name="object 5"/>
          <p:cNvSpPr txBox="1">
            <a:spLocks noChangeArrowheads="1"/>
          </p:cNvSpPr>
          <p:nvPr/>
        </p:nvSpPr>
        <p:spPr bwMode="auto">
          <a:xfrm>
            <a:off x="571500" y="4910138"/>
            <a:ext cx="7885113"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556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eaLnBrk="1" hangingPunct="1">
              <a:buClr>
                <a:srgbClr val="00007C"/>
              </a:buClr>
              <a:buFont typeface="Wingdings" pitchFamily="2" charset="2"/>
              <a:buChar char=""/>
            </a:pPr>
            <a:r>
              <a:rPr lang="fr-FR" sz="1800">
                <a:solidFill>
                  <a:srgbClr val="333333"/>
                </a:solidFill>
                <a:latin typeface="Arial" charset="0"/>
              </a:rPr>
              <a:t>Un serveur est généralement un ordinateur qui contient des informations à  partager avec de nombreux systèmes clients.</a:t>
            </a:r>
          </a:p>
          <a:p>
            <a:pPr lvl="1" eaLnBrk="1" hangingPunct="1">
              <a:spcBef>
                <a:spcPts val="425"/>
              </a:spcBef>
              <a:buClr>
                <a:srgbClr val="9999CC"/>
              </a:buClr>
              <a:buFont typeface="Wingdings" pitchFamily="2" charset="2"/>
              <a:buChar char="ü"/>
            </a:pPr>
            <a:r>
              <a:rPr lang="fr-FR" sz="1800">
                <a:solidFill>
                  <a:srgbClr val="333333"/>
                </a:solidFill>
                <a:latin typeface="Arial" charset="0"/>
              </a:rPr>
              <a:t>Serveurs Web/ FTP</a:t>
            </a:r>
          </a:p>
          <a:p>
            <a:pPr lvl="1" eaLnBrk="1" hangingPunct="1">
              <a:spcBef>
                <a:spcPts val="425"/>
              </a:spcBef>
              <a:buClr>
                <a:srgbClr val="9999CC"/>
              </a:buClr>
              <a:buFont typeface="Wingdings" pitchFamily="2" charset="2"/>
              <a:buChar char="ü"/>
            </a:pPr>
            <a:r>
              <a:rPr lang="fr-FR" sz="1800">
                <a:solidFill>
                  <a:srgbClr val="333333"/>
                </a:solidFill>
                <a:latin typeface="Arial" charset="0"/>
              </a:rPr>
              <a:t>Serveur  de courrier</a:t>
            </a:r>
          </a:p>
          <a:p>
            <a:pPr lvl="1" eaLnBrk="1" hangingPunct="1">
              <a:spcBef>
                <a:spcPts val="425"/>
              </a:spcBef>
              <a:buClr>
                <a:srgbClr val="9999CC"/>
              </a:buClr>
              <a:buFont typeface="Wingdings" pitchFamily="2" charset="2"/>
              <a:buChar char="ü"/>
            </a:pPr>
            <a:r>
              <a:rPr lang="fr-FR" sz="1800">
                <a:solidFill>
                  <a:srgbClr val="333333"/>
                </a:solidFill>
                <a:latin typeface="Arial" charset="0"/>
              </a:rPr>
              <a:t>Serveur  de base de données</a:t>
            </a:r>
          </a:p>
          <a:p>
            <a:pPr lvl="1" eaLnBrk="1" hangingPunct="1">
              <a:spcBef>
                <a:spcPts val="425"/>
              </a:spcBef>
              <a:buClr>
                <a:srgbClr val="9999CC"/>
              </a:buClr>
              <a:buFont typeface="Wingdings" pitchFamily="2" charset="2"/>
              <a:buChar char="ü"/>
            </a:pPr>
            <a:r>
              <a:rPr lang="fr-FR" sz="1800">
                <a:solidFill>
                  <a:srgbClr val="333333"/>
                </a:solidFill>
                <a:latin typeface="Arial" charset="0"/>
              </a:rPr>
              <a:t>Serveur d’applications</a:t>
            </a:r>
          </a:p>
        </p:txBody>
      </p:sp>
    </p:spTree>
    <p:custDataLst>
      <p:tags r:id="rId1"/>
    </p:custDataLst>
    <p:extLst>
      <p:ext uri="{BB962C8B-B14F-4D97-AF65-F5344CB8AC3E}">
        <p14:creationId xmlns:p14="http://schemas.microsoft.com/office/powerpoint/2010/main" val="4292250539"/>
      </p:ext>
    </p:extLst>
  </p:cSld>
  <p:clrMapOvr>
    <a:masterClrMapping/>
  </p:clrMapOvr>
  <p:transition>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198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HTTP (HyperText Transfer Protocol)</a:t>
            </a:r>
          </a:p>
        </p:txBody>
      </p:sp>
      <p:grpSp>
        <p:nvGrpSpPr>
          <p:cNvPr id="41988" name="Groupe 4"/>
          <p:cNvGrpSpPr>
            <a:grpSpLocks/>
          </p:cNvGrpSpPr>
          <p:nvPr/>
        </p:nvGrpSpPr>
        <p:grpSpPr bwMode="auto">
          <a:xfrm>
            <a:off x="714375" y="1274763"/>
            <a:ext cx="7620000" cy="2368550"/>
            <a:chOff x="1307473" y="1409700"/>
            <a:chExt cx="7619996" cy="2368295"/>
          </a:xfrm>
        </p:grpSpPr>
        <p:sp>
          <p:nvSpPr>
            <p:cNvPr id="41991" name="object 4"/>
            <p:cNvSpPr>
              <a:spLocks noChangeArrowheads="1"/>
            </p:cNvSpPr>
            <p:nvPr/>
          </p:nvSpPr>
          <p:spPr bwMode="auto">
            <a:xfrm>
              <a:off x="6793869" y="1720596"/>
              <a:ext cx="2133600" cy="185470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41992" name="object 5"/>
            <p:cNvSpPr>
              <a:spLocks noChangeArrowheads="1"/>
            </p:cNvSpPr>
            <p:nvPr/>
          </p:nvSpPr>
          <p:spPr bwMode="auto">
            <a:xfrm>
              <a:off x="7174869" y="1872995"/>
              <a:ext cx="1295400" cy="82143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41993" name="object 6"/>
            <p:cNvSpPr>
              <a:spLocks noChangeArrowheads="1"/>
            </p:cNvSpPr>
            <p:nvPr/>
          </p:nvSpPr>
          <p:spPr bwMode="auto">
            <a:xfrm>
              <a:off x="1307473" y="1644396"/>
              <a:ext cx="2270758" cy="2133599"/>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41994" name="object 7"/>
            <p:cNvSpPr>
              <a:spLocks noChangeArrowheads="1"/>
            </p:cNvSpPr>
            <p:nvPr/>
          </p:nvSpPr>
          <p:spPr bwMode="auto">
            <a:xfrm>
              <a:off x="1764669" y="2025395"/>
              <a:ext cx="1295400" cy="82143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41995" name="object 8"/>
            <p:cNvSpPr>
              <a:spLocks noChangeArrowheads="1"/>
            </p:cNvSpPr>
            <p:nvPr/>
          </p:nvSpPr>
          <p:spPr bwMode="auto">
            <a:xfrm>
              <a:off x="3136269" y="1568195"/>
              <a:ext cx="4038600" cy="152400"/>
            </a:xfrm>
            <a:custGeom>
              <a:avLst/>
              <a:gdLst>
                <a:gd name="T0" fmla="*/ 0 w 4038600"/>
                <a:gd name="T1" fmla="*/ 0 h 152400"/>
                <a:gd name="T2" fmla="*/ 4038600 w 4038600"/>
                <a:gd name="T3" fmla="*/ 152400 h 152400"/>
              </a:gdLst>
              <a:ahLst/>
              <a:cxnLst/>
              <a:rect l="T0" t="T1" r="T2" b="T3"/>
              <a:pathLst>
                <a:path w="4038600" h="152400">
                  <a:moveTo>
                    <a:pt x="152399" y="51815"/>
                  </a:moveTo>
                  <a:lnTo>
                    <a:pt x="152399" y="0"/>
                  </a:lnTo>
                  <a:lnTo>
                    <a:pt x="0" y="76199"/>
                  </a:lnTo>
                  <a:lnTo>
                    <a:pt x="128015" y="140207"/>
                  </a:lnTo>
                  <a:lnTo>
                    <a:pt x="128015" y="51815"/>
                  </a:lnTo>
                  <a:lnTo>
                    <a:pt x="152399" y="51815"/>
                  </a:lnTo>
                  <a:close/>
                </a:path>
                <a:path w="4038600" h="152400">
                  <a:moveTo>
                    <a:pt x="3912107" y="102107"/>
                  </a:moveTo>
                  <a:lnTo>
                    <a:pt x="3912107" y="51815"/>
                  </a:lnTo>
                  <a:lnTo>
                    <a:pt x="128015" y="51815"/>
                  </a:lnTo>
                  <a:lnTo>
                    <a:pt x="128015" y="102107"/>
                  </a:lnTo>
                  <a:lnTo>
                    <a:pt x="3912107" y="102107"/>
                  </a:lnTo>
                  <a:close/>
                </a:path>
                <a:path w="4038600" h="152400">
                  <a:moveTo>
                    <a:pt x="152399" y="152399"/>
                  </a:moveTo>
                  <a:lnTo>
                    <a:pt x="152399" y="102107"/>
                  </a:lnTo>
                  <a:lnTo>
                    <a:pt x="128015" y="102107"/>
                  </a:lnTo>
                  <a:lnTo>
                    <a:pt x="128015" y="140207"/>
                  </a:lnTo>
                  <a:lnTo>
                    <a:pt x="152399" y="152399"/>
                  </a:lnTo>
                  <a:close/>
                </a:path>
                <a:path w="4038600" h="152400">
                  <a:moveTo>
                    <a:pt x="4038599" y="76199"/>
                  </a:moveTo>
                  <a:lnTo>
                    <a:pt x="3886199" y="0"/>
                  </a:lnTo>
                  <a:lnTo>
                    <a:pt x="3886199" y="51815"/>
                  </a:lnTo>
                  <a:lnTo>
                    <a:pt x="3912107" y="51815"/>
                  </a:lnTo>
                  <a:lnTo>
                    <a:pt x="3912107" y="139445"/>
                  </a:lnTo>
                  <a:lnTo>
                    <a:pt x="4038599" y="76199"/>
                  </a:lnTo>
                  <a:close/>
                </a:path>
                <a:path w="4038600" h="152400">
                  <a:moveTo>
                    <a:pt x="3912107" y="139445"/>
                  </a:moveTo>
                  <a:lnTo>
                    <a:pt x="3912107" y="102107"/>
                  </a:lnTo>
                  <a:lnTo>
                    <a:pt x="3886199" y="102107"/>
                  </a:lnTo>
                  <a:lnTo>
                    <a:pt x="3886199" y="152399"/>
                  </a:lnTo>
                  <a:lnTo>
                    <a:pt x="3912107" y="139445"/>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11" name="object 9"/>
            <p:cNvSpPr txBox="1"/>
            <p:nvPr/>
          </p:nvSpPr>
          <p:spPr>
            <a:xfrm>
              <a:off x="3139447" y="2217650"/>
              <a:ext cx="730250" cy="558740"/>
            </a:xfrm>
            <a:prstGeom prst="rect">
              <a:avLst/>
            </a:prstGeom>
          </p:spPr>
          <p:txBody>
            <a:bodyPr lIns="0" tIns="0" rIns="0" bIns="0">
              <a:spAutoFit/>
            </a:bodyPr>
            <a:lstStyle/>
            <a:p>
              <a:pPr marL="12700">
                <a:defRPr/>
              </a:pPr>
              <a:r>
                <a:rPr sz="1800" b="1" spc="-5" dirty="0">
                  <a:solidFill>
                    <a:srgbClr val="FF0000"/>
                  </a:solidFill>
                  <a:latin typeface="Arial"/>
                  <a:cs typeface="Arial"/>
                </a:rPr>
                <a:t>HTTP</a:t>
              </a:r>
              <a:endParaRPr sz="1800">
                <a:latin typeface="Arial"/>
                <a:cs typeface="Arial"/>
              </a:endParaRPr>
            </a:p>
            <a:p>
              <a:pPr marL="12700">
                <a:defRPr/>
              </a:pPr>
              <a:r>
                <a:rPr sz="1800" b="1" spc="-5" dirty="0">
                  <a:solidFill>
                    <a:srgbClr val="FF0000"/>
                  </a:solidFill>
                  <a:latin typeface="Arial"/>
                  <a:cs typeface="Arial"/>
                </a:rPr>
                <a:t>S</a:t>
              </a:r>
              <a:r>
                <a:rPr sz="1800" b="1" spc="-10" dirty="0">
                  <a:solidFill>
                    <a:srgbClr val="FF0000"/>
                  </a:solidFill>
                  <a:latin typeface="Arial"/>
                  <a:cs typeface="Arial"/>
                </a:rPr>
                <a:t>er</a:t>
              </a:r>
              <a:r>
                <a:rPr sz="1800" b="1" spc="-50" dirty="0">
                  <a:solidFill>
                    <a:srgbClr val="FF0000"/>
                  </a:solidFill>
                  <a:latin typeface="Arial"/>
                  <a:cs typeface="Arial"/>
                </a:rPr>
                <a:t>v</a:t>
              </a:r>
              <a:r>
                <a:rPr sz="1800" b="1" spc="-10" dirty="0">
                  <a:solidFill>
                    <a:srgbClr val="FF0000"/>
                  </a:solidFill>
                  <a:latin typeface="Arial"/>
                  <a:cs typeface="Arial"/>
                </a:rPr>
                <a:t>e</a:t>
              </a:r>
              <a:r>
                <a:rPr sz="1800" b="1" spc="-5" dirty="0">
                  <a:solidFill>
                    <a:srgbClr val="FF0000"/>
                  </a:solidFill>
                  <a:latin typeface="Arial"/>
                  <a:cs typeface="Arial"/>
                </a:rPr>
                <a:t>r</a:t>
              </a:r>
              <a:endParaRPr sz="1800">
                <a:latin typeface="Arial"/>
                <a:cs typeface="Arial"/>
              </a:endParaRPr>
            </a:p>
          </p:txBody>
        </p:sp>
        <p:sp>
          <p:nvSpPr>
            <p:cNvPr id="12" name="object 10"/>
            <p:cNvSpPr txBox="1"/>
            <p:nvPr/>
          </p:nvSpPr>
          <p:spPr>
            <a:xfrm>
              <a:off x="6357308" y="2065266"/>
              <a:ext cx="666750" cy="558740"/>
            </a:xfrm>
            <a:prstGeom prst="rect">
              <a:avLst/>
            </a:prstGeom>
          </p:spPr>
          <p:txBody>
            <a:bodyPr lIns="0" tIns="0" rIns="0" bIns="0">
              <a:spAutoFit/>
            </a:bodyPr>
            <a:lstStyle/>
            <a:p>
              <a:pPr marL="55244">
                <a:defRPr/>
              </a:pPr>
              <a:r>
                <a:rPr sz="1800" b="1" spc="-10" dirty="0">
                  <a:solidFill>
                    <a:srgbClr val="FF0000"/>
                  </a:solidFill>
                  <a:latin typeface="Arial"/>
                  <a:cs typeface="Arial"/>
                </a:rPr>
                <a:t>H</a:t>
              </a:r>
              <a:r>
                <a:rPr sz="1800" b="1" dirty="0">
                  <a:solidFill>
                    <a:srgbClr val="FF0000"/>
                  </a:solidFill>
                  <a:latin typeface="Arial"/>
                  <a:cs typeface="Arial"/>
                </a:rPr>
                <a:t>TTP</a:t>
              </a:r>
              <a:endParaRPr sz="1800">
                <a:latin typeface="Arial"/>
                <a:cs typeface="Arial"/>
              </a:endParaRPr>
            </a:p>
            <a:p>
              <a:pPr marL="12700">
                <a:defRPr/>
              </a:pPr>
              <a:r>
                <a:rPr sz="1800" b="1" spc="-5" dirty="0">
                  <a:solidFill>
                    <a:srgbClr val="FF0000"/>
                  </a:solidFill>
                  <a:latin typeface="Arial"/>
                  <a:cs typeface="Arial"/>
                </a:rPr>
                <a:t>Client</a:t>
              </a:r>
              <a:endParaRPr sz="1800">
                <a:latin typeface="Arial"/>
                <a:cs typeface="Arial"/>
              </a:endParaRPr>
            </a:p>
          </p:txBody>
        </p:sp>
        <p:sp>
          <p:nvSpPr>
            <p:cNvPr id="41998" name="object 11"/>
            <p:cNvSpPr>
              <a:spLocks noChangeArrowheads="1"/>
            </p:cNvSpPr>
            <p:nvPr/>
          </p:nvSpPr>
          <p:spPr bwMode="auto">
            <a:xfrm>
              <a:off x="3517270" y="3092195"/>
              <a:ext cx="3047999" cy="455676"/>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41999" name="object 12"/>
            <p:cNvSpPr>
              <a:spLocks noChangeArrowheads="1"/>
            </p:cNvSpPr>
            <p:nvPr/>
          </p:nvSpPr>
          <p:spPr bwMode="auto">
            <a:xfrm>
              <a:off x="7397374" y="1409700"/>
              <a:ext cx="928369" cy="393700"/>
            </a:xfrm>
            <a:custGeom>
              <a:avLst/>
              <a:gdLst>
                <a:gd name="T0" fmla="*/ 0 w 928370"/>
                <a:gd name="T1" fmla="*/ 0 h 393700"/>
                <a:gd name="T2" fmla="*/ 928370 w 928370"/>
                <a:gd name="T3" fmla="*/ 393700 h 393700"/>
              </a:gdLst>
              <a:ahLst/>
              <a:cxnLst/>
              <a:rect l="T0" t="T1" r="T2" b="T3"/>
              <a:pathLst>
                <a:path w="928370" h="393700">
                  <a:moveTo>
                    <a:pt x="928115" y="393191"/>
                  </a:moveTo>
                  <a:lnTo>
                    <a:pt x="928115" y="0"/>
                  </a:lnTo>
                  <a:lnTo>
                    <a:pt x="0" y="0"/>
                  </a:lnTo>
                  <a:lnTo>
                    <a:pt x="0" y="393191"/>
                  </a:lnTo>
                  <a:lnTo>
                    <a:pt x="6095" y="393191"/>
                  </a:lnTo>
                  <a:lnTo>
                    <a:pt x="6095" y="13715"/>
                  </a:lnTo>
                  <a:lnTo>
                    <a:pt x="13715" y="6095"/>
                  </a:lnTo>
                  <a:lnTo>
                    <a:pt x="13715" y="13715"/>
                  </a:lnTo>
                  <a:lnTo>
                    <a:pt x="914399" y="13715"/>
                  </a:lnTo>
                  <a:lnTo>
                    <a:pt x="914399" y="6095"/>
                  </a:lnTo>
                  <a:lnTo>
                    <a:pt x="920495" y="13715"/>
                  </a:lnTo>
                  <a:lnTo>
                    <a:pt x="920495" y="393191"/>
                  </a:lnTo>
                  <a:lnTo>
                    <a:pt x="928115" y="393191"/>
                  </a:lnTo>
                  <a:close/>
                </a:path>
                <a:path w="928370" h="393700">
                  <a:moveTo>
                    <a:pt x="13715" y="13715"/>
                  </a:moveTo>
                  <a:lnTo>
                    <a:pt x="13715" y="6095"/>
                  </a:lnTo>
                  <a:lnTo>
                    <a:pt x="6095" y="13715"/>
                  </a:lnTo>
                  <a:lnTo>
                    <a:pt x="13715" y="13715"/>
                  </a:lnTo>
                  <a:close/>
                </a:path>
                <a:path w="928370" h="393700">
                  <a:moveTo>
                    <a:pt x="13715" y="379475"/>
                  </a:moveTo>
                  <a:lnTo>
                    <a:pt x="13715" y="13715"/>
                  </a:lnTo>
                  <a:lnTo>
                    <a:pt x="6095" y="13715"/>
                  </a:lnTo>
                  <a:lnTo>
                    <a:pt x="6095" y="379475"/>
                  </a:lnTo>
                  <a:lnTo>
                    <a:pt x="13715" y="379475"/>
                  </a:lnTo>
                  <a:close/>
                </a:path>
                <a:path w="928370" h="393700">
                  <a:moveTo>
                    <a:pt x="920495" y="379475"/>
                  </a:moveTo>
                  <a:lnTo>
                    <a:pt x="6095" y="379475"/>
                  </a:lnTo>
                  <a:lnTo>
                    <a:pt x="13715" y="385571"/>
                  </a:lnTo>
                  <a:lnTo>
                    <a:pt x="13715" y="393191"/>
                  </a:lnTo>
                  <a:lnTo>
                    <a:pt x="914399" y="393191"/>
                  </a:lnTo>
                  <a:lnTo>
                    <a:pt x="914399" y="385571"/>
                  </a:lnTo>
                  <a:lnTo>
                    <a:pt x="920495" y="379475"/>
                  </a:lnTo>
                  <a:close/>
                </a:path>
                <a:path w="928370" h="393700">
                  <a:moveTo>
                    <a:pt x="13715" y="393191"/>
                  </a:moveTo>
                  <a:lnTo>
                    <a:pt x="13715" y="385571"/>
                  </a:lnTo>
                  <a:lnTo>
                    <a:pt x="6095" y="379475"/>
                  </a:lnTo>
                  <a:lnTo>
                    <a:pt x="6095" y="393191"/>
                  </a:lnTo>
                  <a:lnTo>
                    <a:pt x="13715" y="393191"/>
                  </a:lnTo>
                  <a:close/>
                </a:path>
                <a:path w="928370" h="393700">
                  <a:moveTo>
                    <a:pt x="920495" y="13715"/>
                  </a:moveTo>
                  <a:lnTo>
                    <a:pt x="914399" y="6095"/>
                  </a:lnTo>
                  <a:lnTo>
                    <a:pt x="914399" y="13715"/>
                  </a:lnTo>
                  <a:lnTo>
                    <a:pt x="920495" y="13715"/>
                  </a:lnTo>
                  <a:close/>
                </a:path>
                <a:path w="928370" h="393700">
                  <a:moveTo>
                    <a:pt x="920495" y="379475"/>
                  </a:moveTo>
                  <a:lnTo>
                    <a:pt x="920495" y="13715"/>
                  </a:lnTo>
                  <a:lnTo>
                    <a:pt x="914399" y="13715"/>
                  </a:lnTo>
                  <a:lnTo>
                    <a:pt x="914399" y="379475"/>
                  </a:lnTo>
                  <a:lnTo>
                    <a:pt x="920495" y="379475"/>
                  </a:lnTo>
                  <a:close/>
                </a:path>
                <a:path w="928370" h="393700">
                  <a:moveTo>
                    <a:pt x="920495" y="393191"/>
                  </a:moveTo>
                  <a:lnTo>
                    <a:pt x="920495" y="379475"/>
                  </a:lnTo>
                  <a:lnTo>
                    <a:pt x="914399" y="385571"/>
                  </a:lnTo>
                  <a:lnTo>
                    <a:pt x="914399" y="393191"/>
                  </a:lnTo>
                  <a:lnTo>
                    <a:pt x="920495" y="393191"/>
                  </a:lnTo>
                  <a:close/>
                </a:path>
              </a:pathLst>
            </a:cu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15" name="object 13"/>
            <p:cNvSpPr txBox="1"/>
            <p:nvPr/>
          </p:nvSpPr>
          <p:spPr>
            <a:xfrm>
              <a:off x="7482845" y="1455732"/>
              <a:ext cx="622300" cy="284132"/>
            </a:xfrm>
            <a:prstGeom prst="rect">
              <a:avLst/>
            </a:prstGeom>
          </p:spPr>
          <p:txBody>
            <a:bodyPr lIns="0" tIns="0" rIns="0" bIns="0">
              <a:spAutoFit/>
            </a:bodyPr>
            <a:lstStyle/>
            <a:p>
              <a:pPr marL="12700">
                <a:defRPr/>
              </a:pPr>
              <a:r>
                <a:rPr sz="1800" b="1" spc="-10" dirty="0">
                  <a:latin typeface="Arial"/>
                  <a:cs typeface="Arial"/>
                </a:rPr>
                <a:t>H</a:t>
              </a:r>
              <a:r>
                <a:rPr sz="1800" b="1" dirty="0">
                  <a:latin typeface="Arial"/>
                  <a:cs typeface="Arial"/>
                </a:rPr>
                <a:t>TTP</a:t>
              </a:r>
              <a:endParaRPr sz="1800">
                <a:latin typeface="Arial"/>
                <a:cs typeface="Arial"/>
              </a:endParaRPr>
            </a:p>
          </p:txBody>
        </p:sp>
        <p:sp>
          <p:nvSpPr>
            <p:cNvPr id="42001" name="object 14"/>
            <p:cNvSpPr>
              <a:spLocks noChangeArrowheads="1"/>
            </p:cNvSpPr>
            <p:nvPr/>
          </p:nvSpPr>
          <p:spPr bwMode="auto">
            <a:xfrm>
              <a:off x="2139574" y="1485900"/>
              <a:ext cx="928369" cy="393700"/>
            </a:xfrm>
            <a:custGeom>
              <a:avLst/>
              <a:gdLst>
                <a:gd name="T0" fmla="*/ 0 w 928369"/>
                <a:gd name="T1" fmla="*/ 0 h 393700"/>
                <a:gd name="T2" fmla="*/ 928369 w 928369"/>
                <a:gd name="T3" fmla="*/ 393700 h 393700"/>
              </a:gdLst>
              <a:ahLst/>
              <a:cxnLst/>
              <a:rect l="T0" t="T1" r="T2" b="T3"/>
              <a:pathLst>
                <a:path w="928369" h="393700">
                  <a:moveTo>
                    <a:pt x="928115" y="393191"/>
                  </a:moveTo>
                  <a:lnTo>
                    <a:pt x="928115" y="0"/>
                  </a:lnTo>
                  <a:lnTo>
                    <a:pt x="0" y="0"/>
                  </a:lnTo>
                  <a:lnTo>
                    <a:pt x="0" y="393191"/>
                  </a:lnTo>
                  <a:lnTo>
                    <a:pt x="6095" y="393191"/>
                  </a:lnTo>
                  <a:lnTo>
                    <a:pt x="6095" y="13715"/>
                  </a:lnTo>
                  <a:lnTo>
                    <a:pt x="13715" y="6095"/>
                  </a:lnTo>
                  <a:lnTo>
                    <a:pt x="13715" y="13715"/>
                  </a:lnTo>
                  <a:lnTo>
                    <a:pt x="914399" y="13715"/>
                  </a:lnTo>
                  <a:lnTo>
                    <a:pt x="914399" y="6095"/>
                  </a:lnTo>
                  <a:lnTo>
                    <a:pt x="920495" y="13715"/>
                  </a:lnTo>
                  <a:lnTo>
                    <a:pt x="920495" y="393191"/>
                  </a:lnTo>
                  <a:lnTo>
                    <a:pt x="928115" y="393191"/>
                  </a:lnTo>
                  <a:close/>
                </a:path>
                <a:path w="928369" h="393700">
                  <a:moveTo>
                    <a:pt x="13715" y="13715"/>
                  </a:moveTo>
                  <a:lnTo>
                    <a:pt x="13715" y="6095"/>
                  </a:lnTo>
                  <a:lnTo>
                    <a:pt x="6095" y="13715"/>
                  </a:lnTo>
                  <a:lnTo>
                    <a:pt x="13715" y="13715"/>
                  </a:lnTo>
                  <a:close/>
                </a:path>
                <a:path w="928369" h="393700">
                  <a:moveTo>
                    <a:pt x="13715" y="379475"/>
                  </a:moveTo>
                  <a:lnTo>
                    <a:pt x="13715" y="13715"/>
                  </a:lnTo>
                  <a:lnTo>
                    <a:pt x="6095" y="13715"/>
                  </a:lnTo>
                  <a:lnTo>
                    <a:pt x="6095" y="379475"/>
                  </a:lnTo>
                  <a:lnTo>
                    <a:pt x="13715" y="379475"/>
                  </a:lnTo>
                  <a:close/>
                </a:path>
                <a:path w="928369" h="393700">
                  <a:moveTo>
                    <a:pt x="920495" y="379475"/>
                  </a:moveTo>
                  <a:lnTo>
                    <a:pt x="6095" y="379475"/>
                  </a:lnTo>
                  <a:lnTo>
                    <a:pt x="13715" y="385571"/>
                  </a:lnTo>
                  <a:lnTo>
                    <a:pt x="13715" y="393191"/>
                  </a:lnTo>
                  <a:lnTo>
                    <a:pt x="914399" y="393191"/>
                  </a:lnTo>
                  <a:lnTo>
                    <a:pt x="914399" y="385571"/>
                  </a:lnTo>
                  <a:lnTo>
                    <a:pt x="920495" y="379475"/>
                  </a:lnTo>
                  <a:close/>
                </a:path>
                <a:path w="928369" h="393700">
                  <a:moveTo>
                    <a:pt x="13715" y="393191"/>
                  </a:moveTo>
                  <a:lnTo>
                    <a:pt x="13715" y="385571"/>
                  </a:lnTo>
                  <a:lnTo>
                    <a:pt x="6095" y="379475"/>
                  </a:lnTo>
                  <a:lnTo>
                    <a:pt x="6095" y="393191"/>
                  </a:lnTo>
                  <a:lnTo>
                    <a:pt x="13715" y="393191"/>
                  </a:lnTo>
                  <a:close/>
                </a:path>
                <a:path w="928369" h="393700">
                  <a:moveTo>
                    <a:pt x="920495" y="13715"/>
                  </a:moveTo>
                  <a:lnTo>
                    <a:pt x="914399" y="6095"/>
                  </a:lnTo>
                  <a:lnTo>
                    <a:pt x="914399" y="13715"/>
                  </a:lnTo>
                  <a:lnTo>
                    <a:pt x="920495" y="13715"/>
                  </a:lnTo>
                  <a:close/>
                </a:path>
                <a:path w="928369" h="393700">
                  <a:moveTo>
                    <a:pt x="920495" y="379475"/>
                  </a:moveTo>
                  <a:lnTo>
                    <a:pt x="920495" y="13715"/>
                  </a:lnTo>
                  <a:lnTo>
                    <a:pt x="914399" y="13715"/>
                  </a:lnTo>
                  <a:lnTo>
                    <a:pt x="914399" y="379475"/>
                  </a:lnTo>
                  <a:lnTo>
                    <a:pt x="920495" y="379475"/>
                  </a:lnTo>
                  <a:close/>
                </a:path>
                <a:path w="928369" h="393700">
                  <a:moveTo>
                    <a:pt x="920495" y="393191"/>
                  </a:moveTo>
                  <a:lnTo>
                    <a:pt x="920495" y="379475"/>
                  </a:lnTo>
                  <a:lnTo>
                    <a:pt x="914399" y="385571"/>
                  </a:lnTo>
                  <a:lnTo>
                    <a:pt x="914399" y="393191"/>
                  </a:lnTo>
                  <a:lnTo>
                    <a:pt x="920495" y="393191"/>
                  </a:lnTo>
                  <a:close/>
                </a:path>
              </a:pathLst>
            </a:cu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17" name="object 15"/>
            <p:cNvSpPr txBox="1"/>
            <p:nvPr/>
          </p:nvSpPr>
          <p:spPr>
            <a:xfrm>
              <a:off x="2225048" y="1531924"/>
              <a:ext cx="622300" cy="274608"/>
            </a:xfrm>
            <a:prstGeom prst="rect">
              <a:avLst/>
            </a:prstGeom>
          </p:spPr>
          <p:txBody>
            <a:bodyPr lIns="0" tIns="0" rIns="0" bIns="0">
              <a:spAutoFit/>
            </a:bodyPr>
            <a:lstStyle/>
            <a:p>
              <a:pPr marL="12700">
                <a:defRPr/>
              </a:pPr>
              <a:r>
                <a:rPr sz="1800" b="1" spc="-10" dirty="0">
                  <a:latin typeface="Arial"/>
                  <a:cs typeface="Arial"/>
                </a:rPr>
                <a:t>H</a:t>
              </a:r>
              <a:r>
                <a:rPr sz="1800" b="1" dirty="0">
                  <a:latin typeface="Arial"/>
                  <a:cs typeface="Arial"/>
                </a:rPr>
                <a:t>TTP</a:t>
              </a:r>
              <a:endParaRPr sz="1800">
                <a:latin typeface="Arial"/>
                <a:cs typeface="Arial"/>
              </a:endParaRPr>
            </a:p>
          </p:txBody>
        </p:sp>
      </p:grpSp>
      <p:sp>
        <p:nvSpPr>
          <p:cNvPr id="41989" name="object 16"/>
          <p:cNvSpPr txBox="1">
            <a:spLocks noChangeArrowheads="1"/>
          </p:cNvSpPr>
          <p:nvPr/>
        </p:nvSpPr>
        <p:spPr bwMode="auto">
          <a:xfrm>
            <a:off x="857250" y="4100513"/>
            <a:ext cx="7916863"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556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eaLnBrk="1" hangingPunct="1">
              <a:lnSpc>
                <a:spcPts val="1988"/>
              </a:lnSpc>
              <a:buClr>
                <a:srgbClr val="00007C"/>
              </a:buClr>
              <a:buFont typeface="Wingdings" pitchFamily="2" charset="2"/>
              <a:buChar char=""/>
            </a:pPr>
            <a:r>
              <a:rPr lang="fr-FR">
                <a:solidFill>
                  <a:srgbClr val="333333"/>
                </a:solidFill>
                <a:latin typeface="Arial" charset="0"/>
              </a:rPr>
              <a:t>HTTP: </a:t>
            </a:r>
            <a:r>
              <a:rPr lang="fr-FR" sz="1800">
                <a:solidFill>
                  <a:srgbClr val="333333"/>
                </a:solidFill>
                <a:latin typeface="Arial" charset="0"/>
              </a:rPr>
              <a:t>Le protocole Web de la couche Application qui peut transférer les  données d’un serveur Web à un client.</a:t>
            </a:r>
          </a:p>
          <a:p>
            <a:pPr eaLnBrk="1" hangingPunct="1">
              <a:spcBef>
                <a:spcPts val="175"/>
              </a:spcBef>
              <a:buClr>
                <a:srgbClr val="00007C"/>
              </a:buClr>
              <a:buFont typeface="Wingdings" pitchFamily="2" charset="2"/>
              <a:buChar char=""/>
            </a:pPr>
            <a:r>
              <a:rPr lang="fr-FR" sz="1800">
                <a:solidFill>
                  <a:srgbClr val="333333"/>
                </a:solidFill>
                <a:latin typeface="Arial" charset="0"/>
              </a:rPr>
              <a:t>RFC 1945 et RFC 2616</a:t>
            </a:r>
          </a:p>
          <a:p>
            <a:pPr eaLnBrk="1" hangingPunct="1">
              <a:spcBef>
                <a:spcPts val="213"/>
              </a:spcBef>
              <a:buClr>
                <a:srgbClr val="00007C"/>
              </a:buClr>
              <a:buFont typeface="Wingdings" pitchFamily="2" charset="2"/>
              <a:buChar char=""/>
            </a:pPr>
            <a:r>
              <a:rPr lang="fr-FR" sz="1800">
                <a:solidFill>
                  <a:srgbClr val="333333"/>
                </a:solidFill>
                <a:latin typeface="Arial" charset="0"/>
              </a:rPr>
              <a:t>Implémenté dans:</a:t>
            </a:r>
          </a:p>
          <a:p>
            <a:pPr lvl="1" eaLnBrk="1" hangingPunct="1">
              <a:spcBef>
                <a:spcPts val="213"/>
              </a:spcBef>
              <a:buClr>
                <a:srgbClr val="9999CC"/>
              </a:buClr>
              <a:buFont typeface="Wingdings" pitchFamily="2" charset="2"/>
              <a:buChar char=""/>
            </a:pPr>
            <a:r>
              <a:rPr lang="fr-FR" sz="1800" b="1">
                <a:solidFill>
                  <a:srgbClr val="333333"/>
                </a:solidFill>
                <a:latin typeface="Arial" charset="0"/>
              </a:rPr>
              <a:t>Les logiciels Client</a:t>
            </a:r>
            <a:endParaRPr lang="fr-FR" sz="1800">
              <a:solidFill>
                <a:srgbClr val="333333"/>
              </a:solidFill>
              <a:latin typeface="Arial" charset="0"/>
            </a:endParaRPr>
          </a:p>
          <a:p>
            <a:pPr lvl="1" eaLnBrk="1" hangingPunct="1">
              <a:spcBef>
                <a:spcPts val="213"/>
              </a:spcBef>
              <a:buClr>
                <a:srgbClr val="9999CC"/>
              </a:buClr>
              <a:buFont typeface="Wingdings" pitchFamily="2" charset="2"/>
              <a:buChar char=""/>
            </a:pPr>
            <a:r>
              <a:rPr lang="fr-FR" sz="1800" b="1">
                <a:solidFill>
                  <a:srgbClr val="333333"/>
                </a:solidFill>
                <a:latin typeface="Arial" charset="0"/>
              </a:rPr>
              <a:t>Les logiciels Serveur</a:t>
            </a:r>
            <a:endParaRPr lang="fr-FR" sz="1800">
              <a:solidFill>
                <a:srgbClr val="333333"/>
              </a:solidFill>
              <a:latin typeface="Arial" charset="0"/>
            </a:endParaRPr>
          </a:p>
          <a:p>
            <a:pPr eaLnBrk="1" hangingPunct="1">
              <a:spcBef>
                <a:spcPts val="213"/>
              </a:spcBef>
              <a:buClr>
                <a:srgbClr val="00007C"/>
              </a:buClr>
              <a:buFont typeface="Wingdings" pitchFamily="2" charset="2"/>
              <a:buChar char=""/>
            </a:pPr>
            <a:r>
              <a:rPr lang="fr-FR" sz="1800">
                <a:solidFill>
                  <a:srgbClr val="333333"/>
                </a:solidFill>
                <a:latin typeface="Arial" charset="0"/>
              </a:rPr>
              <a:t>Encapsulée dans le protocole </a:t>
            </a:r>
            <a:r>
              <a:rPr lang="fr-FR" sz="1800" b="1">
                <a:solidFill>
                  <a:srgbClr val="333333"/>
                </a:solidFill>
                <a:latin typeface="Arial" charset="0"/>
              </a:rPr>
              <a:t>TCP</a:t>
            </a:r>
            <a:endParaRPr lang="fr-FR" sz="1800">
              <a:solidFill>
                <a:srgbClr val="333333"/>
              </a:solidFill>
              <a:latin typeface="Arial" charset="0"/>
            </a:endParaRPr>
          </a:p>
          <a:p>
            <a:pPr eaLnBrk="1" hangingPunct="1">
              <a:spcBef>
                <a:spcPts val="213"/>
              </a:spcBef>
              <a:buClr>
                <a:srgbClr val="00007C"/>
              </a:buClr>
              <a:buFont typeface="Wingdings" pitchFamily="2" charset="2"/>
              <a:buChar char=""/>
            </a:pPr>
            <a:r>
              <a:rPr lang="fr-FR" sz="1800">
                <a:solidFill>
                  <a:srgbClr val="333333"/>
                </a:solidFill>
                <a:latin typeface="Arial" charset="0"/>
              </a:rPr>
              <a:t>Constitue un protocole de </a:t>
            </a:r>
            <a:r>
              <a:rPr lang="fr-FR" sz="1800" b="1">
                <a:solidFill>
                  <a:srgbClr val="333333"/>
                </a:solidFill>
                <a:latin typeface="Arial" charset="0"/>
              </a:rPr>
              <a:t>requête/réponse</a:t>
            </a:r>
            <a:endParaRPr lang="fr-FR" sz="1800">
              <a:solidFill>
                <a:srgbClr val="333333"/>
              </a:solidFill>
              <a:latin typeface="Arial" charset="0"/>
            </a:endParaRPr>
          </a:p>
        </p:txBody>
      </p:sp>
    </p:spTree>
    <p:custDataLst>
      <p:tags r:id="rId1"/>
    </p:custDataLst>
    <p:extLst>
      <p:ext uri="{BB962C8B-B14F-4D97-AF65-F5344CB8AC3E}">
        <p14:creationId xmlns:p14="http://schemas.microsoft.com/office/powerpoint/2010/main" val="1322553403"/>
      </p:ext>
    </p:extLst>
  </p:cSld>
  <p:clrMapOvr>
    <a:masterClrMapping/>
  </p:clrMapOvr>
  <p:transition>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301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Navigateur Web - Client</a:t>
            </a:r>
          </a:p>
        </p:txBody>
      </p:sp>
      <p:grpSp>
        <p:nvGrpSpPr>
          <p:cNvPr id="43012" name="Groupe 4"/>
          <p:cNvGrpSpPr>
            <a:grpSpLocks/>
          </p:cNvGrpSpPr>
          <p:nvPr/>
        </p:nvGrpSpPr>
        <p:grpSpPr bwMode="auto">
          <a:xfrm>
            <a:off x="2500313" y="1071563"/>
            <a:ext cx="2722562" cy="1676400"/>
            <a:chOff x="1480705" y="2101595"/>
            <a:chExt cx="2722364" cy="1676399"/>
          </a:xfrm>
        </p:grpSpPr>
        <p:sp>
          <p:nvSpPr>
            <p:cNvPr id="43015" name="object 4"/>
            <p:cNvSpPr>
              <a:spLocks noChangeArrowheads="1"/>
            </p:cNvSpPr>
            <p:nvPr/>
          </p:nvSpPr>
          <p:spPr bwMode="auto">
            <a:xfrm>
              <a:off x="2069469" y="2101595"/>
              <a:ext cx="2133600" cy="1676399"/>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43016" name="object 6"/>
            <p:cNvSpPr txBox="1">
              <a:spLocks noChangeArrowheads="1"/>
            </p:cNvSpPr>
            <p:nvPr/>
          </p:nvSpPr>
          <p:spPr bwMode="auto">
            <a:xfrm>
              <a:off x="1480705" y="3055681"/>
              <a:ext cx="666702"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3975" indent="-42863"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r>
                <a:rPr lang="fr-FR" sz="1800" b="1">
                  <a:solidFill>
                    <a:srgbClr val="FF0000"/>
                  </a:solidFill>
                  <a:latin typeface="Arial" charset="0"/>
                </a:rPr>
                <a:t>Client  HTTP</a:t>
              </a:r>
              <a:endParaRPr lang="fr-FR" sz="1800">
                <a:latin typeface="Arial" charset="0"/>
              </a:endParaRPr>
            </a:p>
          </p:txBody>
        </p:sp>
      </p:grpSp>
      <p:sp>
        <p:nvSpPr>
          <p:cNvPr id="43013" name="object 7"/>
          <p:cNvSpPr txBox="1">
            <a:spLocks noChangeArrowheads="1"/>
          </p:cNvSpPr>
          <p:nvPr/>
        </p:nvSpPr>
        <p:spPr bwMode="auto">
          <a:xfrm>
            <a:off x="857250" y="3071813"/>
            <a:ext cx="7572375"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556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algn="just" eaLnBrk="1" hangingPunct="1">
              <a:spcBef>
                <a:spcPct val="0"/>
              </a:spcBef>
              <a:spcAft>
                <a:spcPts val="600"/>
              </a:spcAft>
              <a:buClr>
                <a:srgbClr val="00007C"/>
              </a:buClr>
              <a:buFont typeface="Wingdings" pitchFamily="2" charset="2"/>
              <a:buChar char=""/>
            </a:pPr>
            <a:r>
              <a:rPr lang="fr-FR" sz="1800" b="1">
                <a:solidFill>
                  <a:srgbClr val="333333"/>
                </a:solidFill>
                <a:latin typeface="Arial" charset="0"/>
              </a:rPr>
              <a:t>Navigateurs </a:t>
            </a:r>
            <a:r>
              <a:rPr lang="fr-FR" sz="1800">
                <a:solidFill>
                  <a:srgbClr val="333333"/>
                </a:solidFill>
                <a:latin typeface="Arial" charset="0"/>
              </a:rPr>
              <a:t>(clients):   interprètent de nombreux types de données pour les présenter  aux utilisateurs.</a:t>
            </a:r>
          </a:p>
          <a:p>
            <a:pPr algn="just" eaLnBrk="1" hangingPunct="1">
              <a:spcBef>
                <a:spcPct val="0"/>
              </a:spcBef>
              <a:spcAft>
                <a:spcPts val="600"/>
              </a:spcAft>
              <a:buClr>
                <a:srgbClr val="00007C"/>
              </a:buClr>
              <a:buFont typeface="Wingdings" pitchFamily="2" charset="2"/>
              <a:buChar char=""/>
            </a:pPr>
            <a:r>
              <a:rPr lang="fr-FR" sz="1800">
                <a:solidFill>
                  <a:srgbClr val="333333"/>
                </a:solidFill>
                <a:latin typeface="Arial" charset="0"/>
              </a:rPr>
              <a:t>D’autres types de données peuvent nécessiter un autre service ou programme, généralement  nommé plug-in ou composant additionnel (plug-in, add-on).</a:t>
            </a:r>
          </a:p>
          <a:p>
            <a:pPr algn="just" eaLnBrk="1" hangingPunct="1">
              <a:spcBef>
                <a:spcPct val="0"/>
              </a:spcBef>
              <a:buClr>
                <a:srgbClr val="00007C"/>
              </a:buClr>
              <a:buFont typeface="Wingdings" pitchFamily="2" charset="2"/>
              <a:buChar char=""/>
            </a:pPr>
            <a:r>
              <a:rPr lang="fr-FR" sz="1800">
                <a:solidFill>
                  <a:srgbClr val="333333"/>
                </a:solidFill>
                <a:latin typeface="Arial" charset="0"/>
              </a:rPr>
              <a:t>Un navigateur Web peut interpréter les trois parties de l’URL:</a:t>
            </a:r>
          </a:p>
          <a:p>
            <a:pPr algn="just" eaLnBrk="1" hangingPunct="1">
              <a:spcBef>
                <a:spcPct val="0"/>
              </a:spcBef>
              <a:buClr>
                <a:srgbClr val="00007C"/>
              </a:buClr>
            </a:pPr>
            <a:r>
              <a:rPr lang="fr-FR" sz="1800">
                <a:solidFill>
                  <a:srgbClr val="333333"/>
                </a:solidFill>
                <a:latin typeface="Arial" charset="0"/>
              </a:rPr>
              <a:t>             </a:t>
            </a:r>
            <a:r>
              <a:rPr lang="fr-FR" sz="1800" b="1">
                <a:solidFill>
                  <a:srgbClr val="002060"/>
                </a:solidFill>
                <a:latin typeface="Arial" charset="0"/>
              </a:rPr>
              <a:t>http://www.cisco.com/web-server.htm</a:t>
            </a:r>
          </a:p>
          <a:p>
            <a:pPr lvl="1" algn="just" eaLnBrk="1" hangingPunct="1">
              <a:spcBef>
                <a:spcPct val="0"/>
              </a:spcBef>
              <a:buClr>
                <a:srgbClr val="9999CC"/>
              </a:buClr>
              <a:buFont typeface="Wingdings" pitchFamily="2" charset="2"/>
              <a:buChar char=""/>
            </a:pPr>
            <a:r>
              <a:rPr lang="fr-FR" sz="1800">
                <a:solidFill>
                  <a:srgbClr val="002060"/>
                </a:solidFill>
                <a:latin typeface="Arial" charset="0"/>
              </a:rPr>
              <a:t>http: </a:t>
            </a:r>
            <a:r>
              <a:rPr lang="fr-FR" sz="1800">
                <a:solidFill>
                  <a:srgbClr val="333333"/>
                </a:solidFill>
                <a:latin typeface="Arial" charset="0"/>
              </a:rPr>
              <a:t>protocole</a:t>
            </a:r>
          </a:p>
          <a:p>
            <a:pPr lvl="1" algn="just" eaLnBrk="1" hangingPunct="1">
              <a:spcBef>
                <a:spcPct val="0"/>
              </a:spcBef>
              <a:buClr>
                <a:srgbClr val="9999CC"/>
              </a:buClr>
              <a:buFont typeface="Wingdings" pitchFamily="2" charset="2"/>
              <a:buChar char=""/>
            </a:pPr>
            <a:r>
              <a:rPr lang="fr-FR" sz="1800">
                <a:solidFill>
                  <a:srgbClr val="002060"/>
                </a:solidFill>
                <a:latin typeface="Arial" charset="0"/>
              </a:rPr>
              <a:t>www.cisco.com: </a:t>
            </a:r>
            <a:r>
              <a:rPr lang="fr-FR" sz="1800">
                <a:solidFill>
                  <a:srgbClr val="333333"/>
                </a:solidFill>
                <a:latin typeface="Arial" charset="0"/>
              </a:rPr>
              <a:t> nom du serveur</a:t>
            </a:r>
          </a:p>
          <a:p>
            <a:pPr lvl="1" algn="just" eaLnBrk="1" hangingPunct="1">
              <a:spcBef>
                <a:spcPct val="0"/>
              </a:spcBef>
              <a:buClr>
                <a:srgbClr val="9999CC"/>
              </a:buClr>
              <a:buFont typeface="Wingdings" pitchFamily="2" charset="2"/>
              <a:buChar char=""/>
            </a:pPr>
            <a:r>
              <a:rPr lang="fr-FR" sz="1800">
                <a:solidFill>
                  <a:srgbClr val="002060"/>
                </a:solidFill>
                <a:latin typeface="Arial" charset="0"/>
              </a:rPr>
              <a:t>Web-server.htm : </a:t>
            </a:r>
            <a:r>
              <a:rPr lang="fr-FR" sz="1800">
                <a:solidFill>
                  <a:srgbClr val="333333"/>
                </a:solidFill>
                <a:latin typeface="Arial" charset="0"/>
              </a:rPr>
              <a:t>nom du fichier demandé</a:t>
            </a:r>
          </a:p>
        </p:txBody>
      </p:sp>
    </p:spTree>
    <p:custDataLst>
      <p:tags r:id="rId1"/>
    </p:custDataLst>
    <p:extLst>
      <p:ext uri="{BB962C8B-B14F-4D97-AF65-F5344CB8AC3E}">
        <p14:creationId xmlns:p14="http://schemas.microsoft.com/office/powerpoint/2010/main" val="1102721169"/>
      </p:ext>
    </p:extLst>
  </p:cSld>
  <p:clrMapOvr>
    <a:masterClrMapping/>
  </p:clrMapOvr>
  <p:transition>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403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Serveur Web</a:t>
            </a:r>
          </a:p>
        </p:txBody>
      </p:sp>
      <p:sp>
        <p:nvSpPr>
          <p:cNvPr id="44036" name="object 4"/>
          <p:cNvSpPr>
            <a:spLocks noChangeArrowheads="1"/>
          </p:cNvSpPr>
          <p:nvPr/>
        </p:nvSpPr>
        <p:spPr bwMode="auto">
          <a:xfrm>
            <a:off x="857250" y="1071563"/>
            <a:ext cx="5116513" cy="485775"/>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grpSp>
        <p:nvGrpSpPr>
          <p:cNvPr id="44037" name="Groupe 5"/>
          <p:cNvGrpSpPr>
            <a:grpSpLocks/>
          </p:cNvGrpSpPr>
          <p:nvPr/>
        </p:nvGrpSpPr>
        <p:grpSpPr bwMode="auto">
          <a:xfrm>
            <a:off x="2305050" y="1909763"/>
            <a:ext cx="2909888" cy="2381250"/>
            <a:chOff x="2831469" y="2177795"/>
            <a:chExt cx="2909920" cy="2382011"/>
          </a:xfrm>
        </p:grpSpPr>
        <p:sp>
          <p:nvSpPr>
            <p:cNvPr id="44040" name="object 5"/>
            <p:cNvSpPr>
              <a:spLocks noChangeArrowheads="1"/>
            </p:cNvSpPr>
            <p:nvPr/>
          </p:nvSpPr>
          <p:spPr bwMode="auto">
            <a:xfrm>
              <a:off x="2831469" y="2177795"/>
              <a:ext cx="2270759" cy="1600199"/>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44041" name="object 6"/>
            <p:cNvSpPr>
              <a:spLocks noChangeArrowheads="1"/>
            </p:cNvSpPr>
            <p:nvPr/>
          </p:nvSpPr>
          <p:spPr bwMode="auto">
            <a:xfrm>
              <a:off x="3288670" y="2177795"/>
              <a:ext cx="1295400" cy="821436"/>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9" name="object 7"/>
            <p:cNvSpPr txBox="1"/>
            <p:nvPr/>
          </p:nvSpPr>
          <p:spPr>
            <a:xfrm>
              <a:off x="4663464" y="3054375"/>
              <a:ext cx="1077925" cy="692371"/>
            </a:xfrm>
            <a:prstGeom prst="rect">
              <a:avLst/>
            </a:prstGeom>
          </p:spPr>
          <p:txBody>
            <a:bodyPr lIns="0" tIns="0" rIns="0" bIns="0">
              <a:spAutoFit/>
            </a:bodyPr>
            <a:lstStyle/>
            <a:p>
              <a:pPr marL="12700">
                <a:defRPr/>
              </a:pPr>
              <a:r>
                <a:rPr sz="1800" b="1" spc="-5" dirty="0">
                  <a:solidFill>
                    <a:srgbClr val="FF0000"/>
                  </a:solidFill>
                  <a:latin typeface="Arial"/>
                  <a:cs typeface="Arial"/>
                </a:rPr>
                <a:t>HTTP</a:t>
              </a:r>
              <a:endParaRPr sz="1800">
                <a:latin typeface="Arial"/>
                <a:cs typeface="Arial"/>
              </a:endParaRPr>
            </a:p>
            <a:p>
              <a:pPr marL="12700">
                <a:defRPr/>
              </a:pPr>
              <a:r>
                <a:rPr sz="1800" b="1" spc="-5" dirty="0">
                  <a:solidFill>
                    <a:srgbClr val="FF0000"/>
                  </a:solidFill>
                  <a:latin typeface="Arial"/>
                  <a:cs typeface="Arial"/>
                </a:rPr>
                <a:t>S</a:t>
              </a:r>
              <a:r>
                <a:rPr sz="1800" b="1" spc="-10" dirty="0">
                  <a:solidFill>
                    <a:srgbClr val="FF0000"/>
                  </a:solidFill>
                  <a:latin typeface="Arial"/>
                  <a:cs typeface="Arial"/>
                </a:rPr>
                <a:t>er</a:t>
              </a:r>
              <a:r>
                <a:rPr sz="1800" b="1" spc="-50" dirty="0">
                  <a:solidFill>
                    <a:srgbClr val="FF0000"/>
                  </a:solidFill>
                  <a:latin typeface="Arial"/>
                  <a:cs typeface="Arial"/>
                </a:rPr>
                <a:t>v</a:t>
              </a:r>
              <a:r>
                <a:rPr sz="1800" b="1" spc="-10" dirty="0">
                  <a:solidFill>
                    <a:srgbClr val="FF0000"/>
                  </a:solidFill>
                  <a:latin typeface="Arial"/>
                  <a:cs typeface="Arial"/>
                </a:rPr>
                <a:t>e</a:t>
              </a:r>
              <a:r>
                <a:rPr sz="1800" b="1" spc="-5" dirty="0">
                  <a:solidFill>
                    <a:srgbClr val="FF0000"/>
                  </a:solidFill>
                  <a:latin typeface="Arial"/>
                  <a:cs typeface="Arial"/>
                </a:rPr>
                <a:t>r</a:t>
              </a:r>
              <a:endParaRPr sz="1800">
                <a:latin typeface="Arial"/>
                <a:cs typeface="Arial"/>
              </a:endParaRPr>
            </a:p>
          </p:txBody>
        </p:sp>
        <p:sp>
          <p:nvSpPr>
            <p:cNvPr id="44043" name="object 10"/>
            <p:cNvSpPr>
              <a:spLocks noChangeArrowheads="1"/>
            </p:cNvSpPr>
            <p:nvPr/>
          </p:nvSpPr>
          <p:spPr bwMode="auto">
            <a:xfrm>
              <a:off x="2831469" y="3777995"/>
              <a:ext cx="2270759" cy="781811"/>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grpSp>
      <p:sp>
        <p:nvSpPr>
          <p:cNvPr id="11" name="object 8"/>
          <p:cNvSpPr txBox="1"/>
          <p:nvPr/>
        </p:nvSpPr>
        <p:spPr>
          <a:xfrm>
            <a:off x="1143000" y="4357688"/>
            <a:ext cx="7489825" cy="1384300"/>
          </a:xfrm>
          <a:prstGeom prst="rect">
            <a:avLst/>
          </a:prstGeom>
        </p:spPr>
        <p:txBody>
          <a:bodyPr lIns="0" tIns="0" rIns="0" bIns="0">
            <a:spAutoFit/>
          </a:bodyPr>
          <a:lstStyle/>
          <a:p>
            <a:pPr marL="355600" indent="-342900">
              <a:spcBef>
                <a:spcPts val="0"/>
              </a:spcBef>
              <a:buClr>
                <a:srgbClr val="00007C"/>
              </a:buClr>
              <a:buFont typeface="Wingdings"/>
              <a:buChar char=""/>
              <a:tabLst>
                <a:tab pos="355600" algn="l"/>
              </a:tabLst>
              <a:defRPr/>
            </a:pPr>
            <a:r>
              <a:rPr sz="1800" b="1" spc="-10" dirty="0">
                <a:solidFill>
                  <a:srgbClr val="333333"/>
                </a:solidFill>
                <a:latin typeface="Arial"/>
                <a:cs typeface="Arial"/>
              </a:rPr>
              <a:t>Serveur </a:t>
            </a:r>
            <a:r>
              <a:rPr sz="1800" b="1" spc="-5" dirty="0">
                <a:solidFill>
                  <a:srgbClr val="333333"/>
                </a:solidFill>
                <a:latin typeface="Arial"/>
                <a:cs typeface="Arial"/>
              </a:rPr>
              <a:t>Web </a:t>
            </a:r>
            <a:r>
              <a:rPr sz="1800" spc="-5" dirty="0">
                <a:solidFill>
                  <a:srgbClr val="333333"/>
                </a:solidFill>
                <a:latin typeface="Arial"/>
                <a:cs typeface="Arial"/>
              </a:rPr>
              <a:t>– Stocke les objets Web, qui sont adressés par un</a:t>
            </a:r>
            <a:r>
              <a:rPr sz="1800" spc="130" dirty="0">
                <a:solidFill>
                  <a:srgbClr val="333333"/>
                </a:solidFill>
                <a:latin typeface="Arial"/>
                <a:cs typeface="Arial"/>
              </a:rPr>
              <a:t> </a:t>
            </a:r>
            <a:r>
              <a:rPr sz="1800" spc="-5" dirty="0">
                <a:solidFill>
                  <a:srgbClr val="333333"/>
                </a:solidFill>
                <a:latin typeface="Arial"/>
                <a:cs typeface="Arial"/>
              </a:rPr>
              <a:t>URL.</a:t>
            </a:r>
            <a:endParaRPr sz="1800">
              <a:solidFill>
                <a:srgbClr val="333333"/>
              </a:solidFill>
              <a:latin typeface="Arial"/>
              <a:cs typeface="Arial"/>
            </a:endParaRPr>
          </a:p>
          <a:p>
            <a:pPr marL="355600" indent="-342900">
              <a:spcBef>
                <a:spcPts val="0"/>
              </a:spcBef>
              <a:buClr>
                <a:srgbClr val="00007C"/>
              </a:buClr>
              <a:buFont typeface="Wingdings"/>
              <a:buChar char=""/>
              <a:tabLst>
                <a:tab pos="355600" algn="l"/>
              </a:tabLst>
              <a:defRPr/>
            </a:pPr>
            <a:r>
              <a:rPr sz="1800" spc="-5" dirty="0">
                <a:solidFill>
                  <a:srgbClr val="333333"/>
                </a:solidFill>
                <a:latin typeface="Arial"/>
                <a:cs typeface="Arial"/>
              </a:rPr>
              <a:t>Implément du côté serveur</a:t>
            </a:r>
            <a:r>
              <a:rPr sz="1800" dirty="0">
                <a:solidFill>
                  <a:srgbClr val="333333"/>
                </a:solidFill>
                <a:latin typeface="Arial"/>
                <a:cs typeface="Arial"/>
              </a:rPr>
              <a:t> HTTP.</a:t>
            </a:r>
            <a:endParaRPr sz="1800">
              <a:solidFill>
                <a:srgbClr val="333333"/>
              </a:solidFill>
              <a:latin typeface="Arial"/>
              <a:cs typeface="Arial"/>
            </a:endParaRPr>
          </a:p>
          <a:p>
            <a:pPr marL="355600" indent="-342900">
              <a:spcBef>
                <a:spcPts val="0"/>
              </a:spcBef>
              <a:buClr>
                <a:srgbClr val="00007C"/>
              </a:buClr>
              <a:buFont typeface="Wingdings"/>
              <a:buChar char=""/>
              <a:tabLst>
                <a:tab pos="355600" algn="l"/>
              </a:tabLst>
              <a:defRPr/>
            </a:pPr>
            <a:r>
              <a:rPr sz="1800" spc="-5" dirty="0">
                <a:solidFill>
                  <a:srgbClr val="333333"/>
                </a:solidFill>
                <a:latin typeface="Arial"/>
                <a:cs typeface="Arial"/>
              </a:rPr>
              <a:t>Exemples:</a:t>
            </a:r>
            <a:endParaRPr sz="1800">
              <a:solidFill>
                <a:srgbClr val="333333"/>
              </a:solidFill>
              <a:latin typeface="Arial"/>
              <a:cs typeface="Arial"/>
            </a:endParaRPr>
          </a:p>
          <a:p>
            <a:pPr marL="756285" lvl="1" indent="-286385">
              <a:spcBef>
                <a:spcPts val="0"/>
              </a:spcBef>
              <a:buClr>
                <a:srgbClr val="9999CC"/>
              </a:buClr>
              <a:buFont typeface="Wingdings" pitchFamily="2" charset="2"/>
              <a:buChar char="ü"/>
              <a:tabLst>
                <a:tab pos="756920" algn="l"/>
              </a:tabLst>
              <a:defRPr/>
            </a:pPr>
            <a:r>
              <a:rPr sz="1800" spc="-5" dirty="0">
                <a:solidFill>
                  <a:srgbClr val="333333"/>
                </a:solidFill>
                <a:latin typeface="Arial"/>
                <a:cs typeface="Arial"/>
              </a:rPr>
              <a:t>Apache</a:t>
            </a:r>
            <a:endParaRPr sz="1800">
              <a:solidFill>
                <a:srgbClr val="333333"/>
              </a:solidFill>
              <a:latin typeface="Arial"/>
              <a:cs typeface="Arial"/>
            </a:endParaRPr>
          </a:p>
          <a:p>
            <a:pPr marL="756285" lvl="1" indent="-286385">
              <a:spcBef>
                <a:spcPts val="0"/>
              </a:spcBef>
              <a:buClr>
                <a:srgbClr val="9999CC"/>
              </a:buClr>
              <a:buFont typeface="Wingdings" pitchFamily="2" charset="2"/>
              <a:buChar char="ü"/>
              <a:tabLst>
                <a:tab pos="756920" algn="l"/>
              </a:tabLst>
              <a:defRPr/>
            </a:pPr>
            <a:r>
              <a:rPr sz="1800" spc="-5" dirty="0">
                <a:solidFill>
                  <a:srgbClr val="333333"/>
                </a:solidFill>
                <a:latin typeface="Arial"/>
                <a:cs typeface="Arial"/>
              </a:rPr>
              <a:t>Microsoft</a:t>
            </a:r>
            <a:r>
              <a:rPr sz="1800" spc="-75" dirty="0">
                <a:solidFill>
                  <a:srgbClr val="333333"/>
                </a:solidFill>
                <a:latin typeface="Arial"/>
                <a:cs typeface="Arial"/>
              </a:rPr>
              <a:t> </a:t>
            </a:r>
            <a:r>
              <a:rPr sz="1800" dirty="0">
                <a:solidFill>
                  <a:srgbClr val="333333"/>
                </a:solidFill>
                <a:latin typeface="Arial"/>
                <a:cs typeface="Arial"/>
              </a:rPr>
              <a:t>IIS</a:t>
            </a:r>
            <a:endParaRPr sz="1800">
              <a:solidFill>
                <a:srgbClr val="333333"/>
              </a:solidFill>
              <a:latin typeface="Arial"/>
              <a:cs typeface="Arial"/>
            </a:endParaRPr>
          </a:p>
        </p:txBody>
      </p:sp>
    </p:spTree>
    <p:custDataLst>
      <p:tags r:id="rId1"/>
    </p:custDataLst>
    <p:extLst>
      <p:ext uri="{BB962C8B-B14F-4D97-AF65-F5344CB8AC3E}">
        <p14:creationId xmlns:p14="http://schemas.microsoft.com/office/powerpoint/2010/main" val="2536302419"/>
      </p:ext>
    </p:extLst>
  </p:cSld>
  <p:clrMapOvr>
    <a:masterClrMapping/>
  </p:clrMapOvr>
  <p:transition>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505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Message de requête HTTP</a:t>
            </a:r>
          </a:p>
        </p:txBody>
      </p:sp>
      <p:sp>
        <p:nvSpPr>
          <p:cNvPr id="45060" name="object 4"/>
          <p:cNvSpPr txBox="1">
            <a:spLocks noChangeArrowheads="1"/>
          </p:cNvSpPr>
          <p:nvPr/>
        </p:nvSpPr>
        <p:spPr bwMode="auto">
          <a:xfrm>
            <a:off x="857250" y="1000125"/>
            <a:ext cx="7786688"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 pos="2625725" algn="l"/>
              </a:tabLst>
              <a:defRPr sz="2000">
                <a:solidFill>
                  <a:schemeClr val="tx1"/>
                </a:solidFill>
                <a:latin typeface="Verdana" pitchFamily="34" charset="0"/>
                <a:cs typeface="Arial" charset="0"/>
              </a:defRPr>
            </a:lvl1pPr>
            <a:lvl2pPr marL="755650" indent="-285750" eaLnBrk="0" hangingPunct="0">
              <a:tabLst>
                <a:tab pos="355600" algn="l"/>
                <a:tab pos="2625725" algn="l"/>
              </a:tabLst>
              <a:defRPr sz="2000">
                <a:solidFill>
                  <a:schemeClr val="tx1"/>
                </a:solidFill>
                <a:latin typeface="Verdana" pitchFamily="34" charset="0"/>
                <a:cs typeface="Arial" charset="0"/>
              </a:defRPr>
            </a:lvl2pPr>
            <a:lvl3pPr marL="1143000" indent="-228600" eaLnBrk="0" hangingPunct="0">
              <a:tabLst>
                <a:tab pos="355600" algn="l"/>
                <a:tab pos="2625725" algn="l"/>
              </a:tabLst>
              <a:defRPr sz="2000">
                <a:solidFill>
                  <a:schemeClr val="tx1"/>
                </a:solidFill>
                <a:latin typeface="Verdana" pitchFamily="34" charset="0"/>
                <a:cs typeface="Arial" charset="0"/>
              </a:defRPr>
            </a:lvl3pPr>
            <a:lvl4pPr marL="1600200" indent="-228600" eaLnBrk="0" hangingPunct="0">
              <a:tabLst>
                <a:tab pos="355600" algn="l"/>
                <a:tab pos="2625725" algn="l"/>
              </a:tabLst>
              <a:defRPr sz="2000">
                <a:solidFill>
                  <a:schemeClr val="tx1"/>
                </a:solidFill>
                <a:latin typeface="Verdana" pitchFamily="34" charset="0"/>
                <a:cs typeface="Arial" charset="0"/>
              </a:defRPr>
            </a:lvl4pPr>
            <a:lvl5pPr marL="2057400" indent="-228600" eaLnBrk="0" hangingPunct="0">
              <a:tabLst>
                <a:tab pos="355600" algn="l"/>
                <a:tab pos="2625725"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 pos="2625725"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 pos="2625725"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 pos="2625725"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 pos="2625725" algn="l"/>
              </a:tabLst>
              <a:defRPr sz="2000">
                <a:solidFill>
                  <a:schemeClr val="tx1"/>
                </a:solidFill>
                <a:latin typeface="Verdana" pitchFamily="34" charset="0"/>
                <a:cs typeface="Arial" charset="0"/>
              </a:defRPr>
            </a:lvl9pPr>
          </a:lstStyle>
          <a:p>
            <a:pPr algn="just" eaLnBrk="1" hangingPunct="1">
              <a:lnSpc>
                <a:spcPct val="150000"/>
              </a:lnSpc>
              <a:spcBef>
                <a:spcPts val="600"/>
              </a:spcBef>
              <a:buClr>
                <a:srgbClr val="00007C"/>
              </a:buClr>
              <a:buFont typeface="Wingdings" pitchFamily="2" charset="2"/>
              <a:buChar char=""/>
            </a:pPr>
            <a:r>
              <a:rPr lang="fr-FR">
                <a:solidFill>
                  <a:srgbClr val="333333"/>
                </a:solidFill>
                <a:latin typeface="Arial" charset="0"/>
              </a:rPr>
              <a:t>Le protocole HTTP	 définit des types de messages échangés entre  le client et le serveur Web. Les 3 types de messages courants sont:</a:t>
            </a:r>
          </a:p>
          <a:p>
            <a:pPr lvl="1" algn="just" eaLnBrk="1" hangingPunct="1">
              <a:lnSpc>
                <a:spcPct val="150000"/>
              </a:lnSpc>
              <a:spcBef>
                <a:spcPts val="600"/>
              </a:spcBef>
              <a:buClr>
                <a:srgbClr val="9999CC"/>
              </a:buClr>
              <a:buFont typeface="Wingdings" pitchFamily="2" charset="2"/>
              <a:buChar char="ü"/>
            </a:pPr>
            <a:r>
              <a:rPr lang="fr-FR" sz="1800" b="1">
                <a:solidFill>
                  <a:srgbClr val="333333"/>
                </a:solidFill>
                <a:latin typeface="Arial" charset="0"/>
              </a:rPr>
              <a:t>GET ,</a:t>
            </a:r>
          </a:p>
          <a:p>
            <a:pPr lvl="1" algn="just" eaLnBrk="1" hangingPunct="1">
              <a:lnSpc>
                <a:spcPct val="150000"/>
              </a:lnSpc>
              <a:spcBef>
                <a:spcPts val="600"/>
              </a:spcBef>
              <a:buClr>
                <a:srgbClr val="9999CC"/>
              </a:buClr>
              <a:buFont typeface="Wingdings" pitchFamily="2" charset="2"/>
              <a:buChar char="ü"/>
            </a:pPr>
            <a:r>
              <a:rPr lang="fr-FR" sz="1800" b="1">
                <a:solidFill>
                  <a:srgbClr val="333333"/>
                </a:solidFill>
                <a:latin typeface="Arial" charset="0"/>
              </a:rPr>
              <a:t> POST, </a:t>
            </a:r>
          </a:p>
          <a:p>
            <a:pPr lvl="1" algn="just" eaLnBrk="1" hangingPunct="1">
              <a:lnSpc>
                <a:spcPct val="150000"/>
              </a:lnSpc>
              <a:spcBef>
                <a:spcPts val="600"/>
              </a:spcBef>
              <a:buClr>
                <a:srgbClr val="9999CC"/>
              </a:buClr>
              <a:buFont typeface="Wingdings" pitchFamily="2" charset="2"/>
              <a:buChar char="ü"/>
            </a:pPr>
            <a:r>
              <a:rPr lang="fr-FR" sz="1800">
                <a:solidFill>
                  <a:srgbClr val="333333"/>
                </a:solidFill>
                <a:latin typeface="Arial" charset="0"/>
              </a:rPr>
              <a:t> </a:t>
            </a:r>
            <a:r>
              <a:rPr lang="fr-FR" sz="1800" b="1">
                <a:solidFill>
                  <a:srgbClr val="333333"/>
                </a:solidFill>
                <a:latin typeface="Arial" charset="0"/>
              </a:rPr>
              <a:t>PUT</a:t>
            </a:r>
            <a:endParaRPr lang="fr-FR" sz="1800">
              <a:solidFill>
                <a:srgbClr val="333333"/>
              </a:solidFill>
              <a:latin typeface="Arial" charset="0"/>
            </a:endParaRPr>
          </a:p>
          <a:p>
            <a:pPr algn="just" eaLnBrk="1" hangingPunct="1">
              <a:lnSpc>
                <a:spcPct val="150000"/>
              </a:lnSpc>
              <a:spcBef>
                <a:spcPts val="600"/>
              </a:spcBef>
              <a:buClr>
                <a:srgbClr val="00007C"/>
              </a:buClr>
              <a:buFont typeface="Wingdings" pitchFamily="2" charset="2"/>
              <a:buChar char=""/>
            </a:pPr>
            <a:r>
              <a:rPr lang="fr-FR">
                <a:solidFill>
                  <a:srgbClr val="333333"/>
                </a:solidFill>
                <a:latin typeface="Arial" charset="0"/>
              </a:rPr>
              <a:t>Pour une communication sécurisée via Internet, le protocole HTTPS  est utilisé pour le chiffrement (cryptage) lors de l’accès aux informations du serveur Web ou de leur contenu.</a:t>
            </a:r>
          </a:p>
          <a:p>
            <a:pPr lvl="1" eaLnBrk="1" hangingPunct="1">
              <a:lnSpc>
                <a:spcPct val="150000"/>
              </a:lnSpc>
              <a:spcBef>
                <a:spcPts val="600"/>
              </a:spcBef>
              <a:buClr>
                <a:srgbClr val="00007C"/>
              </a:buClr>
              <a:buFont typeface="Wingdings" pitchFamily="2" charset="2"/>
              <a:buChar char="ü"/>
            </a:pPr>
            <a:r>
              <a:rPr lang="fr-FR" b="1">
                <a:solidFill>
                  <a:srgbClr val="333333"/>
                </a:solidFill>
                <a:latin typeface="Arial" charset="0"/>
              </a:rPr>
              <a:t>Secure Sockets Layer (SSL) </a:t>
            </a:r>
            <a:r>
              <a:rPr lang="fr-FR">
                <a:solidFill>
                  <a:srgbClr val="333333"/>
                </a:solidFill>
                <a:latin typeface="Arial" charset="0"/>
              </a:rPr>
              <a:t>ou</a:t>
            </a:r>
          </a:p>
          <a:p>
            <a:pPr lvl="1" eaLnBrk="1" hangingPunct="1">
              <a:lnSpc>
                <a:spcPct val="150000"/>
              </a:lnSpc>
              <a:spcBef>
                <a:spcPts val="600"/>
              </a:spcBef>
              <a:buClr>
                <a:srgbClr val="00007C"/>
              </a:buClr>
              <a:buFont typeface="Wingdings" pitchFamily="2" charset="2"/>
              <a:buChar char="ü"/>
            </a:pPr>
            <a:r>
              <a:rPr lang="fr-FR" b="1">
                <a:solidFill>
                  <a:srgbClr val="333333"/>
                </a:solidFill>
                <a:latin typeface="Arial" charset="0"/>
              </a:rPr>
              <a:t>Transport Layer Security (TLS) </a:t>
            </a:r>
            <a:r>
              <a:rPr lang="fr-FR">
                <a:solidFill>
                  <a:srgbClr val="333333"/>
                </a:solidFill>
                <a:latin typeface="Arial" charset="0"/>
              </a:rPr>
              <a:t>connexion</a:t>
            </a:r>
          </a:p>
        </p:txBody>
      </p:sp>
    </p:spTree>
    <p:custDataLst>
      <p:tags r:id="rId1"/>
    </p:custDataLst>
    <p:extLst>
      <p:ext uri="{BB962C8B-B14F-4D97-AF65-F5344CB8AC3E}">
        <p14:creationId xmlns:p14="http://schemas.microsoft.com/office/powerpoint/2010/main" val="3239227500"/>
      </p:ext>
    </p:extLst>
  </p:cSld>
  <p:clrMapOvr>
    <a:masterClrMapping/>
  </p:clrMapOvr>
  <p:transition>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608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Etapes du protocole HTTP</a:t>
            </a:r>
          </a:p>
        </p:txBody>
      </p:sp>
      <p:sp>
        <p:nvSpPr>
          <p:cNvPr id="46084" name="Rectangle 10"/>
          <p:cNvSpPr>
            <a:spLocks noChangeArrowheads="1"/>
          </p:cNvSpPr>
          <p:nvPr/>
        </p:nvSpPr>
        <p:spPr bwMode="auto">
          <a:xfrm>
            <a:off x="428625" y="1714500"/>
            <a:ext cx="314325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1800" b="1">
                <a:solidFill>
                  <a:srgbClr val="000000"/>
                </a:solidFill>
                <a:latin typeface="Arial" charset="0"/>
              </a:rPr>
              <a:t>Etape 1: L</a:t>
            </a:r>
            <a:r>
              <a:rPr lang="fr-FR" sz="1800">
                <a:solidFill>
                  <a:srgbClr val="000000"/>
                </a:solidFill>
                <a:latin typeface="Arial" charset="0"/>
              </a:rPr>
              <a:t>e client lance une requête HTTP à un serveur</a:t>
            </a:r>
          </a:p>
        </p:txBody>
      </p:sp>
      <p:pic>
        <p:nvPicPr>
          <p:cNvPr id="4608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25" y="942975"/>
            <a:ext cx="5262563"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608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6188" y="3890963"/>
            <a:ext cx="4929187"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6088" name="Rectangle 10"/>
          <p:cNvSpPr>
            <a:spLocks noChangeArrowheads="1"/>
          </p:cNvSpPr>
          <p:nvPr/>
        </p:nvSpPr>
        <p:spPr bwMode="auto">
          <a:xfrm>
            <a:off x="500063" y="5072063"/>
            <a:ext cx="314325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1800" b="1">
                <a:solidFill>
                  <a:srgbClr val="000000"/>
                </a:solidFill>
                <a:latin typeface="Arial" charset="0"/>
              </a:rPr>
              <a:t>Etape 1: </a:t>
            </a:r>
            <a:r>
              <a:rPr lang="fr-FR" sz="1800">
                <a:solidFill>
                  <a:srgbClr val="000000"/>
                </a:solidFill>
                <a:latin typeface="Arial" charset="0"/>
              </a:rPr>
              <a:t>En réponse à la requête, le serveur HTTP retourne le code d’une page Web</a:t>
            </a:r>
          </a:p>
        </p:txBody>
      </p:sp>
    </p:spTree>
    <p:custDataLst>
      <p:tags r:id="rId1"/>
    </p:custDataLst>
    <p:extLst>
      <p:ext uri="{BB962C8B-B14F-4D97-AF65-F5344CB8AC3E}">
        <p14:creationId xmlns:p14="http://schemas.microsoft.com/office/powerpoint/2010/main" val="345297012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7"/>
                                        </p:tgtEl>
                                        <p:attrNameLst>
                                          <p:attrName>style.visibility</p:attrName>
                                        </p:attrNameLst>
                                      </p:cBhvr>
                                      <p:to>
                                        <p:strVal val="visible"/>
                                      </p:to>
                                    </p:set>
                                    <p:animEffect transition="in" filter="box(in)">
                                      <p:cBhvr>
                                        <p:cTn id="7" dur="500"/>
                                        <p:tgtEl>
                                          <p:spTgt spid="46087"/>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6088"/>
                                        </p:tgtEl>
                                        <p:attrNameLst>
                                          <p:attrName>style.visibility</p:attrName>
                                        </p:attrNameLst>
                                      </p:cBhvr>
                                      <p:to>
                                        <p:strVal val="visible"/>
                                      </p:to>
                                    </p:set>
                                    <p:animEffect transition="in" filter="box(in)">
                                      <p:cBhvr>
                                        <p:cTn id="10" dur="500"/>
                                        <p:tgtEl>
                                          <p:spTgt spid="46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710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Etapes du protocole HTTP</a:t>
            </a:r>
          </a:p>
        </p:txBody>
      </p:sp>
      <p:sp>
        <p:nvSpPr>
          <p:cNvPr id="47108" name="Rectangle 10"/>
          <p:cNvSpPr>
            <a:spLocks noChangeArrowheads="1"/>
          </p:cNvSpPr>
          <p:nvPr/>
        </p:nvSpPr>
        <p:spPr bwMode="auto">
          <a:xfrm>
            <a:off x="428625" y="1000125"/>
            <a:ext cx="75009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1800" b="1">
                <a:solidFill>
                  <a:srgbClr val="000000"/>
                </a:solidFill>
                <a:latin typeface="Arial" charset="0"/>
              </a:rPr>
              <a:t>Etape 3: </a:t>
            </a:r>
            <a:r>
              <a:rPr lang="fr-FR" sz="1800">
                <a:solidFill>
                  <a:srgbClr val="000000"/>
                </a:solidFill>
                <a:latin typeface="Arial" charset="0"/>
              </a:rPr>
              <a:t>Le navigateur interprète le code HTML et affiche la page web </a:t>
            </a:r>
          </a:p>
        </p:txBody>
      </p:sp>
      <p:pic>
        <p:nvPicPr>
          <p:cNvPr id="4710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995488"/>
            <a:ext cx="5975350" cy="312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153497541"/>
      </p:ext>
    </p:extLst>
  </p:cSld>
  <p:clrMapOvr>
    <a:masterClrMapping/>
  </p:clrMapOvr>
  <p:transition>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813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Message de requête HTTP</a:t>
            </a:r>
          </a:p>
        </p:txBody>
      </p:sp>
      <p:sp>
        <p:nvSpPr>
          <p:cNvPr id="5" name="object 6"/>
          <p:cNvSpPr txBox="1"/>
          <p:nvPr/>
        </p:nvSpPr>
        <p:spPr>
          <a:xfrm>
            <a:off x="714375" y="2206625"/>
            <a:ext cx="7897813" cy="1449388"/>
          </a:xfrm>
          <a:prstGeom prst="rect">
            <a:avLst/>
          </a:prstGeom>
        </p:spPr>
        <p:style>
          <a:lnRef idx="2">
            <a:schemeClr val="dk1"/>
          </a:lnRef>
          <a:fillRef idx="1">
            <a:schemeClr val="lt1"/>
          </a:fillRef>
          <a:effectRef idx="0">
            <a:schemeClr val="dk1"/>
          </a:effectRef>
          <a:fontRef idx="minor">
            <a:schemeClr val="dk1"/>
          </a:fontRef>
        </p:style>
        <p:txBody>
          <a:bodyPr lIns="0" tIns="0" rIns="0" bIns="0">
            <a:spAutoFit/>
          </a:bodyPr>
          <a:lstStyle/>
          <a:p>
            <a:pPr marL="12700">
              <a:lnSpc>
                <a:spcPct val="120000"/>
              </a:lnSpc>
              <a:defRPr/>
            </a:pPr>
            <a:r>
              <a:rPr lang="fr-FR" sz="1400" b="1" dirty="0">
                <a:solidFill>
                  <a:srgbClr val="C00000"/>
                </a:solidFill>
                <a:latin typeface="Courier New" pitchFamily="49" charset="0"/>
                <a:cs typeface="Courier New" pitchFamily="49" charset="0"/>
              </a:rPr>
              <a:t>GET /~2isi/ HTTP/1.1  </a:t>
            </a:r>
            <a:r>
              <a:rPr lang="fr-FR" sz="1400" b="1" dirty="0" err="1">
                <a:solidFill>
                  <a:srgbClr val="333333"/>
                </a:solidFill>
                <a:latin typeface="Courier New" pitchFamily="49" charset="0"/>
                <a:cs typeface="Courier New" pitchFamily="49" charset="0"/>
              </a:rPr>
              <a:t>Accept</a:t>
            </a:r>
            <a:r>
              <a:rPr lang="fr-FR" sz="1400" b="1" dirty="0">
                <a:solidFill>
                  <a:srgbClr val="333333"/>
                </a:solidFill>
                <a:latin typeface="Courier New" pitchFamily="49" charset="0"/>
                <a:cs typeface="Courier New" pitchFamily="49" charset="0"/>
              </a:rPr>
              <a:t>-</a:t>
            </a:r>
            <a:r>
              <a:rPr lang="fr-FR" sz="1400" b="1" dirty="0" err="1">
                <a:solidFill>
                  <a:srgbClr val="333333"/>
                </a:solidFill>
                <a:latin typeface="Courier New" pitchFamily="49" charset="0"/>
                <a:cs typeface="Courier New" pitchFamily="49" charset="0"/>
              </a:rPr>
              <a:t>Language</a:t>
            </a:r>
            <a:r>
              <a:rPr lang="fr-FR" sz="1400" b="1" dirty="0">
                <a:solidFill>
                  <a:srgbClr val="333333"/>
                </a:solidFill>
                <a:latin typeface="Courier New" pitchFamily="49" charset="0"/>
                <a:cs typeface="Courier New" pitchFamily="49" charset="0"/>
              </a:rPr>
              <a:t>: en-us</a:t>
            </a:r>
            <a:endParaRPr lang="fr-FR" sz="1400" dirty="0">
              <a:solidFill>
                <a:srgbClr val="333333"/>
              </a:solidFill>
              <a:latin typeface="Courier New" pitchFamily="49" charset="0"/>
              <a:cs typeface="Courier New" pitchFamily="49" charset="0"/>
            </a:endParaRPr>
          </a:p>
          <a:p>
            <a:pPr marL="12700">
              <a:spcBef>
                <a:spcPts val="338"/>
              </a:spcBef>
              <a:defRPr/>
            </a:pPr>
            <a:r>
              <a:rPr lang="fr-FR" sz="1400" b="1" dirty="0">
                <a:solidFill>
                  <a:srgbClr val="333333"/>
                </a:solidFill>
                <a:latin typeface="Courier New" pitchFamily="49" charset="0"/>
                <a:cs typeface="Courier New" pitchFamily="49" charset="0"/>
              </a:rPr>
              <a:t>User-Agent: </a:t>
            </a:r>
            <a:r>
              <a:rPr lang="fr-FR" sz="1400" b="1" dirty="0" err="1">
                <a:solidFill>
                  <a:srgbClr val="333333"/>
                </a:solidFill>
                <a:latin typeface="Courier New" pitchFamily="49" charset="0"/>
                <a:cs typeface="Courier New" pitchFamily="49" charset="0"/>
              </a:rPr>
              <a:t>Mozilla</a:t>
            </a:r>
            <a:r>
              <a:rPr lang="fr-FR" sz="1400" b="1" dirty="0">
                <a:solidFill>
                  <a:srgbClr val="333333"/>
                </a:solidFill>
                <a:latin typeface="Courier New" pitchFamily="49" charset="0"/>
                <a:cs typeface="Courier New" pitchFamily="49" charset="0"/>
              </a:rPr>
              <a:t>/4.0 (compatible; MSIE 7.0; Windows NT 6.0; SLCC1; .NET  CLR 2.0.50727; Media Center PC 5.0; .NET CLR 3.0.04506; InfoPath.1)</a:t>
            </a:r>
            <a:endParaRPr lang="fr-FR" sz="1400" dirty="0">
              <a:solidFill>
                <a:srgbClr val="333333"/>
              </a:solidFill>
              <a:latin typeface="Courier New" pitchFamily="49" charset="0"/>
              <a:cs typeface="Courier New" pitchFamily="49" charset="0"/>
            </a:endParaRPr>
          </a:p>
          <a:p>
            <a:pPr marL="12700">
              <a:lnSpc>
                <a:spcPct val="120000"/>
              </a:lnSpc>
              <a:defRPr/>
            </a:pPr>
            <a:r>
              <a:rPr lang="fr-FR" sz="1400" b="1" dirty="0">
                <a:solidFill>
                  <a:srgbClr val="333333"/>
                </a:solidFill>
                <a:latin typeface="Courier New" pitchFamily="49" charset="0"/>
                <a:cs typeface="Courier New" pitchFamily="49" charset="0"/>
              </a:rPr>
              <a:t>Host: </a:t>
            </a:r>
            <a:r>
              <a:rPr lang="fr-FR" sz="1400" b="1" u="sng" dirty="0">
                <a:solidFill>
                  <a:srgbClr val="0070C0"/>
                </a:solidFill>
                <a:latin typeface="Courier New" pitchFamily="49" charset="0"/>
                <a:cs typeface="Courier New" pitchFamily="49" charset="0"/>
              </a:rPr>
              <a:t>www.supmti.ma </a:t>
            </a:r>
          </a:p>
          <a:p>
            <a:pPr marL="12700">
              <a:lnSpc>
                <a:spcPct val="120000"/>
              </a:lnSpc>
              <a:defRPr/>
            </a:pPr>
            <a:r>
              <a:rPr lang="fr-FR" sz="1400" b="1" dirty="0" err="1">
                <a:solidFill>
                  <a:srgbClr val="333333"/>
                </a:solidFill>
                <a:latin typeface="Courier New" pitchFamily="49" charset="0"/>
                <a:cs typeface="Courier New" pitchFamily="49" charset="0"/>
              </a:rPr>
              <a:t>Connection</a:t>
            </a:r>
            <a:r>
              <a:rPr lang="fr-FR" sz="1400" b="1" dirty="0">
                <a:solidFill>
                  <a:srgbClr val="333333"/>
                </a:solidFill>
                <a:latin typeface="Courier New" pitchFamily="49" charset="0"/>
                <a:cs typeface="Courier New" pitchFamily="49" charset="0"/>
              </a:rPr>
              <a:t>: </a:t>
            </a:r>
            <a:r>
              <a:rPr lang="fr-FR" sz="1400" b="1" dirty="0" err="1">
                <a:solidFill>
                  <a:srgbClr val="333333"/>
                </a:solidFill>
                <a:latin typeface="Courier New" pitchFamily="49" charset="0"/>
                <a:cs typeface="Courier New" pitchFamily="49" charset="0"/>
              </a:rPr>
              <a:t>Keep</a:t>
            </a:r>
            <a:r>
              <a:rPr lang="fr-FR" sz="1400" b="1" dirty="0">
                <a:solidFill>
                  <a:srgbClr val="333333"/>
                </a:solidFill>
                <a:latin typeface="Courier New" pitchFamily="49" charset="0"/>
                <a:cs typeface="Courier New" pitchFamily="49" charset="0"/>
              </a:rPr>
              <a:t>-Alive</a:t>
            </a:r>
            <a:endParaRPr lang="fr-FR" sz="1400" dirty="0">
              <a:solidFill>
                <a:srgbClr val="333333"/>
              </a:solidFill>
              <a:latin typeface="Courier New" pitchFamily="49" charset="0"/>
              <a:cs typeface="Courier New" pitchFamily="49" charset="0"/>
            </a:endParaRPr>
          </a:p>
        </p:txBody>
      </p:sp>
      <p:sp>
        <p:nvSpPr>
          <p:cNvPr id="48133" name="object 7"/>
          <p:cNvSpPr>
            <a:spLocks noChangeArrowheads="1"/>
          </p:cNvSpPr>
          <p:nvPr/>
        </p:nvSpPr>
        <p:spPr bwMode="auto">
          <a:xfrm>
            <a:off x="1928813" y="1071563"/>
            <a:ext cx="4895850" cy="103663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8" name="object 10"/>
          <p:cNvSpPr txBox="1"/>
          <p:nvPr/>
        </p:nvSpPr>
        <p:spPr>
          <a:xfrm>
            <a:off x="714375" y="4071938"/>
            <a:ext cx="8072438" cy="830262"/>
          </a:xfrm>
          <a:prstGeom prst="rect">
            <a:avLst/>
          </a:prstGeom>
        </p:spPr>
        <p:txBody>
          <a:bodyPr lIns="0" tIns="0" rIns="0" bIns="0">
            <a:spAutoFit/>
          </a:bodyPr>
          <a:lstStyle/>
          <a:p>
            <a:pPr marL="215265" indent="-202565">
              <a:spcBef>
                <a:spcPts val="0"/>
              </a:spcBef>
              <a:buSzPct val="128571"/>
              <a:tabLst>
                <a:tab pos="215900" algn="l"/>
              </a:tabLst>
              <a:defRPr/>
            </a:pPr>
            <a:r>
              <a:rPr lang="fr-FR" sz="1600" b="1" spc="-5" dirty="0">
                <a:solidFill>
                  <a:srgbClr val="333333"/>
                </a:solidFill>
                <a:latin typeface="Courier New"/>
                <a:cs typeface="Courier New"/>
              </a:rPr>
              <a:t> </a:t>
            </a:r>
            <a:r>
              <a:rPr lang="fr-FR" sz="1800" b="1" spc="-5" dirty="0">
                <a:solidFill>
                  <a:srgbClr val="C00000"/>
                </a:solidFill>
                <a:latin typeface="Courier New"/>
                <a:cs typeface="Courier New"/>
              </a:rPr>
              <a:t>GET</a:t>
            </a:r>
            <a:r>
              <a:rPr lang="fr-FR" sz="1800" b="1" spc="-5" dirty="0">
                <a:solidFill>
                  <a:srgbClr val="333333"/>
                </a:solidFill>
                <a:latin typeface="Courier New"/>
                <a:cs typeface="Courier New"/>
              </a:rPr>
              <a:t>          </a:t>
            </a:r>
            <a:r>
              <a:rPr sz="1800" spc="-5">
                <a:solidFill>
                  <a:srgbClr val="333333"/>
                </a:solidFill>
                <a:latin typeface="Arial"/>
                <a:cs typeface="Arial"/>
              </a:rPr>
              <a:t>requête </a:t>
            </a:r>
            <a:r>
              <a:rPr sz="1800" dirty="0">
                <a:solidFill>
                  <a:srgbClr val="333333"/>
                </a:solidFill>
                <a:latin typeface="Arial"/>
                <a:cs typeface="Arial"/>
              </a:rPr>
              <a:t>cliente </a:t>
            </a:r>
            <a:r>
              <a:rPr sz="1800" spc="-5" dirty="0">
                <a:solidFill>
                  <a:srgbClr val="333333"/>
                </a:solidFill>
                <a:latin typeface="Arial"/>
                <a:cs typeface="Arial"/>
              </a:rPr>
              <a:t>pour obtenir des</a:t>
            </a:r>
            <a:r>
              <a:rPr sz="1800" spc="-120" dirty="0">
                <a:solidFill>
                  <a:srgbClr val="333333"/>
                </a:solidFill>
                <a:latin typeface="Arial"/>
                <a:cs typeface="Arial"/>
              </a:rPr>
              <a:t> </a:t>
            </a:r>
            <a:r>
              <a:rPr sz="1800" spc="-5" dirty="0">
                <a:solidFill>
                  <a:srgbClr val="333333"/>
                </a:solidFill>
                <a:latin typeface="Arial"/>
                <a:cs typeface="Arial"/>
              </a:rPr>
              <a:t>données</a:t>
            </a:r>
            <a:endParaRPr sz="1800">
              <a:solidFill>
                <a:srgbClr val="333333"/>
              </a:solidFill>
              <a:latin typeface="Arial"/>
              <a:cs typeface="Arial"/>
            </a:endParaRPr>
          </a:p>
          <a:p>
            <a:pPr marL="231775" indent="-203835">
              <a:spcBef>
                <a:spcPts val="0"/>
              </a:spcBef>
              <a:buSzPct val="128571"/>
              <a:tabLst>
                <a:tab pos="232410" algn="l"/>
              </a:tabLst>
              <a:defRPr/>
            </a:pPr>
            <a:r>
              <a:rPr lang="fr-FR" sz="1800" spc="-5" dirty="0">
                <a:solidFill>
                  <a:srgbClr val="C00000"/>
                </a:solidFill>
                <a:latin typeface="Arial"/>
                <a:cs typeface="Arial"/>
              </a:rPr>
              <a:t> </a:t>
            </a:r>
            <a:r>
              <a:rPr lang="fr-FR" sz="1800" b="1" spc="-5" dirty="0">
                <a:solidFill>
                  <a:srgbClr val="C00000"/>
                </a:solidFill>
                <a:latin typeface="Courier New"/>
                <a:cs typeface="Courier New"/>
              </a:rPr>
              <a:t>/~2isi/      </a:t>
            </a:r>
            <a:r>
              <a:rPr sz="1800" spc="-5">
                <a:solidFill>
                  <a:srgbClr val="333333"/>
                </a:solidFill>
                <a:latin typeface="Arial"/>
                <a:cs typeface="Arial"/>
              </a:rPr>
              <a:t>objet </a:t>
            </a:r>
            <a:r>
              <a:rPr sz="1800" spc="-5" dirty="0">
                <a:solidFill>
                  <a:srgbClr val="333333"/>
                </a:solidFill>
                <a:latin typeface="Arial"/>
                <a:cs typeface="Arial"/>
              </a:rPr>
              <a:t>demandé (par défaut</a:t>
            </a:r>
            <a:r>
              <a:rPr sz="1800" spc="-100" dirty="0">
                <a:solidFill>
                  <a:srgbClr val="333333"/>
                </a:solidFill>
                <a:latin typeface="Arial"/>
                <a:cs typeface="Arial"/>
              </a:rPr>
              <a:t> </a:t>
            </a:r>
            <a:r>
              <a:rPr sz="1800" spc="-5" dirty="0">
                <a:solidFill>
                  <a:srgbClr val="333333"/>
                </a:solidFill>
                <a:latin typeface="Arial"/>
                <a:cs typeface="Arial"/>
              </a:rPr>
              <a:t>index.html)</a:t>
            </a:r>
            <a:endParaRPr sz="1800">
              <a:solidFill>
                <a:srgbClr val="333333"/>
              </a:solidFill>
              <a:latin typeface="Arial"/>
              <a:cs typeface="Arial"/>
            </a:endParaRPr>
          </a:p>
          <a:p>
            <a:pPr marL="203200" indent="-175260">
              <a:spcBef>
                <a:spcPts val="0"/>
              </a:spcBef>
              <a:buSzPct val="128571"/>
              <a:tabLst>
                <a:tab pos="203200" algn="l"/>
              </a:tabLst>
              <a:defRPr/>
            </a:pPr>
            <a:r>
              <a:rPr lang="fr-FR" sz="1800" b="1" spc="-5" dirty="0">
                <a:solidFill>
                  <a:srgbClr val="C00000"/>
                </a:solidFill>
                <a:latin typeface="Courier New"/>
                <a:cs typeface="Courier New"/>
              </a:rPr>
              <a:t>HTTP/1.1</a:t>
            </a:r>
            <a:r>
              <a:rPr lang="fr-FR" sz="1800" b="1" spc="-5" dirty="0">
                <a:solidFill>
                  <a:srgbClr val="333333"/>
                </a:solidFill>
                <a:latin typeface="Courier New"/>
                <a:cs typeface="Courier New"/>
              </a:rPr>
              <a:t>      </a:t>
            </a:r>
            <a:r>
              <a:rPr sz="1800" spc="-5">
                <a:solidFill>
                  <a:srgbClr val="333333"/>
                </a:solidFill>
                <a:latin typeface="Arial"/>
                <a:cs typeface="Arial"/>
              </a:rPr>
              <a:t>version </a:t>
            </a:r>
            <a:r>
              <a:rPr sz="1800" dirty="0">
                <a:solidFill>
                  <a:srgbClr val="333333"/>
                </a:solidFill>
                <a:latin typeface="Arial"/>
                <a:cs typeface="Arial"/>
              </a:rPr>
              <a:t>actuelle (1.1 reste </a:t>
            </a:r>
            <a:r>
              <a:rPr sz="1800" spc="-5" dirty="0">
                <a:solidFill>
                  <a:srgbClr val="333333"/>
                </a:solidFill>
                <a:latin typeface="Arial"/>
                <a:cs typeface="Arial"/>
              </a:rPr>
              <a:t>compatible </a:t>
            </a:r>
            <a:r>
              <a:rPr sz="1800" spc="-10" dirty="0">
                <a:solidFill>
                  <a:srgbClr val="333333"/>
                </a:solidFill>
                <a:latin typeface="Arial"/>
                <a:cs typeface="Arial"/>
              </a:rPr>
              <a:t>avec </a:t>
            </a:r>
            <a:r>
              <a:rPr sz="1800" dirty="0">
                <a:solidFill>
                  <a:srgbClr val="333333"/>
                </a:solidFill>
                <a:latin typeface="Arial"/>
                <a:cs typeface="Arial"/>
              </a:rPr>
              <a:t>la  </a:t>
            </a:r>
            <a:r>
              <a:rPr sz="1800" spc="-5" dirty="0">
                <a:solidFill>
                  <a:srgbClr val="333333"/>
                </a:solidFill>
                <a:latin typeface="Arial"/>
                <a:cs typeface="Arial"/>
              </a:rPr>
              <a:t>version</a:t>
            </a:r>
            <a:r>
              <a:rPr sz="1800" spc="260" dirty="0">
                <a:solidFill>
                  <a:srgbClr val="333333"/>
                </a:solidFill>
                <a:latin typeface="Arial"/>
                <a:cs typeface="Arial"/>
              </a:rPr>
              <a:t> </a:t>
            </a:r>
            <a:r>
              <a:rPr sz="1800" dirty="0">
                <a:solidFill>
                  <a:srgbClr val="333333"/>
                </a:solidFill>
                <a:latin typeface="Arial"/>
                <a:cs typeface="Arial"/>
              </a:rPr>
              <a:t>1.0)</a:t>
            </a:r>
            <a:endParaRPr sz="1800">
              <a:solidFill>
                <a:srgbClr val="333333"/>
              </a:solidFill>
              <a:latin typeface="Arial"/>
              <a:cs typeface="Arial"/>
            </a:endParaRPr>
          </a:p>
        </p:txBody>
      </p:sp>
      <p:sp>
        <p:nvSpPr>
          <p:cNvPr id="48135" name="object 11"/>
          <p:cNvSpPr txBox="1">
            <a:spLocks noChangeArrowheads="1"/>
          </p:cNvSpPr>
          <p:nvPr/>
        </p:nvSpPr>
        <p:spPr bwMode="auto">
          <a:xfrm>
            <a:off x="714375" y="5175250"/>
            <a:ext cx="7975600"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pPr>
            <a:r>
              <a:rPr lang="fr-FR" sz="1800">
                <a:solidFill>
                  <a:srgbClr val="333333"/>
                </a:solidFill>
                <a:latin typeface="Arial" charset="0"/>
              </a:rPr>
              <a:t>Les requêtes POST et PUT sont utilisées pour envoyer des messages qui  téléchargent des données vers le serveur Web.</a:t>
            </a:r>
          </a:p>
          <a:p>
            <a:pPr eaLnBrk="1" hangingPunct="1">
              <a:spcBef>
                <a:spcPct val="0"/>
              </a:spcBef>
              <a:buClr>
                <a:srgbClr val="00007C"/>
              </a:buClr>
              <a:buFont typeface="Wingdings" pitchFamily="2" charset="2"/>
              <a:buChar char=""/>
            </a:pPr>
            <a:r>
              <a:rPr lang="fr-FR" sz="1800" b="1">
                <a:solidFill>
                  <a:srgbClr val="333333"/>
                </a:solidFill>
                <a:latin typeface="Courier New" pitchFamily="49" charset="0"/>
                <a:cs typeface="Courier New" pitchFamily="49" charset="0"/>
              </a:rPr>
              <a:t>POST: </a:t>
            </a:r>
            <a:r>
              <a:rPr lang="fr-FR" sz="1800">
                <a:solidFill>
                  <a:srgbClr val="333333"/>
                </a:solidFill>
                <a:latin typeface="Arial" charset="0"/>
              </a:rPr>
              <a:t>comprend les données dans le message envoyé au serveur.</a:t>
            </a:r>
          </a:p>
          <a:p>
            <a:pPr eaLnBrk="1" hangingPunct="1">
              <a:spcBef>
                <a:spcPct val="0"/>
              </a:spcBef>
              <a:buClr>
                <a:srgbClr val="00007C"/>
              </a:buClr>
              <a:buFont typeface="Wingdings" pitchFamily="2" charset="2"/>
              <a:buChar char=""/>
            </a:pPr>
            <a:r>
              <a:rPr lang="fr-FR" sz="1800" b="1">
                <a:solidFill>
                  <a:srgbClr val="333333"/>
                </a:solidFill>
                <a:latin typeface="Courier New" pitchFamily="49" charset="0"/>
                <a:cs typeface="Courier New" pitchFamily="49" charset="0"/>
              </a:rPr>
              <a:t>PUT:  </a:t>
            </a:r>
            <a:r>
              <a:rPr lang="fr-FR" sz="1800">
                <a:solidFill>
                  <a:srgbClr val="333333"/>
                </a:solidFill>
                <a:latin typeface="Arial" charset="0"/>
              </a:rPr>
              <a:t>télécharge des ressources ou du contenu vers le serveur Web</a:t>
            </a:r>
          </a:p>
        </p:txBody>
      </p:sp>
      <p:pic>
        <p:nvPicPr>
          <p:cNvPr id="48136"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6313" y="1196975"/>
            <a:ext cx="200025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271464266"/>
      </p:ext>
    </p:extLst>
  </p:cSld>
  <p:clrMapOvr>
    <a:masterClrMapping/>
  </p:clrMapOvr>
  <p:transition>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4915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Message de réponse HTTP</a:t>
            </a:r>
          </a:p>
        </p:txBody>
      </p:sp>
      <p:sp>
        <p:nvSpPr>
          <p:cNvPr id="49156" name="object 6"/>
          <p:cNvSpPr>
            <a:spLocks noChangeArrowheads="1"/>
          </p:cNvSpPr>
          <p:nvPr/>
        </p:nvSpPr>
        <p:spPr bwMode="auto">
          <a:xfrm>
            <a:off x="4857750" y="928688"/>
            <a:ext cx="3929063" cy="121443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12" name="object 9"/>
          <p:cNvSpPr txBox="1"/>
          <p:nvPr/>
        </p:nvSpPr>
        <p:spPr>
          <a:xfrm>
            <a:off x="928688" y="2203450"/>
            <a:ext cx="7572375" cy="2154238"/>
          </a:xfrm>
          <a:prstGeom prst="rect">
            <a:avLst/>
          </a:prstGeom>
        </p:spPr>
        <p:style>
          <a:lnRef idx="2">
            <a:schemeClr val="dk1"/>
          </a:lnRef>
          <a:fillRef idx="1">
            <a:schemeClr val="lt1"/>
          </a:fillRef>
          <a:effectRef idx="0">
            <a:schemeClr val="dk1"/>
          </a:effectRef>
          <a:fontRef idx="minor">
            <a:schemeClr val="dk1"/>
          </a:fontRef>
        </p:style>
        <p:txBody>
          <a:bodyPr lIns="0" tIns="0" rIns="0" bIns="0">
            <a:spAutoFit/>
          </a:bodyPr>
          <a:lstStyle/>
          <a:p>
            <a:pPr marL="12700">
              <a:spcBef>
                <a:spcPct val="0"/>
              </a:spcBef>
              <a:defRPr/>
            </a:pPr>
            <a:r>
              <a:rPr lang="fr-FR" sz="1400" b="1">
                <a:solidFill>
                  <a:srgbClr val="C00000"/>
                </a:solidFill>
                <a:latin typeface="Courier New" pitchFamily="49" charset="0"/>
                <a:cs typeface="Courier New" pitchFamily="49" charset="0"/>
              </a:rPr>
              <a:t>HTTP/1.1 200 OK</a:t>
            </a:r>
            <a:endParaRPr lang="fr-FR" sz="1400">
              <a:solidFill>
                <a:srgbClr val="C00000"/>
              </a:solidFill>
              <a:latin typeface="Courier New" pitchFamily="49" charset="0"/>
              <a:cs typeface="Courier New" pitchFamily="49" charset="0"/>
            </a:endParaRPr>
          </a:p>
          <a:p>
            <a:pPr marL="12700">
              <a:spcBef>
                <a:spcPct val="0"/>
              </a:spcBef>
              <a:defRPr/>
            </a:pPr>
            <a:r>
              <a:rPr lang="fr-FR" sz="1400" b="1">
                <a:solidFill>
                  <a:srgbClr val="333333"/>
                </a:solidFill>
                <a:latin typeface="Courier New" pitchFamily="49" charset="0"/>
                <a:cs typeface="Courier New" pitchFamily="49" charset="0"/>
              </a:rPr>
              <a:t>Date: Fri, 22 Feb 2008 16:34:18 GMT</a:t>
            </a:r>
            <a:endParaRPr lang="fr-FR" sz="1400">
              <a:solidFill>
                <a:srgbClr val="333333"/>
              </a:solidFill>
              <a:latin typeface="Courier New" pitchFamily="49" charset="0"/>
              <a:cs typeface="Courier New" pitchFamily="49" charset="0"/>
            </a:endParaRPr>
          </a:p>
          <a:p>
            <a:pPr marL="12700">
              <a:spcBef>
                <a:spcPct val="0"/>
              </a:spcBef>
              <a:defRPr/>
            </a:pPr>
            <a:r>
              <a:rPr lang="fr-FR" sz="1400" b="1">
                <a:solidFill>
                  <a:srgbClr val="333333"/>
                </a:solidFill>
                <a:latin typeface="Courier New" pitchFamily="49" charset="0"/>
                <a:cs typeface="Courier New" pitchFamily="49" charset="0"/>
              </a:rPr>
              <a:t>Server: Apache/2.0.52 (Red Hat)</a:t>
            </a:r>
            <a:endParaRPr lang="fr-FR" sz="1400">
              <a:solidFill>
                <a:srgbClr val="333333"/>
              </a:solidFill>
              <a:latin typeface="Courier New" pitchFamily="49" charset="0"/>
              <a:cs typeface="Courier New" pitchFamily="49" charset="0"/>
            </a:endParaRPr>
          </a:p>
          <a:p>
            <a:pPr marL="12700">
              <a:spcBef>
                <a:spcPct val="0"/>
              </a:spcBef>
              <a:defRPr/>
            </a:pPr>
            <a:r>
              <a:rPr lang="fr-FR" sz="1400" b="1">
                <a:solidFill>
                  <a:srgbClr val="333333"/>
                </a:solidFill>
                <a:latin typeface="Courier New" pitchFamily="49" charset="0"/>
                <a:cs typeface="Courier New" pitchFamily="49" charset="0"/>
              </a:rPr>
              <a:t>Last-Modified: Thu, 15 Nov 2007 19:33:12 GMT</a:t>
            </a:r>
            <a:endParaRPr lang="fr-FR" sz="1400">
              <a:solidFill>
                <a:srgbClr val="333333"/>
              </a:solidFill>
              <a:latin typeface="Courier New" pitchFamily="49" charset="0"/>
              <a:cs typeface="Courier New" pitchFamily="49" charset="0"/>
            </a:endParaRPr>
          </a:p>
          <a:p>
            <a:pPr marL="12700">
              <a:spcBef>
                <a:spcPct val="0"/>
              </a:spcBef>
              <a:defRPr/>
            </a:pPr>
            <a:r>
              <a:rPr lang="fr-FR" sz="1400" b="1">
                <a:solidFill>
                  <a:srgbClr val="333333"/>
                </a:solidFill>
                <a:latin typeface="Courier New" pitchFamily="49" charset="0"/>
                <a:cs typeface="Courier New" pitchFamily="49" charset="0"/>
              </a:rPr>
              <a:t>Content-Length: 15137  Connection: close  Content-Type: text/html</a:t>
            </a:r>
            <a:endParaRPr lang="fr-FR" sz="1700">
              <a:solidFill>
                <a:srgbClr val="333333"/>
              </a:solidFill>
              <a:latin typeface="Times New Roman" pitchFamily="18" charset="0"/>
              <a:cs typeface="Times New Roman" pitchFamily="18" charset="0"/>
            </a:endParaRPr>
          </a:p>
          <a:p>
            <a:pPr marL="12700">
              <a:spcBef>
                <a:spcPct val="0"/>
              </a:spcBef>
              <a:defRPr/>
            </a:pPr>
            <a:r>
              <a:rPr lang="fr-FR" sz="1400" b="1">
                <a:solidFill>
                  <a:srgbClr val="333333"/>
                </a:solidFill>
                <a:latin typeface="Courier New" pitchFamily="49" charset="0"/>
                <a:cs typeface="Courier New" pitchFamily="49" charset="0"/>
              </a:rPr>
              <a:t>&lt;!DOCTYPE html PUBLIC "-//W3C//DTD XHTML 1.0 Transitional//EN"  "</a:t>
            </a:r>
            <a:r>
              <a:rPr lang="fr-FR" sz="1400" b="1">
                <a:solidFill>
                  <a:srgbClr val="0070C0"/>
                </a:solidFill>
                <a:latin typeface="Courier New" pitchFamily="49" charset="0"/>
                <a:cs typeface="Courier New" pitchFamily="49" charset="0"/>
                <a:hlinkClick r:id="rId5"/>
              </a:rPr>
              <a:t>http://www.w3.org/TR/xhtml1/DTD/xhtml1-transitional.dtd</a:t>
            </a:r>
            <a:r>
              <a:rPr lang="fr-FR" sz="1400" b="1">
                <a:solidFill>
                  <a:srgbClr val="333333"/>
                </a:solidFill>
                <a:latin typeface="Courier New" pitchFamily="49" charset="0"/>
                <a:cs typeface="Courier New" pitchFamily="49" charset="0"/>
              </a:rPr>
              <a:t>"&gt;</a:t>
            </a:r>
            <a:endParaRPr lang="fr-FR" sz="1400">
              <a:solidFill>
                <a:srgbClr val="333333"/>
              </a:solidFill>
              <a:latin typeface="Courier New" pitchFamily="49" charset="0"/>
              <a:cs typeface="Courier New" pitchFamily="49" charset="0"/>
            </a:endParaRPr>
          </a:p>
          <a:p>
            <a:pPr marL="12700">
              <a:spcBef>
                <a:spcPct val="0"/>
              </a:spcBef>
              <a:defRPr/>
            </a:pPr>
            <a:r>
              <a:rPr lang="fr-FR" sz="1400" b="1">
                <a:solidFill>
                  <a:srgbClr val="333333"/>
                </a:solidFill>
                <a:latin typeface="Courier New" pitchFamily="49" charset="0"/>
                <a:cs typeface="Courier New" pitchFamily="49" charset="0"/>
              </a:rPr>
              <a:t>&lt;html xmlns="</a:t>
            </a:r>
            <a:r>
              <a:rPr lang="fr-FR" sz="1400" b="1">
                <a:solidFill>
                  <a:srgbClr val="333333"/>
                </a:solidFill>
                <a:latin typeface="Courier New" pitchFamily="49" charset="0"/>
                <a:cs typeface="Courier New" pitchFamily="49" charset="0"/>
                <a:hlinkClick r:id="rId6"/>
              </a:rPr>
              <a:t>http://www.w3.org/1999/xhtml</a:t>
            </a:r>
            <a:r>
              <a:rPr lang="fr-FR" sz="1400" b="1">
                <a:solidFill>
                  <a:srgbClr val="333333"/>
                </a:solidFill>
                <a:latin typeface="Courier New" pitchFamily="49" charset="0"/>
                <a:cs typeface="Courier New" pitchFamily="49" charset="0"/>
              </a:rPr>
              <a:t>"&gt;</a:t>
            </a:r>
            <a:endParaRPr lang="fr-FR" sz="1700">
              <a:solidFill>
                <a:srgbClr val="4D4D4D"/>
              </a:solidFill>
              <a:latin typeface="Times New Roman" pitchFamily="18" charset="0"/>
              <a:cs typeface="Times New Roman" pitchFamily="18" charset="0"/>
            </a:endParaRPr>
          </a:p>
        </p:txBody>
      </p:sp>
      <p:sp>
        <p:nvSpPr>
          <p:cNvPr id="13" name="Rectangle 12"/>
          <p:cNvSpPr/>
          <p:nvPr/>
        </p:nvSpPr>
        <p:spPr>
          <a:xfrm>
            <a:off x="428625" y="1219200"/>
            <a:ext cx="4500563" cy="923925"/>
          </a:xfrm>
          <a:prstGeom prst="rect">
            <a:avLst/>
          </a:prstGeom>
        </p:spPr>
        <p:txBody>
          <a:bodyPr>
            <a:spAutoFit/>
          </a:bodyPr>
          <a:lstStyle/>
          <a:p>
            <a:pPr marL="12700">
              <a:spcBef>
                <a:spcPts val="0"/>
              </a:spcBef>
              <a:defRPr/>
            </a:pPr>
            <a:r>
              <a:rPr lang="fr-FR" sz="1800" b="1" spc="-5" dirty="0">
                <a:solidFill>
                  <a:srgbClr val="333333"/>
                </a:solidFill>
                <a:latin typeface="+mn-lt"/>
                <a:cs typeface="Arial"/>
              </a:rPr>
              <a:t>Exemple de ligne</a:t>
            </a:r>
            <a:r>
              <a:rPr lang="fr-FR" sz="1800" b="1" spc="-80" dirty="0">
                <a:solidFill>
                  <a:srgbClr val="333333"/>
                </a:solidFill>
                <a:latin typeface="+mn-lt"/>
                <a:cs typeface="Arial"/>
              </a:rPr>
              <a:t> </a:t>
            </a:r>
            <a:r>
              <a:rPr lang="fr-FR" sz="1800" b="1" spc="-5" dirty="0">
                <a:solidFill>
                  <a:srgbClr val="333333"/>
                </a:solidFill>
                <a:latin typeface="+mn-lt"/>
                <a:cs typeface="Arial"/>
              </a:rPr>
              <a:t>d’état</a:t>
            </a:r>
            <a:endParaRPr lang="fr-FR" sz="1800" dirty="0">
              <a:solidFill>
                <a:srgbClr val="333333"/>
              </a:solidFill>
              <a:latin typeface="+mn-lt"/>
              <a:cs typeface="Arial"/>
            </a:endParaRPr>
          </a:p>
          <a:p>
            <a:pPr marL="355600">
              <a:spcBef>
                <a:spcPts val="0"/>
              </a:spcBef>
              <a:tabLst>
                <a:tab pos="1840864" algn="l"/>
              </a:tabLst>
              <a:defRPr/>
            </a:pPr>
            <a:r>
              <a:rPr lang="fr-FR" sz="1800" b="1" spc="-5" dirty="0">
                <a:solidFill>
                  <a:srgbClr val="C00000"/>
                </a:solidFill>
                <a:latin typeface="+mn-lt"/>
                <a:cs typeface="Courier New"/>
              </a:rPr>
              <a:t>HTTP/1.1 </a:t>
            </a:r>
            <a:r>
              <a:rPr lang="fr-FR" sz="1800" dirty="0">
                <a:solidFill>
                  <a:srgbClr val="333333"/>
                </a:solidFill>
                <a:latin typeface="+mn-lt"/>
                <a:cs typeface="Arial"/>
              </a:rPr>
              <a:t> </a:t>
            </a:r>
            <a:r>
              <a:rPr lang="fr-FR" sz="1600" dirty="0">
                <a:solidFill>
                  <a:srgbClr val="333333"/>
                </a:solidFill>
                <a:latin typeface="+mn-lt"/>
                <a:cs typeface="Arial"/>
              </a:rPr>
              <a:t>version </a:t>
            </a:r>
            <a:r>
              <a:rPr lang="fr-FR" sz="1600" spc="-5" dirty="0">
                <a:solidFill>
                  <a:srgbClr val="333333"/>
                </a:solidFill>
                <a:latin typeface="+mn-lt"/>
                <a:cs typeface="Arial"/>
              </a:rPr>
              <a:t>HTTP/1.1 </a:t>
            </a:r>
            <a:r>
              <a:rPr lang="fr-FR" sz="1600" dirty="0">
                <a:solidFill>
                  <a:srgbClr val="333333"/>
                </a:solidFill>
                <a:latin typeface="+mn-lt"/>
                <a:cs typeface="Arial"/>
              </a:rPr>
              <a:t>du</a:t>
            </a:r>
            <a:r>
              <a:rPr lang="fr-FR" sz="1600" spc="-120" dirty="0">
                <a:solidFill>
                  <a:srgbClr val="333333"/>
                </a:solidFill>
                <a:latin typeface="+mn-lt"/>
                <a:cs typeface="Arial"/>
              </a:rPr>
              <a:t>   </a:t>
            </a:r>
            <a:r>
              <a:rPr lang="fr-FR" sz="1600" dirty="0">
                <a:solidFill>
                  <a:srgbClr val="333333"/>
                </a:solidFill>
                <a:latin typeface="+mn-lt"/>
                <a:cs typeface="Arial"/>
              </a:rPr>
              <a:t>serveur</a:t>
            </a:r>
            <a:endParaRPr lang="fr-FR" sz="1800" dirty="0">
              <a:solidFill>
                <a:srgbClr val="333333"/>
              </a:solidFill>
              <a:latin typeface="+mn-lt"/>
              <a:cs typeface="Arial"/>
            </a:endParaRPr>
          </a:p>
          <a:p>
            <a:pPr marL="355600">
              <a:spcBef>
                <a:spcPts val="0"/>
              </a:spcBef>
              <a:tabLst>
                <a:tab pos="1840864" algn="l"/>
              </a:tabLst>
              <a:defRPr/>
            </a:pPr>
            <a:r>
              <a:rPr lang="fr-FR" sz="1800" b="1" spc="-5" dirty="0">
                <a:solidFill>
                  <a:srgbClr val="C00000"/>
                </a:solidFill>
                <a:latin typeface="+mn-lt"/>
                <a:cs typeface="Courier New"/>
              </a:rPr>
              <a:t>200 </a:t>
            </a:r>
            <a:r>
              <a:rPr lang="fr-FR" sz="1800" b="1" spc="110" dirty="0">
                <a:solidFill>
                  <a:srgbClr val="C00000"/>
                </a:solidFill>
                <a:latin typeface="+mn-lt"/>
                <a:cs typeface="Courier New"/>
              </a:rPr>
              <a:t> </a:t>
            </a:r>
            <a:r>
              <a:rPr lang="fr-FR" sz="1800" b="1" spc="-5" dirty="0">
                <a:solidFill>
                  <a:srgbClr val="C00000"/>
                </a:solidFill>
                <a:latin typeface="+mn-lt"/>
                <a:cs typeface="Courier New"/>
              </a:rPr>
              <a:t>OK   </a:t>
            </a:r>
            <a:r>
              <a:rPr lang="fr-FR" sz="1800" b="1" spc="-85" dirty="0">
                <a:solidFill>
                  <a:srgbClr val="333333"/>
                </a:solidFill>
                <a:latin typeface="+mn-lt"/>
                <a:cs typeface="Arial"/>
              </a:rPr>
              <a:t> </a:t>
            </a:r>
            <a:r>
              <a:rPr lang="fr-FR" sz="1800" dirty="0">
                <a:solidFill>
                  <a:srgbClr val="333333"/>
                </a:solidFill>
                <a:latin typeface="+mn-lt"/>
                <a:cs typeface="Arial"/>
              </a:rPr>
              <a:t>succès</a:t>
            </a:r>
          </a:p>
        </p:txBody>
      </p:sp>
      <p:sp>
        <p:nvSpPr>
          <p:cNvPr id="14" name="object 8"/>
          <p:cNvSpPr txBox="1"/>
          <p:nvPr/>
        </p:nvSpPr>
        <p:spPr>
          <a:xfrm>
            <a:off x="1147763" y="4552950"/>
            <a:ext cx="7853362" cy="1917700"/>
          </a:xfrm>
          <a:prstGeom prst="rect">
            <a:avLst/>
          </a:prstGeom>
        </p:spPr>
        <p:txBody>
          <a:bodyPr lIns="0" tIns="0" rIns="0" bIns="0">
            <a:spAutoFit/>
          </a:bodyPr>
          <a:lstStyle/>
          <a:p>
            <a:pPr marL="88900">
              <a:defRPr/>
            </a:pPr>
            <a:r>
              <a:rPr sz="1800" b="1" u="sng" spc="-5" dirty="0">
                <a:solidFill>
                  <a:srgbClr val="333333"/>
                </a:solidFill>
                <a:latin typeface="+mn-lt"/>
                <a:cs typeface="Arial"/>
              </a:rPr>
              <a:t>Codes d’état</a:t>
            </a:r>
            <a:r>
              <a:rPr sz="1800" b="1" u="sng" spc="-55" dirty="0">
                <a:solidFill>
                  <a:srgbClr val="333333"/>
                </a:solidFill>
                <a:latin typeface="+mn-lt"/>
                <a:cs typeface="Arial"/>
              </a:rPr>
              <a:t> </a:t>
            </a:r>
            <a:r>
              <a:rPr sz="1800" b="1" u="sng" spc="-5" dirty="0">
                <a:solidFill>
                  <a:srgbClr val="333333"/>
                </a:solidFill>
                <a:latin typeface="+mn-lt"/>
                <a:cs typeface="Arial"/>
              </a:rPr>
              <a:t>courants</a:t>
            </a:r>
            <a:endParaRPr sz="1800" b="1" u="sng" dirty="0">
              <a:solidFill>
                <a:srgbClr val="333333"/>
              </a:solidFill>
              <a:latin typeface="+mn-lt"/>
              <a:cs typeface="Arial"/>
            </a:endParaRPr>
          </a:p>
          <a:p>
            <a:pPr marL="88900">
              <a:spcBef>
                <a:spcPts val="260"/>
              </a:spcBef>
              <a:defRPr/>
            </a:pPr>
            <a:r>
              <a:rPr sz="1800" b="1" spc="-5" dirty="0">
                <a:solidFill>
                  <a:srgbClr val="333333"/>
                </a:solidFill>
                <a:latin typeface="+mn-lt"/>
                <a:cs typeface="Courier New"/>
              </a:rPr>
              <a:t>200</a:t>
            </a:r>
            <a:r>
              <a:rPr sz="1800" spc="-100" dirty="0">
                <a:solidFill>
                  <a:srgbClr val="333333"/>
                </a:solidFill>
                <a:latin typeface="+mn-lt"/>
                <a:cs typeface="Courier New"/>
              </a:rPr>
              <a:t> </a:t>
            </a:r>
            <a:r>
              <a:rPr sz="1800" spc="-10" dirty="0">
                <a:solidFill>
                  <a:srgbClr val="333333"/>
                </a:solidFill>
                <a:latin typeface="+mn-lt"/>
                <a:cs typeface="Courier New"/>
              </a:rPr>
              <a:t>OK</a:t>
            </a:r>
            <a:endParaRPr sz="1800" dirty="0">
              <a:solidFill>
                <a:srgbClr val="333333"/>
              </a:solidFill>
              <a:latin typeface="+mn-lt"/>
              <a:cs typeface="Courier New"/>
            </a:endParaRPr>
          </a:p>
          <a:p>
            <a:pPr marL="88900">
              <a:spcBef>
                <a:spcPts val="480"/>
              </a:spcBef>
              <a:defRPr/>
            </a:pPr>
            <a:r>
              <a:rPr sz="1800" b="1" spc="-5" dirty="0">
                <a:solidFill>
                  <a:srgbClr val="333333"/>
                </a:solidFill>
                <a:latin typeface="+mn-lt"/>
                <a:cs typeface="Courier New"/>
              </a:rPr>
              <a:t>301</a:t>
            </a:r>
            <a:r>
              <a:rPr sz="1800" spc="-5" dirty="0">
                <a:solidFill>
                  <a:srgbClr val="333333"/>
                </a:solidFill>
                <a:latin typeface="+mn-lt"/>
                <a:cs typeface="Courier New"/>
              </a:rPr>
              <a:t> </a:t>
            </a:r>
            <a:r>
              <a:rPr sz="1800" spc="-5" dirty="0">
                <a:solidFill>
                  <a:srgbClr val="333333"/>
                </a:solidFill>
                <a:latin typeface="+mn-lt"/>
                <a:cs typeface="Arial"/>
              </a:rPr>
              <a:t>Document déplacé </a:t>
            </a:r>
            <a:r>
              <a:rPr sz="1800" dirty="0">
                <a:solidFill>
                  <a:srgbClr val="333333"/>
                </a:solidFill>
                <a:latin typeface="+mn-lt"/>
                <a:cs typeface="Arial"/>
              </a:rPr>
              <a:t>de </a:t>
            </a:r>
            <a:r>
              <a:rPr sz="1800" spc="-5" dirty="0">
                <a:solidFill>
                  <a:srgbClr val="333333"/>
                </a:solidFill>
                <a:latin typeface="+mn-lt"/>
                <a:cs typeface="Arial"/>
              </a:rPr>
              <a:t>façon</a:t>
            </a:r>
            <a:r>
              <a:rPr sz="1800" spc="-40" dirty="0">
                <a:solidFill>
                  <a:srgbClr val="333333"/>
                </a:solidFill>
                <a:latin typeface="+mn-lt"/>
                <a:cs typeface="Arial"/>
              </a:rPr>
              <a:t> </a:t>
            </a:r>
            <a:r>
              <a:rPr sz="1800" spc="-5" dirty="0">
                <a:solidFill>
                  <a:srgbClr val="333333"/>
                </a:solidFill>
                <a:latin typeface="+mn-lt"/>
                <a:cs typeface="Arial"/>
              </a:rPr>
              <a:t>permanente</a:t>
            </a:r>
            <a:endParaRPr sz="1800" dirty="0">
              <a:solidFill>
                <a:srgbClr val="333333"/>
              </a:solidFill>
              <a:latin typeface="+mn-lt"/>
              <a:cs typeface="Arial"/>
            </a:endParaRPr>
          </a:p>
          <a:p>
            <a:pPr marL="88900">
              <a:spcBef>
                <a:spcPts val="430"/>
              </a:spcBef>
              <a:defRPr/>
            </a:pPr>
            <a:r>
              <a:rPr sz="1800" b="1" spc="-5" dirty="0">
                <a:solidFill>
                  <a:srgbClr val="333333"/>
                </a:solidFill>
                <a:latin typeface="+mn-lt"/>
                <a:cs typeface="Courier New"/>
              </a:rPr>
              <a:t>400</a:t>
            </a:r>
            <a:r>
              <a:rPr sz="1800" spc="-5" dirty="0">
                <a:solidFill>
                  <a:srgbClr val="333333"/>
                </a:solidFill>
                <a:latin typeface="+mn-lt"/>
                <a:cs typeface="Courier New"/>
              </a:rPr>
              <a:t> </a:t>
            </a:r>
            <a:r>
              <a:rPr sz="1800" dirty="0">
                <a:solidFill>
                  <a:srgbClr val="333333"/>
                </a:solidFill>
                <a:latin typeface="+mn-lt"/>
                <a:cs typeface="Arial"/>
              </a:rPr>
              <a:t>La </a:t>
            </a:r>
            <a:r>
              <a:rPr sz="1800" spc="-10" dirty="0">
                <a:solidFill>
                  <a:srgbClr val="333333"/>
                </a:solidFill>
                <a:latin typeface="+mn-lt"/>
                <a:cs typeface="Arial"/>
              </a:rPr>
              <a:t>syntaxe </a:t>
            </a:r>
            <a:r>
              <a:rPr sz="1800" dirty="0">
                <a:solidFill>
                  <a:srgbClr val="333333"/>
                </a:solidFill>
                <a:latin typeface="+mn-lt"/>
                <a:cs typeface="Arial"/>
              </a:rPr>
              <a:t>de la </a:t>
            </a:r>
            <a:r>
              <a:rPr sz="1800" spc="-5" dirty="0">
                <a:solidFill>
                  <a:srgbClr val="333333"/>
                </a:solidFill>
                <a:latin typeface="+mn-lt"/>
                <a:cs typeface="Arial"/>
              </a:rPr>
              <a:t>requête est</a:t>
            </a:r>
            <a:r>
              <a:rPr sz="1800" spc="-30" dirty="0">
                <a:solidFill>
                  <a:srgbClr val="333333"/>
                </a:solidFill>
                <a:latin typeface="+mn-lt"/>
                <a:cs typeface="Arial"/>
              </a:rPr>
              <a:t> </a:t>
            </a:r>
            <a:r>
              <a:rPr sz="1800" spc="-5" dirty="0">
                <a:solidFill>
                  <a:srgbClr val="333333"/>
                </a:solidFill>
                <a:latin typeface="+mn-lt"/>
                <a:cs typeface="Arial"/>
              </a:rPr>
              <a:t>erronée</a:t>
            </a:r>
            <a:endParaRPr sz="1800" dirty="0">
              <a:solidFill>
                <a:srgbClr val="333333"/>
              </a:solidFill>
              <a:latin typeface="+mn-lt"/>
              <a:cs typeface="Arial"/>
            </a:endParaRPr>
          </a:p>
          <a:p>
            <a:pPr marL="88900">
              <a:spcBef>
                <a:spcPts val="430"/>
              </a:spcBef>
              <a:defRPr/>
            </a:pPr>
            <a:r>
              <a:rPr sz="1800" b="1" spc="-5" dirty="0">
                <a:solidFill>
                  <a:srgbClr val="333333"/>
                </a:solidFill>
                <a:latin typeface="+mn-lt"/>
                <a:cs typeface="Courier New"/>
              </a:rPr>
              <a:t>404</a:t>
            </a:r>
            <a:r>
              <a:rPr sz="1800" spc="-5" dirty="0">
                <a:solidFill>
                  <a:srgbClr val="333333"/>
                </a:solidFill>
                <a:latin typeface="+mn-lt"/>
                <a:cs typeface="Courier New"/>
              </a:rPr>
              <a:t> </a:t>
            </a:r>
            <a:r>
              <a:rPr sz="1800" spc="-5" dirty="0">
                <a:solidFill>
                  <a:srgbClr val="333333"/>
                </a:solidFill>
                <a:latin typeface="+mn-lt"/>
                <a:cs typeface="Arial"/>
              </a:rPr>
              <a:t>Document </a:t>
            </a:r>
            <a:r>
              <a:rPr sz="1800" dirty="0">
                <a:solidFill>
                  <a:srgbClr val="333333"/>
                </a:solidFill>
                <a:latin typeface="+mn-lt"/>
                <a:cs typeface="Arial"/>
              </a:rPr>
              <a:t>non</a:t>
            </a:r>
            <a:r>
              <a:rPr sz="1800" spc="-90" dirty="0">
                <a:solidFill>
                  <a:srgbClr val="333333"/>
                </a:solidFill>
                <a:latin typeface="+mn-lt"/>
                <a:cs typeface="Arial"/>
              </a:rPr>
              <a:t> </a:t>
            </a:r>
            <a:r>
              <a:rPr sz="1800" spc="-10" dirty="0">
                <a:solidFill>
                  <a:srgbClr val="333333"/>
                </a:solidFill>
                <a:latin typeface="+mn-lt"/>
                <a:cs typeface="Arial"/>
              </a:rPr>
              <a:t>trouvé</a:t>
            </a:r>
            <a:endParaRPr sz="1800" dirty="0">
              <a:solidFill>
                <a:srgbClr val="333333"/>
              </a:solidFill>
              <a:latin typeface="+mn-lt"/>
              <a:cs typeface="Arial"/>
            </a:endParaRPr>
          </a:p>
          <a:p>
            <a:pPr marL="88900">
              <a:spcBef>
                <a:spcPts val="430"/>
              </a:spcBef>
              <a:defRPr/>
            </a:pPr>
            <a:r>
              <a:rPr sz="1800" b="1" spc="-5" dirty="0">
                <a:solidFill>
                  <a:srgbClr val="333333"/>
                </a:solidFill>
                <a:latin typeface="+mn-lt"/>
                <a:cs typeface="Courier New"/>
              </a:rPr>
              <a:t>505</a:t>
            </a:r>
            <a:r>
              <a:rPr sz="1800" spc="-5" dirty="0">
                <a:solidFill>
                  <a:srgbClr val="333333"/>
                </a:solidFill>
                <a:latin typeface="+mn-lt"/>
                <a:cs typeface="Courier New"/>
              </a:rPr>
              <a:t> </a:t>
            </a:r>
            <a:r>
              <a:rPr sz="1800" spc="-20" dirty="0">
                <a:solidFill>
                  <a:srgbClr val="333333"/>
                </a:solidFill>
                <a:latin typeface="+mn-lt"/>
                <a:cs typeface="Arial"/>
              </a:rPr>
              <a:t>Version </a:t>
            </a:r>
            <a:r>
              <a:rPr sz="1800" spc="-5" dirty="0">
                <a:solidFill>
                  <a:srgbClr val="333333"/>
                </a:solidFill>
                <a:latin typeface="+mn-lt"/>
                <a:cs typeface="Arial"/>
              </a:rPr>
              <a:t>HTTP </a:t>
            </a:r>
            <a:r>
              <a:rPr sz="1800" dirty="0">
                <a:solidFill>
                  <a:srgbClr val="333333"/>
                </a:solidFill>
                <a:latin typeface="+mn-lt"/>
                <a:cs typeface="Arial"/>
              </a:rPr>
              <a:t>non </a:t>
            </a:r>
            <a:r>
              <a:rPr sz="1800" spc="-5" dirty="0">
                <a:solidFill>
                  <a:srgbClr val="333333"/>
                </a:solidFill>
                <a:latin typeface="+mn-lt"/>
                <a:cs typeface="Arial"/>
              </a:rPr>
              <a:t>gérée par </a:t>
            </a:r>
            <a:r>
              <a:rPr sz="1800" dirty="0">
                <a:solidFill>
                  <a:srgbClr val="333333"/>
                </a:solidFill>
                <a:latin typeface="+mn-lt"/>
                <a:cs typeface="Arial"/>
              </a:rPr>
              <a:t>le</a:t>
            </a:r>
            <a:r>
              <a:rPr sz="1800" spc="-70" dirty="0">
                <a:solidFill>
                  <a:srgbClr val="333333"/>
                </a:solidFill>
                <a:latin typeface="+mn-lt"/>
                <a:cs typeface="Arial"/>
              </a:rPr>
              <a:t> </a:t>
            </a:r>
            <a:r>
              <a:rPr sz="1800" spc="-10" dirty="0" err="1">
                <a:solidFill>
                  <a:srgbClr val="333333"/>
                </a:solidFill>
                <a:latin typeface="+mn-lt"/>
                <a:cs typeface="Arial"/>
              </a:rPr>
              <a:t>serveur</a:t>
            </a:r>
            <a:r>
              <a:rPr sz="1800" spc="-5" dirty="0">
                <a:solidFill>
                  <a:srgbClr val="333333"/>
                </a:solidFill>
                <a:latin typeface="+mn-lt"/>
                <a:cs typeface="Arial"/>
              </a:rPr>
              <a:t>.</a:t>
            </a:r>
            <a:endParaRPr sz="1800" dirty="0">
              <a:solidFill>
                <a:srgbClr val="333333"/>
              </a:solidFill>
              <a:latin typeface="+mn-lt"/>
              <a:cs typeface="Arial"/>
            </a:endParaRPr>
          </a:p>
        </p:txBody>
      </p:sp>
    </p:spTree>
    <p:custDataLst>
      <p:tags r:id="rId1"/>
    </p:custDataLst>
    <p:extLst>
      <p:ext uri="{BB962C8B-B14F-4D97-AF65-F5344CB8AC3E}">
        <p14:creationId xmlns:p14="http://schemas.microsoft.com/office/powerpoint/2010/main" val="79604800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120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SMTP – Simple Mail Transfer Protocol</a:t>
            </a:r>
          </a:p>
        </p:txBody>
      </p:sp>
      <p:grpSp>
        <p:nvGrpSpPr>
          <p:cNvPr id="51204" name="Groupe 8"/>
          <p:cNvGrpSpPr>
            <a:grpSpLocks/>
          </p:cNvGrpSpPr>
          <p:nvPr/>
        </p:nvGrpSpPr>
        <p:grpSpPr bwMode="auto">
          <a:xfrm>
            <a:off x="785813" y="1000125"/>
            <a:ext cx="8001000" cy="1428750"/>
            <a:chOff x="1081412" y="1379727"/>
            <a:chExt cx="8001056" cy="1864869"/>
          </a:xfrm>
        </p:grpSpPr>
        <p:sp>
          <p:nvSpPr>
            <p:cNvPr id="51208" name="object 3"/>
            <p:cNvSpPr>
              <a:spLocks noChangeArrowheads="1"/>
            </p:cNvSpPr>
            <p:nvPr/>
          </p:nvSpPr>
          <p:spPr bwMode="auto">
            <a:xfrm>
              <a:off x="3593470" y="1840991"/>
              <a:ext cx="891539" cy="932688"/>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09" name="object 4"/>
            <p:cNvSpPr>
              <a:spLocks noChangeArrowheads="1"/>
            </p:cNvSpPr>
            <p:nvPr/>
          </p:nvSpPr>
          <p:spPr bwMode="auto">
            <a:xfrm>
              <a:off x="6031870" y="1840991"/>
              <a:ext cx="891539" cy="932688"/>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10" name="object 5"/>
            <p:cNvSpPr>
              <a:spLocks noChangeArrowheads="1"/>
            </p:cNvSpPr>
            <p:nvPr/>
          </p:nvSpPr>
          <p:spPr bwMode="auto">
            <a:xfrm>
              <a:off x="1459871" y="1917191"/>
              <a:ext cx="762000" cy="66141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11" name="object 6"/>
            <p:cNvSpPr>
              <a:spLocks noChangeArrowheads="1"/>
            </p:cNvSpPr>
            <p:nvPr/>
          </p:nvSpPr>
          <p:spPr bwMode="auto">
            <a:xfrm>
              <a:off x="8241669" y="1917191"/>
              <a:ext cx="762000" cy="661416"/>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12" name="object 7"/>
            <p:cNvSpPr>
              <a:spLocks noChangeArrowheads="1"/>
            </p:cNvSpPr>
            <p:nvPr/>
          </p:nvSpPr>
          <p:spPr bwMode="auto">
            <a:xfrm>
              <a:off x="4279269" y="2221991"/>
              <a:ext cx="1905000" cy="152400"/>
            </a:xfrm>
            <a:custGeom>
              <a:avLst/>
              <a:gdLst>
                <a:gd name="T0" fmla="*/ 0 w 1905000"/>
                <a:gd name="T1" fmla="*/ 0 h 152400"/>
                <a:gd name="T2" fmla="*/ 1905000 w 1905000"/>
                <a:gd name="T3" fmla="*/ 152400 h 152400"/>
              </a:gdLst>
              <a:ahLst/>
              <a:cxnLst/>
              <a:rect l="T0" t="T1" r="T2" b="T3"/>
              <a:pathLst>
                <a:path w="1905000" h="152400">
                  <a:moveTo>
                    <a:pt x="1778507" y="100583"/>
                  </a:moveTo>
                  <a:lnTo>
                    <a:pt x="1778507" y="50291"/>
                  </a:lnTo>
                  <a:lnTo>
                    <a:pt x="0" y="50291"/>
                  </a:lnTo>
                  <a:lnTo>
                    <a:pt x="0" y="100583"/>
                  </a:lnTo>
                  <a:lnTo>
                    <a:pt x="1778507" y="100583"/>
                  </a:lnTo>
                  <a:close/>
                </a:path>
                <a:path w="1905000" h="152400">
                  <a:moveTo>
                    <a:pt x="1904999" y="76199"/>
                  </a:moveTo>
                  <a:lnTo>
                    <a:pt x="1752599" y="0"/>
                  </a:lnTo>
                  <a:lnTo>
                    <a:pt x="1752599" y="50291"/>
                  </a:lnTo>
                  <a:lnTo>
                    <a:pt x="1778507" y="50291"/>
                  </a:lnTo>
                  <a:lnTo>
                    <a:pt x="1778507" y="139445"/>
                  </a:lnTo>
                  <a:lnTo>
                    <a:pt x="1904999" y="76199"/>
                  </a:lnTo>
                  <a:close/>
                </a:path>
                <a:path w="1905000" h="152400">
                  <a:moveTo>
                    <a:pt x="1778507" y="139445"/>
                  </a:moveTo>
                  <a:lnTo>
                    <a:pt x="1778507" y="100583"/>
                  </a:lnTo>
                  <a:lnTo>
                    <a:pt x="1752599" y="100583"/>
                  </a:lnTo>
                  <a:lnTo>
                    <a:pt x="1752599" y="152399"/>
                  </a:lnTo>
                  <a:lnTo>
                    <a:pt x="1778507" y="139445"/>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13" name="object 8"/>
            <p:cNvSpPr>
              <a:spLocks noChangeArrowheads="1"/>
            </p:cNvSpPr>
            <p:nvPr/>
          </p:nvSpPr>
          <p:spPr bwMode="auto">
            <a:xfrm>
              <a:off x="2221869" y="2221991"/>
              <a:ext cx="1524000" cy="152400"/>
            </a:xfrm>
            <a:custGeom>
              <a:avLst/>
              <a:gdLst>
                <a:gd name="T0" fmla="*/ 0 w 1524000"/>
                <a:gd name="T1" fmla="*/ 0 h 152400"/>
                <a:gd name="T2" fmla="*/ 1524000 w 1524000"/>
                <a:gd name="T3" fmla="*/ 152400 h 152400"/>
              </a:gdLst>
              <a:ahLst/>
              <a:cxnLst/>
              <a:rect l="T0" t="T1" r="T2" b="T3"/>
              <a:pathLst>
                <a:path w="1524000" h="152400">
                  <a:moveTo>
                    <a:pt x="1397507" y="100583"/>
                  </a:moveTo>
                  <a:lnTo>
                    <a:pt x="1397507" y="50291"/>
                  </a:lnTo>
                  <a:lnTo>
                    <a:pt x="0" y="50291"/>
                  </a:lnTo>
                  <a:lnTo>
                    <a:pt x="0" y="100583"/>
                  </a:lnTo>
                  <a:lnTo>
                    <a:pt x="1397507" y="100583"/>
                  </a:lnTo>
                  <a:close/>
                </a:path>
                <a:path w="1524000" h="152400">
                  <a:moveTo>
                    <a:pt x="1523999" y="76199"/>
                  </a:moveTo>
                  <a:lnTo>
                    <a:pt x="1371599" y="0"/>
                  </a:lnTo>
                  <a:lnTo>
                    <a:pt x="1371599" y="50291"/>
                  </a:lnTo>
                  <a:lnTo>
                    <a:pt x="1397507" y="50291"/>
                  </a:lnTo>
                  <a:lnTo>
                    <a:pt x="1397507" y="139445"/>
                  </a:lnTo>
                  <a:lnTo>
                    <a:pt x="1523999" y="76199"/>
                  </a:lnTo>
                  <a:close/>
                </a:path>
                <a:path w="1524000" h="152400">
                  <a:moveTo>
                    <a:pt x="1397507" y="139445"/>
                  </a:moveTo>
                  <a:lnTo>
                    <a:pt x="1397507" y="100583"/>
                  </a:lnTo>
                  <a:lnTo>
                    <a:pt x="1371599" y="100583"/>
                  </a:lnTo>
                  <a:lnTo>
                    <a:pt x="1371599" y="152399"/>
                  </a:lnTo>
                  <a:lnTo>
                    <a:pt x="1397507" y="139445"/>
                  </a:lnTo>
                  <a:close/>
                </a:path>
              </a:pathLst>
            </a:custGeom>
            <a:solidFill>
              <a:srgbClr val="FF3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14" name="object 9"/>
            <p:cNvSpPr>
              <a:spLocks noChangeArrowheads="1"/>
            </p:cNvSpPr>
            <p:nvPr/>
          </p:nvSpPr>
          <p:spPr bwMode="auto">
            <a:xfrm>
              <a:off x="6717669" y="2221991"/>
              <a:ext cx="1600200" cy="152400"/>
            </a:xfrm>
            <a:custGeom>
              <a:avLst/>
              <a:gdLst>
                <a:gd name="T0" fmla="*/ 0 w 1600200"/>
                <a:gd name="T1" fmla="*/ 0 h 152400"/>
                <a:gd name="T2" fmla="*/ 1600200 w 1600200"/>
                <a:gd name="T3" fmla="*/ 152400 h 152400"/>
              </a:gdLst>
              <a:ahLst/>
              <a:cxnLst/>
              <a:rect l="T0" t="T1" r="T2" b="T3"/>
              <a:pathLst>
                <a:path w="1600200" h="152400">
                  <a:moveTo>
                    <a:pt x="1473707" y="100583"/>
                  </a:moveTo>
                  <a:lnTo>
                    <a:pt x="1473707" y="50291"/>
                  </a:lnTo>
                  <a:lnTo>
                    <a:pt x="0" y="50291"/>
                  </a:lnTo>
                  <a:lnTo>
                    <a:pt x="0" y="100583"/>
                  </a:lnTo>
                  <a:lnTo>
                    <a:pt x="1473707" y="100583"/>
                  </a:lnTo>
                  <a:close/>
                </a:path>
                <a:path w="1600200" h="152400">
                  <a:moveTo>
                    <a:pt x="1600199" y="76199"/>
                  </a:moveTo>
                  <a:lnTo>
                    <a:pt x="1447799" y="0"/>
                  </a:lnTo>
                  <a:lnTo>
                    <a:pt x="1447799" y="50291"/>
                  </a:lnTo>
                  <a:lnTo>
                    <a:pt x="1473707" y="50291"/>
                  </a:lnTo>
                  <a:lnTo>
                    <a:pt x="1473707" y="139445"/>
                  </a:lnTo>
                  <a:lnTo>
                    <a:pt x="1600199" y="76199"/>
                  </a:lnTo>
                  <a:close/>
                </a:path>
                <a:path w="1600200" h="152400">
                  <a:moveTo>
                    <a:pt x="1473707" y="139445"/>
                  </a:moveTo>
                  <a:lnTo>
                    <a:pt x="1473707" y="100583"/>
                  </a:lnTo>
                  <a:lnTo>
                    <a:pt x="1447799" y="100583"/>
                  </a:lnTo>
                  <a:lnTo>
                    <a:pt x="1447799" y="152399"/>
                  </a:lnTo>
                  <a:lnTo>
                    <a:pt x="1473707" y="139445"/>
                  </a:lnTo>
                  <a:close/>
                </a:path>
              </a:pathLst>
            </a:cu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21" name="object 10"/>
            <p:cNvSpPr txBox="1"/>
            <p:nvPr/>
          </p:nvSpPr>
          <p:spPr>
            <a:xfrm>
              <a:off x="4815238" y="1955764"/>
              <a:ext cx="522291" cy="225857"/>
            </a:xfrm>
            <a:prstGeom prst="rect">
              <a:avLst/>
            </a:prstGeom>
          </p:spPr>
          <p:txBody>
            <a:bodyPr lIns="0" tIns="0" rIns="0" bIns="0">
              <a:spAutoFit/>
            </a:bodyPr>
            <a:lstStyle/>
            <a:p>
              <a:pPr marL="12700">
                <a:defRPr/>
              </a:pPr>
              <a:r>
                <a:rPr sz="1400" b="1" spc="-5" dirty="0">
                  <a:solidFill>
                    <a:srgbClr val="FF0000"/>
                  </a:solidFill>
                  <a:latin typeface="Arial"/>
                  <a:cs typeface="Arial"/>
                </a:rPr>
                <a:t>S</a:t>
              </a:r>
              <a:r>
                <a:rPr sz="1400" b="1" spc="15" dirty="0">
                  <a:solidFill>
                    <a:srgbClr val="FF0000"/>
                  </a:solidFill>
                  <a:latin typeface="Arial"/>
                  <a:cs typeface="Arial"/>
                </a:rPr>
                <a:t>M</a:t>
              </a:r>
              <a:r>
                <a:rPr sz="1400" b="1" spc="-10" dirty="0">
                  <a:solidFill>
                    <a:srgbClr val="FF0000"/>
                  </a:solidFill>
                  <a:latin typeface="Arial"/>
                  <a:cs typeface="Arial"/>
                </a:rPr>
                <a:t>T</a:t>
              </a:r>
              <a:r>
                <a:rPr sz="1400" b="1" dirty="0">
                  <a:solidFill>
                    <a:srgbClr val="FF0000"/>
                  </a:solidFill>
                  <a:latin typeface="Arial"/>
                  <a:cs typeface="Arial"/>
                </a:rPr>
                <a:t>P</a:t>
              </a:r>
              <a:endParaRPr sz="1400">
                <a:latin typeface="Arial"/>
                <a:cs typeface="Arial"/>
              </a:endParaRPr>
            </a:p>
          </p:txBody>
        </p:sp>
        <p:sp>
          <p:nvSpPr>
            <p:cNvPr id="22" name="object 11"/>
            <p:cNvSpPr txBox="1"/>
            <p:nvPr/>
          </p:nvSpPr>
          <p:spPr>
            <a:xfrm>
              <a:off x="2453022" y="1955764"/>
              <a:ext cx="522291" cy="225857"/>
            </a:xfrm>
            <a:prstGeom prst="rect">
              <a:avLst/>
            </a:prstGeom>
          </p:spPr>
          <p:txBody>
            <a:bodyPr lIns="0" tIns="0" rIns="0" bIns="0">
              <a:spAutoFit/>
            </a:bodyPr>
            <a:lstStyle/>
            <a:p>
              <a:pPr marL="12700">
                <a:defRPr/>
              </a:pPr>
              <a:r>
                <a:rPr sz="1400" b="1" spc="-5" dirty="0">
                  <a:solidFill>
                    <a:srgbClr val="FF0000"/>
                  </a:solidFill>
                  <a:latin typeface="Arial"/>
                  <a:cs typeface="Arial"/>
                </a:rPr>
                <a:t>S</a:t>
              </a:r>
              <a:r>
                <a:rPr sz="1400" b="1" spc="15" dirty="0">
                  <a:solidFill>
                    <a:srgbClr val="FF0000"/>
                  </a:solidFill>
                  <a:latin typeface="Arial"/>
                  <a:cs typeface="Arial"/>
                </a:rPr>
                <a:t>M</a:t>
              </a:r>
              <a:r>
                <a:rPr sz="1400" b="1" spc="-10" dirty="0">
                  <a:solidFill>
                    <a:srgbClr val="FF0000"/>
                  </a:solidFill>
                  <a:latin typeface="Arial"/>
                  <a:cs typeface="Arial"/>
                </a:rPr>
                <a:t>T</a:t>
              </a:r>
              <a:r>
                <a:rPr sz="1400" b="1" dirty="0">
                  <a:solidFill>
                    <a:srgbClr val="FF0000"/>
                  </a:solidFill>
                  <a:latin typeface="Arial"/>
                  <a:cs typeface="Arial"/>
                </a:rPr>
                <a:t>P</a:t>
              </a:r>
              <a:endParaRPr sz="1400">
                <a:latin typeface="Arial"/>
                <a:cs typeface="Arial"/>
              </a:endParaRPr>
            </a:p>
          </p:txBody>
        </p:sp>
        <p:sp>
          <p:nvSpPr>
            <p:cNvPr id="51217" name="object 12"/>
            <p:cNvSpPr>
              <a:spLocks noChangeArrowheads="1"/>
            </p:cNvSpPr>
            <p:nvPr/>
          </p:nvSpPr>
          <p:spPr bwMode="auto">
            <a:xfrm>
              <a:off x="1383671" y="2679192"/>
              <a:ext cx="886967" cy="565404"/>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18" name="object 13"/>
            <p:cNvSpPr>
              <a:spLocks noChangeArrowheads="1"/>
            </p:cNvSpPr>
            <p:nvPr/>
          </p:nvSpPr>
          <p:spPr bwMode="auto">
            <a:xfrm>
              <a:off x="3517270" y="2679192"/>
              <a:ext cx="886967" cy="565404"/>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19" name="object 14"/>
            <p:cNvSpPr>
              <a:spLocks noChangeArrowheads="1"/>
            </p:cNvSpPr>
            <p:nvPr/>
          </p:nvSpPr>
          <p:spPr bwMode="auto">
            <a:xfrm>
              <a:off x="8165469" y="2602992"/>
              <a:ext cx="838200" cy="594359"/>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1220" name="object 15"/>
            <p:cNvSpPr txBox="1">
              <a:spLocks noChangeArrowheads="1"/>
            </p:cNvSpPr>
            <p:nvPr/>
          </p:nvSpPr>
          <p:spPr bwMode="auto">
            <a:xfrm>
              <a:off x="1081412" y="1456394"/>
              <a:ext cx="1071569" cy="40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r>
                <a:rPr lang="fr-FR" sz="1200" b="1">
                  <a:latin typeface="Arial" charset="0"/>
                </a:rPr>
                <a:t>User agent  (MUA)</a:t>
              </a:r>
            </a:p>
          </p:txBody>
        </p:sp>
        <p:sp>
          <p:nvSpPr>
            <p:cNvPr id="51221" name="object 16"/>
            <p:cNvSpPr txBox="1">
              <a:spLocks noChangeArrowheads="1"/>
            </p:cNvSpPr>
            <p:nvPr/>
          </p:nvSpPr>
          <p:spPr bwMode="auto">
            <a:xfrm>
              <a:off x="8091861" y="1456394"/>
              <a:ext cx="990607" cy="40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r>
                <a:rPr lang="fr-FR" sz="1200" b="1">
                  <a:latin typeface="Arial" charset="0"/>
                </a:rPr>
                <a:t>User agent  (MUA)</a:t>
              </a:r>
            </a:p>
          </p:txBody>
        </p:sp>
        <p:sp>
          <p:nvSpPr>
            <p:cNvPr id="51222" name="object 17"/>
            <p:cNvSpPr txBox="1">
              <a:spLocks noChangeArrowheads="1"/>
            </p:cNvSpPr>
            <p:nvPr/>
          </p:nvSpPr>
          <p:spPr bwMode="auto">
            <a:xfrm>
              <a:off x="3596030" y="1379727"/>
              <a:ext cx="1271596" cy="468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r>
                <a:rPr lang="fr-FR" sz="1400" b="1">
                  <a:latin typeface="Arial" charset="0"/>
                </a:rPr>
                <a:t>Mail server  (MTA)</a:t>
              </a:r>
            </a:p>
          </p:txBody>
        </p:sp>
        <p:sp>
          <p:nvSpPr>
            <p:cNvPr id="51223" name="object 18"/>
            <p:cNvSpPr txBox="1">
              <a:spLocks noChangeArrowheads="1"/>
            </p:cNvSpPr>
            <p:nvPr/>
          </p:nvSpPr>
          <p:spPr bwMode="auto">
            <a:xfrm>
              <a:off x="6034447" y="1379727"/>
              <a:ext cx="1119195" cy="468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r>
                <a:rPr lang="fr-FR" sz="1400" b="1">
                  <a:latin typeface="Arial" charset="0"/>
                </a:rPr>
                <a:t>Mail server  (MTA)</a:t>
              </a:r>
            </a:p>
          </p:txBody>
        </p:sp>
      </p:grpSp>
      <p:sp>
        <p:nvSpPr>
          <p:cNvPr id="51205" name="object 18"/>
          <p:cNvSpPr txBox="1">
            <a:spLocks noChangeArrowheads="1"/>
          </p:cNvSpPr>
          <p:nvPr/>
        </p:nvSpPr>
        <p:spPr bwMode="auto">
          <a:xfrm>
            <a:off x="6643688" y="1714500"/>
            <a:ext cx="11191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spcBef>
                <a:spcPct val="0"/>
              </a:spcBef>
            </a:pPr>
            <a:r>
              <a:rPr lang="fr-FR" sz="1400" b="1">
                <a:solidFill>
                  <a:srgbClr val="0070C0"/>
                </a:solidFill>
                <a:latin typeface="Arial" charset="0"/>
              </a:rPr>
              <a:t>POP3</a:t>
            </a:r>
          </a:p>
          <a:p>
            <a:pPr eaLnBrk="1" hangingPunct="1">
              <a:spcBef>
                <a:spcPct val="0"/>
              </a:spcBef>
            </a:pPr>
            <a:r>
              <a:rPr lang="fr-FR" sz="1400" b="1">
                <a:solidFill>
                  <a:srgbClr val="0070C0"/>
                </a:solidFill>
                <a:latin typeface="Arial" charset="0"/>
              </a:rPr>
              <a:t>IMAP</a:t>
            </a:r>
          </a:p>
        </p:txBody>
      </p:sp>
      <p:sp>
        <p:nvSpPr>
          <p:cNvPr id="32" name="object 21"/>
          <p:cNvSpPr txBox="1">
            <a:spLocks/>
          </p:cNvSpPr>
          <p:nvPr/>
        </p:nvSpPr>
        <p:spPr bwMode="auto">
          <a:xfrm>
            <a:off x="142875" y="2428875"/>
            <a:ext cx="8715375" cy="443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722313" indent="-342900" eaLnBrk="0" hangingPunct="0">
              <a:tabLst>
                <a:tab pos="722313" algn="l"/>
              </a:tabLst>
              <a:defRPr sz="2000">
                <a:solidFill>
                  <a:schemeClr val="tx1"/>
                </a:solidFill>
                <a:latin typeface="Verdana" pitchFamily="34" charset="0"/>
                <a:cs typeface="Arial" charset="0"/>
              </a:defRPr>
            </a:lvl1pPr>
            <a:lvl2pPr marL="1122363" indent="-285750" eaLnBrk="0" hangingPunct="0">
              <a:tabLst>
                <a:tab pos="722313" algn="l"/>
              </a:tabLst>
              <a:defRPr sz="2000">
                <a:solidFill>
                  <a:schemeClr val="tx1"/>
                </a:solidFill>
                <a:latin typeface="Verdana" pitchFamily="34" charset="0"/>
                <a:cs typeface="Arial" charset="0"/>
              </a:defRPr>
            </a:lvl2pPr>
            <a:lvl3pPr marL="1636713" indent="-342900" eaLnBrk="0" hangingPunct="0">
              <a:tabLst>
                <a:tab pos="722313" algn="l"/>
              </a:tabLst>
              <a:defRPr sz="2000">
                <a:solidFill>
                  <a:schemeClr val="tx1"/>
                </a:solidFill>
                <a:latin typeface="Verdana" pitchFamily="34" charset="0"/>
                <a:cs typeface="Arial" charset="0"/>
              </a:defRPr>
            </a:lvl3pPr>
            <a:lvl4pPr marL="1600200" indent="-228600" eaLnBrk="0" hangingPunct="0">
              <a:tabLst>
                <a:tab pos="722313" algn="l"/>
              </a:tabLst>
              <a:defRPr sz="2000">
                <a:solidFill>
                  <a:schemeClr val="tx1"/>
                </a:solidFill>
                <a:latin typeface="Verdana" pitchFamily="34" charset="0"/>
                <a:cs typeface="Arial" charset="0"/>
              </a:defRPr>
            </a:lvl4pPr>
            <a:lvl5pPr marL="2057400" indent="-228600" eaLnBrk="0" hangingPunct="0">
              <a:tabLst>
                <a:tab pos="722313"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722313"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722313"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722313"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722313" algn="l"/>
              </a:tabLst>
              <a:defRPr sz="2000">
                <a:solidFill>
                  <a:schemeClr val="tx1"/>
                </a:solidFill>
                <a:latin typeface="Verdana" pitchFamily="34" charset="0"/>
                <a:cs typeface="Arial" charset="0"/>
              </a:defRPr>
            </a:lvl9pPr>
          </a:lstStyle>
          <a:p>
            <a:pPr algn="just">
              <a:spcBef>
                <a:spcPct val="0"/>
              </a:spcBef>
              <a:buClr>
                <a:srgbClr val="00007C"/>
              </a:buClr>
            </a:pPr>
            <a:r>
              <a:rPr lang="fr-FR" sz="1800" dirty="0">
                <a:solidFill>
                  <a:srgbClr val="333333"/>
                </a:solidFill>
                <a:latin typeface="Arial" charset="0"/>
              </a:rPr>
              <a:t>La messagerie Internet comporte:</a:t>
            </a:r>
          </a:p>
          <a:p>
            <a:pPr lvl="1" algn="just">
              <a:spcBef>
                <a:spcPct val="0"/>
              </a:spcBef>
              <a:buClr>
                <a:srgbClr val="9999CC"/>
              </a:buClr>
              <a:buFont typeface="Wingdings" pitchFamily="2" charset="2"/>
              <a:buChar char=""/>
            </a:pPr>
            <a:r>
              <a:rPr lang="fr-FR" sz="1800" b="1" dirty="0">
                <a:solidFill>
                  <a:srgbClr val="333333"/>
                </a:solidFill>
                <a:latin typeface="Arial" charset="0"/>
              </a:rPr>
              <a:t>L’agent ou client de messagerie (MUA)</a:t>
            </a:r>
            <a:endParaRPr lang="fr-FR" sz="1800" dirty="0">
              <a:solidFill>
                <a:srgbClr val="333333"/>
              </a:solidFill>
              <a:latin typeface="Arial" charset="0"/>
            </a:endParaRPr>
          </a:p>
          <a:p>
            <a:pPr lvl="2" algn="just">
              <a:spcBef>
                <a:spcPct val="0"/>
              </a:spcBef>
              <a:buClr>
                <a:srgbClr val="00007C"/>
              </a:buClr>
              <a:buFont typeface="Wingdings" pitchFamily="2" charset="2"/>
              <a:buChar char="ü"/>
            </a:pPr>
            <a:r>
              <a:rPr lang="fr-FR" sz="1800" dirty="0">
                <a:solidFill>
                  <a:srgbClr val="333333"/>
                </a:solidFill>
                <a:latin typeface="Arial" charset="0"/>
              </a:rPr>
              <a:t>Le </a:t>
            </a:r>
            <a:r>
              <a:rPr lang="fr-FR" sz="1800" b="1" dirty="0">
                <a:solidFill>
                  <a:srgbClr val="333333"/>
                </a:solidFill>
                <a:latin typeface="Arial" charset="0"/>
              </a:rPr>
              <a:t>MUA </a:t>
            </a:r>
            <a:r>
              <a:rPr lang="fr-FR" sz="1800" dirty="0">
                <a:solidFill>
                  <a:srgbClr val="333333"/>
                </a:solidFill>
                <a:latin typeface="Arial" charset="0"/>
              </a:rPr>
              <a:t>permet l’envoi des messages et place les messages reçus dans la boîte aux lettres  du client</a:t>
            </a:r>
          </a:p>
          <a:p>
            <a:pPr lvl="2" algn="just">
              <a:spcBef>
                <a:spcPct val="0"/>
              </a:spcBef>
              <a:buClr>
                <a:srgbClr val="00007C"/>
              </a:buClr>
              <a:buFont typeface="Wingdings" pitchFamily="2" charset="2"/>
              <a:buChar char="ü"/>
            </a:pPr>
            <a:r>
              <a:rPr lang="fr-FR" sz="1800" dirty="0">
                <a:solidFill>
                  <a:srgbClr val="333333"/>
                </a:solidFill>
                <a:latin typeface="Arial" charset="0"/>
              </a:rPr>
              <a:t>exemple: Outlook, Eudora, Messenger</a:t>
            </a:r>
          </a:p>
          <a:p>
            <a:pPr lvl="1" algn="just">
              <a:spcBef>
                <a:spcPct val="0"/>
              </a:spcBef>
              <a:buClr>
                <a:srgbClr val="9999CC"/>
              </a:buClr>
              <a:buFont typeface="Wingdings" pitchFamily="2" charset="2"/>
              <a:buChar char=""/>
            </a:pPr>
            <a:r>
              <a:rPr lang="fr-FR" sz="1800" b="1" dirty="0">
                <a:solidFill>
                  <a:srgbClr val="333333"/>
                </a:solidFill>
                <a:latin typeface="Arial" charset="0"/>
              </a:rPr>
              <a:t>Les serveurs de courrier électronique</a:t>
            </a:r>
            <a:endParaRPr lang="fr-FR" sz="1800" dirty="0">
              <a:solidFill>
                <a:srgbClr val="333333"/>
              </a:solidFill>
              <a:latin typeface="Arial" charset="0"/>
            </a:endParaRPr>
          </a:p>
          <a:p>
            <a:pPr lvl="1" algn="just">
              <a:spcBef>
                <a:spcPct val="0"/>
              </a:spcBef>
              <a:buClr>
                <a:srgbClr val="9999CC"/>
              </a:buClr>
            </a:pPr>
            <a:r>
              <a:rPr lang="fr-FR" sz="1800" dirty="0">
                <a:solidFill>
                  <a:srgbClr val="333333"/>
                </a:solidFill>
                <a:latin typeface="Arial" charset="0"/>
              </a:rPr>
              <a:t>      Le serveur de messagerie opère deux processus distincts :</a:t>
            </a:r>
          </a:p>
          <a:p>
            <a:pPr lvl="2" algn="just">
              <a:spcBef>
                <a:spcPct val="0"/>
              </a:spcBef>
              <a:buClr>
                <a:srgbClr val="00007C"/>
              </a:buClr>
              <a:buFont typeface="Wingdings" pitchFamily="2" charset="2"/>
              <a:buChar char="ü"/>
            </a:pPr>
            <a:r>
              <a:rPr lang="fr-FR" sz="1800" dirty="0">
                <a:solidFill>
                  <a:srgbClr val="333333"/>
                </a:solidFill>
                <a:latin typeface="Arial" charset="0"/>
              </a:rPr>
              <a:t>Agent de transfert des messages (</a:t>
            </a:r>
            <a:r>
              <a:rPr lang="fr-FR" sz="1800" b="1" dirty="0">
                <a:solidFill>
                  <a:srgbClr val="333333"/>
                </a:solidFill>
                <a:latin typeface="Arial" charset="0"/>
              </a:rPr>
              <a:t>MTA</a:t>
            </a:r>
            <a:r>
              <a:rPr lang="fr-FR" sz="1800" dirty="0">
                <a:solidFill>
                  <a:srgbClr val="333333"/>
                </a:solidFill>
                <a:latin typeface="Arial" charset="0"/>
              </a:rPr>
              <a:t>): utilisé pour transférer le courriel vers le MDA ou vers  un autre MTA. </a:t>
            </a:r>
          </a:p>
          <a:p>
            <a:pPr lvl="2" algn="just">
              <a:spcBef>
                <a:spcPct val="0"/>
              </a:spcBef>
              <a:buClr>
                <a:srgbClr val="00007C"/>
              </a:buClr>
              <a:buFont typeface="Wingdings" pitchFamily="2" charset="2"/>
              <a:buChar char="ü"/>
            </a:pPr>
            <a:r>
              <a:rPr lang="fr-FR" sz="1800" dirty="0">
                <a:solidFill>
                  <a:srgbClr val="333333"/>
                </a:solidFill>
                <a:latin typeface="Arial" charset="0"/>
              </a:rPr>
              <a:t>Agent de remise des messages (</a:t>
            </a:r>
            <a:r>
              <a:rPr lang="fr-FR" sz="1800" b="1" dirty="0">
                <a:solidFill>
                  <a:srgbClr val="333333"/>
                </a:solidFill>
                <a:latin typeface="Arial" charset="0"/>
              </a:rPr>
              <a:t>MDA</a:t>
            </a:r>
            <a:r>
              <a:rPr lang="fr-FR" sz="1800" dirty="0">
                <a:solidFill>
                  <a:srgbClr val="333333"/>
                </a:solidFill>
                <a:latin typeface="Arial" charset="0"/>
              </a:rPr>
              <a:t>): reçoit tous les messages entrants du MTA et les  place dans la boîte aux lettres des destinataires appropriés.</a:t>
            </a:r>
          </a:p>
          <a:p>
            <a:pPr lvl="1" algn="just">
              <a:spcBef>
                <a:spcPct val="0"/>
              </a:spcBef>
              <a:buClr>
                <a:srgbClr val="9999CC"/>
              </a:buClr>
              <a:buFont typeface="Wingdings" pitchFamily="2" charset="2"/>
              <a:buChar char=""/>
            </a:pPr>
            <a:r>
              <a:rPr lang="fr-FR" sz="1800" b="1" dirty="0">
                <a:solidFill>
                  <a:srgbClr val="333333"/>
                </a:solidFill>
                <a:latin typeface="Arial" charset="0"/>
              </a:rPr>
              <a:t>SMTP : </a:t>
            </a:r>
            <a:r>
              <a:rPr lang="fr-FR" sz="1800" dirty="0">
                <a:solidFill>
                  <a:srgbClr val="333333"/>
                </a:solidFill>
                <a:latin typeface="Arial" charset="0"/>
              </a:rPr>
              <a:t>le protocole SMTP (Simple Mail Transfer Protocol) régit le transfert du courriel sortant du  client expéditeur au serveur de messagerie (MDA), ainsi que le transport du courriel entre les  serveurs de messagerie (MTA).</a:t>
            </a:r>
          </a:p>
          <a:p>
            <a:pPr lvl="1" algn="just">
              <a:spcBef>
                <a:spcPct val="0"/>
              </a:spcBef>
              <a:buClr>
                <a:srgbClr val="9999CC"/>
              </a:buClr>
              <a:buFont typeface="Wingdings" pitchFamily="2" charset="2"/>
              <a:buChar char=""/>
            </a:pPr>
            <a:r>
              <a:rPr lang="fr-FR" sz="1800" b="1" dirty="0">
                <a:solidFill>
                  <a:srgbClr val="333333"/>
                </a:solidFill>
                <a:latin typeface="Arial" charset="0"/>
              </a:rPr>
              <a:t>POP3 </a:t>
            </a:r>
            <a:r>
              <a:rPr lang="fr-FR" sz="1800" dirty="0">
                <a:solidFill>
                  <a:srgbClr val="333333"/>
                </a:solidFill>
                <a:latin typeface="Arial" charset="0"/>
              </a:rPr>
              <a:t>et </a:t>
            </a:r>
            <a:r>
              <a:rPr lang="fr-FR" sz="1800" b="1" dirty="0">
                <a:solidFill>
                  <a:srgbClr val="333333"/>
                </a:solidFill>
                <a:latin typeface="Arial" charset="0"/>
              </a:rPr>
              <a:t>IMAP4 : </a:t>
            </a:r>
            <a:r>
              <a:rPr lang="fr-FR" sz="1800" dirty="0">
                <a:solidFill>
                  <a:srgbClr val="333333"/>
                </a:solidFill>
                <a:latin typeface="Arial" charset="0"/>
              </a:rPr>
              <a:t>protocoles de récupération de courriers.</a:t>
            </a:r>
          </a:p>
        </p:txBody>
      </p:sp>
    </p:spTree>
    <p:custDataLst>
      <p:tags r:id="rId1"/>
    </p:custDataLst>
    <p:extLst>
      <p:ext uri="{BB962C8B-B14F-4D97-AF65-F5344CB8AC3E}">
        <p14:creationId xmlns:p14="http://schemas.microsoft.com/office/powerpoint/2010/main" val="358803980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2">
                                            <p:txEl>
                                              <p:pRg st="4" end="4"/>
                                            </p:txEl>
                                          </p:spTgt>
                                        </p:tgtEl>
                                        <p:attrNameLst>
                                          <p:attrName>style.visibility</p:attrName>
                                        </p:attrNameLst>
                                      </p:cBhvr>
                                      <p:to>
                                        <p:strVal val="visible"/>
                                      </p:to>
                                    </p:set>
                                    <p:animEffect transition="in" filter="box(in)">
                                      <p:cBhvr>
                                        <p:cTn id="7" dur="500"/>
                                        <p:tgtEl>
                                          <p:spTgt spid="32">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2">
                                            <p:txEl>
                                              <p:pRg st="5" end="5"/>
                                            </p:txEl>
                                          </p:spTgt>
                                        </p:tgtEl>
                                        <p:attrNameLst>
                                          <p:attrName>style.visibility</p:attrName>
                                        </p:attrNameLst>
                                      </p:cBhvr>
                                      <p:to>
                                        <p:strVal val="visible"/>
                                      </p:to>
                                    </p:set>
                                    <p:animEffect transition="in" filter="box(in)">
                                      <p:cBhvr>
                                        <p:cTn id="10" dur="500"/>
                                        <p:tgtEl>
                                          <p:spTgt spid="32">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2">
                                            <p:txEl>
                                              <p:pRg st="6" end="6"/>
                                            </p:txEl>
                                          </p:spTgt>
                                        </p:tgtEl>
                                        <p:attrNameLst>
                                          <p:attrName>style.visibility</p:attrName>
                                        </p:attrNameLst>
                                      </p:cBhvr>
                                      <p:to>
                                        <p:strVal val="visible"/>
                                      </p:to>
                                    </p:set>
                                    <p:animEffect transition="in" filter="box(in)">
                                      <p:cBhvr>
                                        <p:cTn id="13" dur="500"/>
                                        <p:tgtEl>
                                          <p:spTgt spid="32">
                                            <p:txEl>
                                              <p:pRg st="6" end="6"/>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2">
                                            <p:txEl>
                                              <p:pRg st="7" end="7"/>
                                            </p:txEl>
                                          </p:spTgt>
                                        </p:tgtEl>
                                        <p:attrNameLst>
                                          <p:attrName>style.visibility</p:attrName>
                                        </p:attrNameLst>
                                      </p:cBhvr>
                                      <p:to>
                                        <p:strVal val="visible"/>
                                      </p:to>
                                    </p:set>
                                    <p:animEffect transition="in" filter="box(in)">
                                      <p:cBhvr>
                                        <p:cTn id="16" dur="500"/>
                                        <p:tgtEl>
                                          <p:spTgt spid="32">
                                            <p:txEl>
                                              <p:pRg st="7" end="7"/>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32">
                                            <p:txEl>
                                              <p:pRg st="8" end="8"/>
                                            </p:txEl>
                                          </p:spTgt>
                                        </p:tgtEl>
                                        <p:attrNameLst>
                                          <p:attrName>style.visibility</p:attrName>
                                        </p:attrNameLst>
                                      </p:cBhvr>
                                      <p:to>
                                        <p:strVal val="visible"/>
                                      </p:to>
                                    </p:set>
                                    <p:animEffect transition="in" filter="box(in)">
                                      <p:cBhvr>
                                        <p:cTn id="21" dur="500"/>
                                        <p:tgtEl>
                                          <p:spTgt spid="32">
                                            <p:txEl>
                                              <p:pRg st="8" end="8"/>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nodeType="clickEffect">
                                  <p:stCondLst>
                                    <p:cond delay="0"/>
                                  </p:stCondLst>
                                  <p:childTnLst>
                                    <p:set>
                                      <p:cBhvr>
                                        <p:cTn id="25" dur="1" fill="hold">
                                          <p:stCondLst>
                                            <p:cond delay="0"/>
                                          </p:stCondLst>
                                        </p:cTn>
                                        <p:tgtEl>
                                          <p:spTgt spid="32">
                                            <p:txEl>
                                              <p:pRg st="9" end="9"/>
                                            </p:txEl>
                                          </p:spTgt>
                                        </p:tgtEl>
                                        <p:attrNameLst>
                                          <p:attrName>style.visibility</p:attrName>
                                        </p:attrNameLst>
                                      </p:cBhvr>
                                      <p:to>
                                        <p:strVal val="visible"/>
                                      </p:to>
                                    </p:set>
                                    <p:animEffect transition="in" filter="box(in)">
                                      <p:cBhvr>
                                        <p:cTn id="26" dur="500"/>
                                        <p:tgtEl>
                                          <p:spTgt spid="3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222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SMTP – Simple Mail Transfer Protocol</a:t>
            </a:r>
          </a:p>
        </p:txBody>
      </p:sp>
      <p:sp>
        <p:nvSpPr>
          <p:cNvPr id="52228" name="Rectangle 10"/>
          <p:cNvSpPr>
            <a:spLocks noChangeArrowheads="1"/>
          </p:cNvSpPr>
          <p:nvPr/>
        </p:nvSpPr>
        <p:spPr bwMode="auto">
          <a:xfrm>
            <a:off x="642938" y="1190625"/>
            <a:ext cx="7729537"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1800" b="1">
                <a:solidFill>
                  <a:srgbClr val="000000"/>
                </a:solidFill>
                <a:latin typeface="Arial" charset="0"/>
              </a:rPr>
              <a:t>Serveur de messagerie – MDA</a:t>
            </a:r>
          </a:p>
          <a:p>
            <a:pPr>
              <a:spcBef>
                <a:spcPct val="0"/>
              </a:spcBef>
              <a:buClrTx/>
              <a:buFontTx/>
              <a:buNone/>
            </a:pPr>
            <a:r>
              <a:rPr lang="fr-FR" sz="1800">
                <a:solidFill>
                  <a:srgbClr val="000000"/>
                </a:solidFill>
                <a:latin typeface="Arial" charset="0"/>
              </a:rPr>
              <a:t>L’agent de remise des messages (MDA) gère la remise des e-mails entre les serveurs et les clients</a:t>
            </a:r>
          </a:p>
        </p:txBody>
      </p:sp>
      <p:pic>
        <p:nvPicPr>
          <p:cNvPr id="5222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288" y="1943100"/>
            <a:ext cx="6732587" cy="466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603396384"/>
      </p:ext>
    </p:extLst>
  </p:cSld>
  <p:clrMapOvr>
    <a:masterClrMapping/>
  </p:clrMapOvr>
  <p:transition>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222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SMTP – Simple Mail Transfer Protocol</a:t>
            </a:r>
          </a:p>
        </p:txBody>
      </p:sp>
      <p:sp>
        <p:nvSpPr>
          <p:cNvPr id="52228" name="Rectangle 10"/>
          <p:cNvSpPr>
            <a:spLocks noChangeArrowheads="1"/>
          </p:cNvSpPr>
          <p:nvPr/>
        </p:nvSpPr>
        <p:spPr bwMode="auto">
          <a:xfrm>
            <a:off x="642938" y="960282"/>
            <a:ext cx="7729537"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1800" b="1" dirty="0">
                <a:solidFill>
                  <a:srgbClr val="000000"/>
                </a:solidFill>
                <a:latin typeface="Arial" charset="0"/>
              </a:rPr>
              <a:t>Architecture</a:t>
            </a:r>
          </a:p>
        </p:txBody>
      </p:sp>
      <p:pic>
        <p:nvPicPr>
          <p:cNvPr id="1710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533" y="1366837"/>
            <a:ext cx="8490341" cy="496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834394607"/>
      </p:ext>
    </p:extLst>
  </p:cSld>
  <p:clrMapOvr>
    <a:masterClrMapping/>
  </p:clrMapOvr>
  <p:transition>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427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charset="0"/>
              </a:rPr>
              <a:t>Telnet</a:t>
            </a:r>
          </a:p>
        </p:txBody>
      </p:sp>
      <p:sp>
        <p:nvSpPr>
          <p:cNvPr id="54276" name="object 4"/>
          <p:cNvSpPr>
            <a:spLocks noChangeArrowheads="1"/>
          </p:cNvSpPr>
          <p:nvPr/>
        </p:nvSpPr>
        <p:spPr bwMode="auto">
          <a:xfrm>
            <a:off x="5643563" y="914400"/>
            <a:ext cx="2689225" cy="25146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14" name="object 5"/>
          <p:cNvSpPr txBox="1"/>
          <p:nvPr/>
        </p:nvSpPr>
        <p:spPr>
          <a:xfrm>
            <a:off x="7748588" y="1857375"/>
            <a:ext cx="869950" cy="285750"/>
          </a:xfrm>
          <a:prstGeom prst="rect">
            <a:avLst/>
          </a:prstGeom>
        </p:spPr>
        <p:txBody>
          <a:bodyPr lIns="0" tIns="0" rIns="0" bIns="0">
            <a:spAutoFit/>
          </a:bodyPr>
          <a:lstStyle/>
          <a:p>
            <a:pPr marL="12700">
              <a:defRPr/>
            </a:pPr>
            <a:r>
              <a:rPr sz="1800" b="1" spc="-5" dirty="0">
                <a:latin typeface="Arial"/>
                <a:cs typeface="Arial"/>
              </a:rPr>
              <a:t>S</a:t>
            </a:r>
            <a:r>
              <a:rPr sz="1800" b="1" spc="-10" dirty="0">
                <a:latin typeface="Arial"/>
                <a:cs typeface="Arial"/>
              </a:rPr>
              <a:t>er</a:t>
            </a:r>
            <a:r>
              <a:rPr sz="1800" b="1" spc="-50" dirty="0">
                <a:latin typeface="Arial"/>
                <a:cs typeface="Arial"/>
              </a:rPr>
              <a:t>v</a:t>
            </a:r>
            <a:r>
              <a:rPr sz="1800" b="1" spc="-10" dirty="0">
                <a:latin typeface="Arial"/>
                <a:cs typeface="Arial"/>
              </a:rPr>
              <a:t>e</a:t>
            </a:r>
            <a:r>
              <a:rPr sz="1800" b="1" dirty="0">
                <a:latin typeface="Arial"/>
                <a:cs typeface="Arial"/>
              </a:rPr>
              <a:t>u</a:t>
            </a:r>
            <a:r>
              <a:rPr sz="1800" b="1" spc="-5" dirty="0">
                <a:latin typeface="Arial"/>
                <a:cs typeface="Arial"/>
              </a:rPr>
              <a:t>r</a:t>
            </a:r>
            <a:endParaRPr sz="1800">
              <a:latin typeface="Arial"/>
              <a:cs typeface="Arial"/>
            </a:endParaRPr>
          </a:p>
        </p:txBody>
      </p:sp>
      <p:sp>
        <p:nvSpPr>
          <p:cNvPr id="54278" name="object 6"/>
          <p:cNvSpPr>
            <a:spLocks noChangeArrowheads="1"/>
          </p:cNvSpPr>
          <p:nvPr/>
        </p:nvSpPr>
        <p:spPr bwMode="auto">
          <a:xfrm>
            <a:off x="1878013" y="928688"/>
            <a:ext cx="1447800" cy="11112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4279" name="object 7"/>
          <p:cNvSpPr>
            <a:spLocks noChangeArrowheads="1"/>
          </p:cNvSpPr>
          <p:nvPr/>
        </p:nvSpPr>
        <p:spPr bwMode="auto">
          <a:xfrm>
            <a:off x="3325813" y="1766888"/>
            <a:ext cx="2667000" cy="152400"/>
          </a:xfrm>
          <a:custGeom>
            <a:avLst/>
            <a:gdLst>
              <a:gd name="T0" fmla="*/ 0 w 2667000"/>
              <a:gd name="T1" fmla="*/ 0 h 152400"/>
              <a:gd name="T2" fmla="*/ 2667000 w 2667000"/>
              <a:gd name="T3" fmla="*/ 152400 h 152400"/>
            </a:gdLst>
            <a:ahLst/>
            <a:cxnLst/>
            <a:rect l="T0" t="T1" r="T2" b="T3"/>
            <a:pathLst>
              <a:path w="2667000" h="152400">
                <a:moveTo>
                  <a:pt x="152399" y="51815"/>
                </a:moveTo>
                <a:lnTo>
                  <a:pt x="152399" y="0"/>
                </a:lnTo>
                <a:lnTo>
                  <a:pt x="0" y="76199"/>
                </a:lnTo>
                <a:lnTo>
                  <a:pt x="128015" y="140207"/>
                </a:lnTo>
                <a:lnTo>
                  <a:pt x="128015" y="51815"/>
                </a:lnTo>
                <a:lnTo>
                  <a:pt x="152399" y="51815"/>
                </a:lnTo>
                <a:close/>
              </a:path>
              <a:path w="2667000" h="152400">
                <a:moveTo>
                  <a:pt x="2540507" y="102107"/>
                </a:moveTo>
                <a:lnTo>
                  <a:pt x="2540507" y="51815"/>
                </a:lnTo>
                <a:lnTo>
                  <a:pt x="128015" y="51815"/>
                </a:lnTo>
                <a:lnTo>
                  <a:pt x="128015" y="102107"/>
                </a:lnTo>
                <a:lnTo>
                  <a:pt x="2540507" y="102107"/>
                </a:lnTo>
                <a:close/>
              </a:path>
              <a:path w="2667000" h="152400">
                <a:moveTo>
                  <a:pt x="152399" y="152399"/>
                </a:moveTo>
                <a:lnTo>
                  <a:pt x="152399" y="102107"/>
                </a:lnTo>
                <a:lnTo>
                  <a:pt x="128015" y="102107"/>
                </a:lnTo>
                <a:lnTo>
                  <a:pt x="128015" y="140207"/>
                </a:lnTo>
                <a:lnTo>
                  <a:pt x="152399" y="152399"/>
                </a:lnTo>
                <a:close/>
              </a:path>
              <a:path w="2667000" h="152400">
                <a:moveTo>
                  <a:pt x="2666999" y="76199"/>
                </a:moveTo>
                <a:lnTo>
                  <a:pt x="2514599" y="0"/>
                </a:lnTo>
                <a:lnTo>
                  <a:pt x="2514599" y="51815"/>
                </a:lnTo>
                <a:lnTo>
                  <a:pt x="2540507" y="51815"/>
                </a:lnTo>
                <a:lnTo>
                  <a:pt x="2540507" y="139445"/>
                </a:lnTo>
                <a:lnTo>
                  <a:pt x="2666999" y="76199"/>
                </a:lnTo>
                <a:close/>
              </a:path>
              <a:path w="2667000" h="152400">
                <a:moveTo>
                  <a:pt x="2540507" y="139445"/>
                </a:moveTo>
                <a:lnTo>
                  <a:pt x="2540507" y="102107"/>
                </a:lnTo>
                <a:lnTo>
                  <a:pt x="2514599" y="102107"/>
                </a:lnTo>
                <a:lnTo>
                  <a:pt x="2514599" y="152399"/>
                </a:lnTo>
                <a:lnTo>
                  <a:pt x="2540507" y="139445"/>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17" name="object 8"/>
          <p:cNvSpPr txBox="1"/>
          <p:nvPr/>
        </p:nvSpPr>
        <p:spPr>
          <a:xfrm>
            <a:off x="5386388" y="1501775"/>
            <a:ext cx="682625" cy="285750"/>
          </a:xfrm>
          <a:prstGeom prst="rect">
            <a:avLst/>
          </a:prstGeom>
        </p:spPr>
        <p:txBody>
          <a:bodyPr lIns="0" tIns="0" rIns="0" bIns="0">
            <a:spAutoFit/>
          </a:bodyPr>
          <a:lstStyle/>
          <a:p>
            <a:pPr marL="12700">
              <a:defRPr/>
            </a:pPr>
            <a:r>
              <a:rPr sz="1800" b="1" spc="-130" dirty="0">
                <a:latin typeface="Arial"/>
                <a:cs typeface="Arial"/>
              </a:rPr>
              <a:t>T</a:t>
            </a:r>
            <a:r>
              <a:rPr sz="1800" b="1" spc="-10" dirty="0">
                <a:latin typeface="Arial"/>
                <a:cs typeface="Arial"/>
              </a:rPr>
              <a:t>e</a:t>
            </a:r>
            <a:r>
              <a:rPr sz="1800" b="1" dirty="0">
                <a:latin typeface="Arial"/>
                <a:cs typeface="Arial"/>
              </a:rPr>
              <a:t>ln</a:t>
            </a:r>
            <a:r>
              <a:rPr sz="1800" b="1" spc="-10" dirty="0">
                <a:latin typeface="Arial"/>
                <a:cs typeface="Arial"/>
              </a:rPr>
              <a:t>e</a:t>
            </a:r>
            <a:r>
              <a:rPr sz="1800" b="1" dirty="0">
                <a:latin typeface="Arial"/>
                <a:cs typeface="Arial"/>
              </a:rPr>
              <a:t>t</a:t>
            </a:r>
            <a:endParaRPr sz="1800">
              <a:latin typeface="Arial"/>
              <a:cs typeface="Arial"/>
            </a:endParaRPr>
          </a:p>
        </p:txBody>
      </p:sp>
      <p:sp>
        <p:nvSpPr>
          <p:cNvPr id="18" name="object 9"/>
          <p:cNvSpPr txBox="1"/>
          <p:nvPr/>
        </p:nvSpPr>
        <p:spPr>
          <a:xfrm>
            <a:off x="3100388" y="1501775"/>
            <a:ext cx="682625" cy="285750"/>
          </a:xfrm>
          <a:prstGeom prst="rect">
            <a:avLst/>
          </a:prstGeom>
        </p:spPr>
        <p:txBody>
          <a:bodyPr lIns="0" tIns="0" rIns="0" bIns="0">
            <a:spAutoFit/>
          </a:bodyPr>
          <a:lstStyle/>
          <a:p>
            <a:pPr marL="12700">
              <a:defRPr/>
            </a:pPr>
            <a:r>
              <a:rPr sz="1800" b="1" spc="-130" dirty="0">
                <a:latin typeface="Arial"/>
                <a:cs typeface="Arial"/>
              </a:rPr>
              <a:t>T</a:t>
            </a:r>
            <a:r>
              <a:rPr sz="1800" b="1" spc="-10" dirty="0">
                <a:latin typeface="Arial"/>
                <a:cs typeface="Arial"/>
              </a:rPr>
              <a:t>e</a:t>
            </a:r>
            <a:r>
              <a:rPr sz="1800" b="1" dirty="0">
                <a:latin typeface="Arial"/>
                <a:cs typeface="Arial"/>
              </a:rPr>
              <a:t>ln</a:t>
            </a:r>
            <a:r>
              <a:rPr sz="1800" b="1" spc="-10" dirty="0">
                <a:latin typeface="Arial"/>
                <a:cs typeface="Arial"/>
              </a:rPr>
              <a:t>e</a:t>
            </a:r>
            <a:r>
              <a:rPr sz="1800" b="1" dirty="0">
                <a:latin typeface="Arial"/>
                <a:cs typeface="Arial"/>
              </a:rPr>
              <a:t>t</a:t>
            </a:r>
            <a:endParaRPr sz="1800">
              <a:latin typeface="Arial"/>
              <a:cs typeface="Arial"/>
            </a:endParaRPr>
          </a:p>
        </p:txBody>
      </p:sp>
      <p:sp>
        <p:nvSpPr>
          <p:cNvPr id="54282" name="object 11"/>
          <p:cNvSpPr txBox="1">
            <a:spLocks noChangeArrowheads="1"/>
          </p:cNvSpPr>
          <p:nvPr/>
        </p:nvSpPr>
        <p:spPr bwMode="auto">
          <a:xfrm>
            <a:off x="571500" y="3429000"/>
            <a:ext cx="7858125"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429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eaLnBrk="1" hangingPunct="1">
              <a:spcBef>
                <a:spcPct val="0"/>
              </a:spcBef>
              <a:buClr>
                <a:srgbClr val="00007C"/>
              </a:buClr>
              <a:buFont typeface="Wingdings" pitchFamily="2" charset="2"/>
              <a:buChar char=""/>
            </a:pPr>
            <a:r>
              <a:rPr lang="fr-FR" sz="1800">
                <a:solidFill>
                  <a:srgbClr val="333333"/>
                </a:solidFill>
                <a:latin typeface="Arial" charset="0"/>
              </a:rPr>
              <a:t>Permet d’accéder à distance à d’autres périphériques (hôte, routeur,  switch).</a:t>
            </a:r>
          </a:p>
          <a:p>
            <a:pPr eaLnBrk="1" hangingPunct="1">
              <a:spcBef>
                <a:spcPct val="0"/>
              </a:spcBef>
              <a:buClr>
                <a:srgbClr val="00007C"/>
              </a:buClr>
              <a:buFont typeface="Wingdings" pitchFamily="2" charset="2"/>
              <a:buChar char=""/>
            </a:pPr>
            <a:r>
              <a:rPr lang="fr-FR" sz="1800">
                <a:solidFill>
                  <a:srgbClr val="333333"/>
                </a:solidFill>
                <a:latin typeface="Arial" charset="0"/>
              </a:rPr>
              <a:t>Fournit une connexion  virtuelle pour  l’accès distant.	Cette connexion est  est nommée connexion Telnet ou session VTY (Virtual Terminal).</a:t>
            </a:r>
          </a:p>
          <a:p>
            <a:pPr eaLnBrk="1" hangingPunct="1">
              <a:spcBef>
                <a:spcPct val="0"/>
              </a:spcBef>
              <a:buClr>
                <a:srgbClr val="00007C"/>
              </a:buClr>
              <a:buFont typeface="Wingdings" pitchFamily="2" charset="2"/>
              <a:buChar char=""/>
            </a:pPr>
            <a:r>
              <a:rPr lang="fr-FR" sz="1800">
                <a:solidFill>
                  <a:srgbClr val="333333"/>
                </a:solidFill>
                <a:latin typeface="Arial" charset="0"/>
              </a:rPr>
              <a:t>Telnet utilise un logiciel pour créer un périphérique virtuel qui offre les  mêmes fonctionnalités qu’une session de terminal avec accès à l’interface  de ligne de commande (CLI, Command Line Interface) du serveur.</a:t>
            </a:r>
          </a:p>
          <a:p>
            <a:pPr eaLnBrk="1" hangingPunct="1">
              <a:spcBef>
                <a:spcPct val="0"/>
              </a:spcBef>
              <a:buClr>
                <a:srgbClr val="00007C"/>
              </a:buClr>
              <a:buFont typeface="Wingdings" pitchFamily="2" charset="2"/>
              <a:buChar char=""/>
            </a:pPr>
            <a:r>
              <a:rPr lang="fr-FR" sz="1800">
                <a:solidFill>
                  <a:srgbClr val="333333"/>
                </a:solidFill>
                <a:latin typeface="Arial" charset="0"/>
              </a:rPr>
              <a:t>Les clients Telnet peuvent être:</a:t>
            </a:r>
          </a:p>
        </p:txBody>
      </p:sp>
      <p:sp>
        <p:nvSpPr>
          <p:cNvPr id="20" name="object 12"/>
          <p:cNvSpPr txBox="1"/>
          <p:nvPr/>
        </p:nvSpPr>
        <p:spPr>
          <a:xfrm>
            <a:off x="1128713" y="5929313"/>
            <a:ext cx="1728787" cy="831850"/>
          </a:xfrm>
          <a:prstGeom prst="rect">
            <a:avLst/>
          </a:prstGeom>
        </p:spPr>
        <p:txBody>
          <a:bodyPr lIns="0" tIns="0" rIns="0" bIns="0">
            <a:spAutoFit/>
          </a:bodyPr>
          <a:lstStyle/>
          <a:p>
            <a:pPr marL="299085" indent="-286385">
              <a:spcBef>
                <a:spcPts val="0"/>
              </a:spcBef>
              <a:buClr>
                <a:srgbClr val="9999CC"/>
              </a:buClr>
              <a:buFont typeface="Wingdings" pitchFamily="2" charset="2"/>
              <a:buChar char="ü"/>
              <a:tabLst>
                <a:tab pos="299720" algn="l"/>
              </a:tabLst>
              <a:defRPr/>
            </a:pPr>
            <a:r>
              <a:rPr sz="1800" spc="-5" dirty="0">
                <a:solidFill>
                  <a:srgbClr val="333333"/>
                </a:solidFill>
                <a:latin typeface="Arial"/>
                <a:cs typeface="Arial"/>
              </a:rPr>
              <a:t>Minicom</a:t>
            </a:r>
            <a:endParaRPr sz="1800">
              <a:solidFill>
                <a:srgbClr val="333333"/>
              </a:solidFill>
              <a:latin typeface="Arial"/>
              <a:cs typeface="Arial"/>
            </a:endParaRPr>
          </a:p>
          <a:p>
            <a:pPr marL="299085" indent="-286385">
              <a:spcBef>
                <a:spcPts val="0"/>
              </a:spcBef>
              <a:buClr>
                <a:srgbClr val="9999CC"/>
              </a:buClr>
              <a:buFont typeface="Wingdings" pitchFamily="2" charset="2"/>
              <a:buChar char="ü"/>
              <a:tabLst>
                <a:tab pos="299720" algn="l"/>
              </a:tabLst>
              <a:defRPr/>
            </a:pPr>
            <a:r>
              <a:rPr lang="fr-FR" sz="1800" dirty="0" err="1">
                <a:solidFill>
                  <a:srgbClr val="333333"/>
                </a:solidFill>
                <a:latin typeface="Arial"/>
                <a:cs typeface="Arial"/>
              </a:rPr>
              <a:t>Putty</a:t>
            </a:r>
            <a:endParaRPr sz="1800">
              <a:solidFill>
                <a:srgbClr val="333333"/>
              </a:solidFill>
              <a:latin typeface="Arial"/>
              <a:cs typeface="Arial"/>
            </a:endParaRPr>
          </a:p>
          <a:p>
            <a:pPr marL="299085" indent="-286385">
              <a:spcBef>
                <a:spcPts val="0"/>
              </a:spcBef>
              <a:buClr>
                <a:srgbClr val="9999CC"/>
              </a:buClr>
              <a:buFont typeface="Wingdings" pitchFamily="2" charset="2"/>
              <a:buChar char="ü"/>
              <a:tabLst>
                <a:tab pos="299720" algn="l"/>
              </a:tabLst>
              <a:defRPr/>
            </a:pPr>
            <a:r>
              <a:rPr sz="1800" spc="-10" dirty="0">
                <a:solidFill>
                  <a:srgbClr val="333333"/>
                </a:solidFill>
                <a:latin typeface="Arial"/>
                <a:cs typeface="Arial"/>
              </a:rPr>
              <a:t>H</a:t>
            </a:r>
            <a:r>
              <a:rPr sz="1800" spc="-25" dirty="0">
                <a:solidFill>
                  <a:srgbClr val="333333"/>
                </a:solidFill>
                <a:latin typeface="Arial"/>
                <a:cs typeface="Arial"/>
              </a:rPr>
              <a:t>y</a:t>
            </a:r>
            <a:r>
              <a:rPr sz="1800" spc="-10" dirty="0">
                <a:solidFill>
                  <a:srgbClr val="333333"/>
                </a:solidFill>
                <a:latin typeface="Arial"/>
                <a:cs typeface="Arial"/>
              </a:rPr>
              <a:t>pe</a:t>
            </a:r>
            <a:r>
              <a:rPr sz="1800" dirty="0">
                <a:solidFill>
                  <a:srgbClr val="333333"/>
                </a:solidFill>
                <a:latin typeface="Arial"/>
                <a:cs typeface="Arial"/>
              </a:rPr>
              <a:t>rt</a:t>
            </a:r>
            <a:r>
              <a:rPr sz="1800" spc="-10" dirty="0">
                <a:solidFill>
                  <a:srgbClr val="333333"/>
                </a:solidFill>
                <a:latin typeface="Arial"/>
                <a:cs typeface="Arial"/>
              </a:rPr>
              <a:t>e</a:t>
            </a:r>
            <a:r>
              <a:rPr sz="1800" dirty="0">
                <a:solidFill>
                  <a:srgbClr val="333333"/>
                </a:solidFill>
                <a:latin typeface="Arial"/>
                <a:cs typeface="Arial"/>
              </a:rPr>
              <a:t>rm</a:t>
            </a:r>
            <a:r>
              <a:rPr sz="1800" spc="-10" dirty="0">
                <a:solidFill>
                  <a:srgbClr val="333333"/>
                </a:solidFill>
                <a:latin typeface="Arial"/>
                <a:cs typeface="Arial"/>
              </a:rPr>
              <a:t>ina</a:t>
            </a:r>
            <a:r>
              <a:rPr sz="1800" spc="-5" dirty="0">
                <a:solidFill>
                  <a:srgbClr val="333333"/>
                </a:solidFill>
                <a:latin typeface="Arial"/>
                <a:cs typeface="Arial"/>
              </a:rPr>
              <a:t>l</a:t>
            </a:r>
            <a:endParaRPr sz="1800">
              <a:solidFill>
                <a:srgbClr val="333333"/>
              </a:solidFill>
              <a:latin typeface="Arial"/>
              <a:cs typeface="Arial"/>
            </a:endParaRPr>
          </a:p>
        </p:txBody>
      </p:sp>
    </p:spTree>
    <p:custDataLst>
      <p:tags r:id="rId1"/>
    </p:custDataLst>
    <p:extLst>
      <p:ext uri="{BB962C8B-B14F-4D97-AF65-F5344CB8AC3E}">
        <p14:creationId xmlns:p14="http://schemas.microsoft.com/office/powerpoint/2010/main" val="1647189400"/>
      </p:ext>
    </p:extLst>
  </p:cSld>
  <p:clrMapOvr>
    <a:masterClrMapping/>
  </p:clrMapOvr>
  <p:transition>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529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a:solidFill>
                  <a:srgbClr val="000000"/>
                </a:solidFill>
                <a:latin typeface="Arial" charset="0"/>
              </a:rPr>
              <a:t>Telnet</a:t>
            </a:r>
          </a:p>
        </p:txBody>
      </p:sp>
      <p:sp>
        <p:nvSpPr>
          <p:cNvPr id="55300" name="object 5"/>
          <p:cNvSpPr txBox="1">
            <a:spLocks noChangeArrowheads="1"/>
          </p:cNvSpPr>
          <p:nvPr/>
        </p:nvSpPr>
        <p:spPr bwMode="auto">
          <a:xfrm>
            <a:off x="571500" y="4286250"/>
            <a:ext cx="8429625"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556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eaLnBrk="1" hangingPunct="1">
              <a:spcBef>
                <a:spcPct val="0"/>
              </a:spcBef>
              <a:buClr>
                <a:srgbClr val="00007C"/>
              </a:buClr>
              <a:buFont typeface="Wingdings" pitchFamily="2" charset="2"/>
              <a:buChar char=""/>
            </a:pPr>
            <a:r>
              <a:rPr lang="fr-FR" sz="1800">
                <a:solidFill>
                  <a:srgbClr val="333333"/>
                </a:solidFill>
                <a:latin typeface="Arial" charset="0"/>
              </a:rPr>
              <a:t>Bien que Telnet supporte l’authentication des utilisateurs, son principal  inconvénient est qu’il </a:t>
            </a:r>
            <a:r>
              <a:rPr lang="fr-FR" sz="1800" u="sng">
                <a:solidFill>
                  <a:srgbClr val="333333"/>
                </a:solidFill>
                <a:latin typeface="Arial" charset="0"/>
              </a:rPr>
              <a:t>ne prend pas en charge le chiffrement </a:t>
            </a:r>
            <a:r>
              <a:rPr lang="fr-FR" sz="1800">
                <a:solidFill>
                  <a:srgbClr val="333333"/>
                </a:solidFill>
                <a:latin typeface="Arial" charset="0"/>
              </a:rPr>
              <a:t>(cryptage).</a:t>
            </a:r>
          </a:p>
          <a:p>
            <a:pPr eaLnBrk="1" hangingPunct="1">
              <a:spcBef>
                <a:spcPct val="0"/>
              </a:spcBef>
              <a:buClr>
                <a:srgbClr val="00007C"/>
              </a:buClr>
              <a:buFont typeface="Wingdings" pitchFamily="2" charset="2"/>
              <a:buChar char=""/>
            </a:pPr>
            <a:r>
              <a:rPr lang="fr-FR" sz="1800">
                <a:solidFill>
                  <a:srgbClr val="333333"/>
                </a:solidFill>
                <a:latin typeface="Arial" charset="0"/>
              </a:rPr>
              <a:t>Les données sont transmises en texte clair</a:t>
            </a:r>
          </a:p>
          <a:p>
            <a:pPr eaLnBrk="1" hangingPunct="1">
              <a:spcBef>
                <a:spcPct val="0"/>
              </a:spcBef>
              <a:buClr>
                <a:srgbClr val="00007C"/>
              </a:buClr>
              <a:buFont typeface="Wingdings" pitchFamily="2" charset="2"/>
              <a:buChar char=""/>
            </a:pPr>
            <a:r>
              <a:rPr lang="fr-FR" sz="1800">
                <a:solidFill>
                  <a:srgbClr val="333333"/>
                </a:solidFill>
                <a:latin typeface="Arial" charset="0"/>
              </a:rPr>
              <a:t>Telnet utilise le port TCP 23</a:t>
            </a:r>
          </a:p>
          <a:p>
            <a:pPr eaLnBrk="1" hangingPunct="1">
              <a:spcBef>
                <a:spcPct val="0"/>
              </a:spcBef>
              <a:buClr>
                <a:srgbClr val="00007C"/>
              </a:buClr>
              <a:buFont typeface="Wingdings" pitchFamily="2" charset="2"/>
              <a:buChar char=""/>
            </a:pPr>
            <a:r>
              <a:rPr lang="fr-FR" sz="1800">
                <a:solidFill>
                  <a:srgbClr val="333333"/>
                </a:solidFill>
                <a:latin typeface="Arial" charset="0"/>
              </a:rPr>
              <a:t>Si la sécurité est un facteur important, le protocole </a:t>
            </a:r>
            <a:r>
              <a:rPr lang="fr-FR" sz="1800" b="1">
                <a:solidFill>
                  <a:srgbClr val="333333"/>
                </a:solidFill>
                <a:latin typeface="Arial" charset="0"/>
              </a:rPr>
              <a:t>SSH </a:t>
            </a:r>
            <a:r>
              <a:rPr lang="fr-FR" sz="1800">
                <a:solidFill>
                  <a:srgbClr val="333333"/>
                </a:solidFill>
                <a:latin typeface="Arial" charset="0"/>
              </a:rPr>
              <a:t>(Secure SHell)  fournit une méthode alternative sécurisée pour accéder au serveur.</a:t>
            </a:r>
          </a:p>
          <a:p>
            <a:pPr lvl="1" eaLnBrk="1" hangingPunct="1">
              <a:spcBef>
                <a:spcPct val="0"/>
              </a:spcBef>
              <a:buClr>
                <a:srgbClr val="9999CC"/>
              </a:buClr>
              <a:buFont typeface="Wingdings" pitchFamily="2" charset="2"/>
              <a:buChar char="ü"/>
            </a:pPr>
            <a:r>
              <a:rPr lang="fr-FR" sz="1800">
                <a:solidFill>
                  <a:srgbClr val="333333"/>
                </a:solidFill>
                <a:latin typeface="Arial" charset="0"/>
              </a:rPr>
              <a:t>Authentification plus forte</a:t>
            </a:r>
          </a:p>
          <a:p>
            <a:pPr lvl="1" eaLnBrk="1" hangingPunct="1">
              <a:spcBef>
                <a:spcPct val="0"/>
              </a:spcBef>
              <a:buClr>
                <a:srgbClr val="9999CC"/>
              </a:buClr>
              <a:buFont typeface="Wingdings" pitchFamily="2" charset="2"/>
              <a:buChar char="ü"/>
            </a:pPr>
            <a:r>
              <a:rPr lang="fr-FR" sz="1800">
                <a:solidFill>
                  <a:srgbClr val="333333"/>
                </a:solidFill>
                <a:latin typeface="Arial" charset="0"/>
              </a:rPr>
              <a:t>Encryption des données</a:t>
            </a:r>
          </a:p>
        </p:txBody>
      </p:sp>
      <p:sp>
        <p:nvSpPr>
          <p:cNvPr id="55301" name="object 6"/>
          <p:cNvSpPr>
            <a:spLocks noChangeArrowheads="1"/>
          </p:cNvSpPr>
          <p:nvPr/>
        </p:nvSpPr>
        <p:spPr bwMode="auto">
          <a:xfrm>
            <a:off x="4006850" y="992188"/>
            <a:ext cx="5105400" cy="315118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Tree>
    <p:custDataLst>
      <p:tags r:id="rId1"/>
    </p:custDataLst>
    <p:extLst>
      <p:ext uri="{BB962C8B-B14F-4D97-AF65-F5344CB8AC3E}">
        <p14:creationId xmlns:p14="http://schemas.microsoft.com/office/powerpoint/2010/main" val="1355283229"/>
      </p:ext>
    </p:extLst>
  </p:cSld>
  <p:clrMapOvr>
    <a:masterClrMapping/>
  </p:clrMapOvr>
  <p:transition>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632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DHCP – Dynamic Host Configuration Protocol</a:t>
            </a:r>
          </a:p>
        </p:txBody>
      </p:sp>
      <p:sp>
        <p:nvSpPr>
          <p:cNvPr id="5" name="object 4"/>
          <p:cNvSpPr txBox="1"/>
          <p:nvPr/>
        </p:nvSpPr>
        <p:spPr>
          <a:xfrm>
            <a:off x="571500" y="5557838"/>
            <a:ext cx="6842125" cy="942975"/>
          </a:xfrm>
          <a:prstGeom prst="rect">
            <a:avLst/>
          </a:prstGeom>
        </p:spPr>
        <p:txBody>
          <a:bodyPr lIns="0" tIns="0" rIns="0" bIns="0">
            <a:spAutoFit/>
          </a:bodyPr>
          <a:lstStyle/>
          <a:p>
            <a:pPr marL="355600" indent="-342900">
              <a:buClr>
                <a:srgbClr val="00007C"/>
              </a:buClr>
              <a:buFont typeface="Wingdings"/>
              <a:buChar char=""/>
              <a:tabLst>
                <a:tab pos="355600" algn="l"/>
              </a:tabLst>
              <a:defRPr/>
            </a:pPr>
            <a:r>
              <a:rPr sz="1800" spc="-5" dirty="0">
                <a:solidFill>
                  <a:srgbClr val="333333"/>
                </a:solidFill>
                <a:latin typeface="Arial"/>
                <a:cs typeface="Arial"/>
              </a:rPr>
              <a:t>Les adresses </a:t>
            </a:r>
            <a:r>
              <a:rPr sz="1800" dirty="0">
                <a:solidFill>
                  <a:srgbClr val="333333"/>
                </a:solidFill>
                <a:latin typeface="Arial"/>
                <a:cs typeface="Arial"/>
              </a:rPr>
              <a:t>IP </a:t>
            </a:r>
            <a:r>
              <a:rPr sz="1800" spc="-5" dirty="0">
                <a:solidFill>
                  <a:srgbClr val="333333"/>
                </a:solidFill>
                <a:latin typeface="Arial"/>
                <a:cs typeface="Arial"/>
              </a:rPr>
              <a:t>et d’autres informations peuvent être</a:t>
            </a:r>
            <a:r>
              <a:rPr sz="1800" spc="75" dirty="0">
                <a:solidFill>
                  <a:srgbClr val="333333"/>
                </a:solidFill>
                <a:latin typeface="Arial"/>
                <a:cs typeface="Arial"/>
              </a:rPr>
              <a:t> </a:t>
            </a:r>
            <a:r>
              <a:rPr sz="1800" spc="-5" dirty="0">
                <a:solidFill>
                  <a:srgbClr val="333333"/>
                </a:solidFill>
                <a:latin typeface="Arial"/>
                <a:cs typeface="Arial"/>
              </a:rPr>
              <a:t>obtenues:</a:t>
            </a:r>
            <a:endParaRPr sz="1800">
              <a:solidFill>
                <a:srgbClr val="333333"/>
              </a:solidFill>
              <a:latin typeface="Arial"/>
              <a:cs typeface="Arial"/>
            </a:endParaRPr>
          </a:p>
          <a:p>
            <a:pPr marL="756285" lvl="1" indent="-286385">
              <a:spcBef>
                <a:spcPts val="430"/>
              </a:spcBef>
              <a:buClr>
                <a:srgbClr val="9999CC"/>
              </a:buClr>
              <a:buFont typeface="Wingdings"/>
              <a:buChar char=""/>
              <a:tabLst>
                <a:tab pos="756920" algn="l"/>
              </a:tabLst>
              <a:defRPr/>
            </a:pPr>
            <a:r>
              <a:rPr sz="1800" spc="-5" dirty="0">
                <a:solidFill>
                  <a:srgbClr val="333333"/>
                </a:solidFill>
                <a:latin typeface="Arial"/>
                <a:cs typeface="Arial"/>
              </a:rPr>
              <a:t>Statiquement</a:t>
            </a:r>
            <a:endParaRPr sz="1800">
              <a:solidFill>
                <a:srgbClr val="333333"/>
              </a:solidFill>
              <a:latin typeface="Arial"/>
              <a:cs typeface="Arial"/>
            </a:endParaRPr>
          </a:p>
          <a:p>
            <a:pPr marL="756285" lvl="1" indent="-286385">
              <a:spcBef>
                <a:spcPts val="430"/>
              </a:spcBef>
              <a:buClr>
                <a:srgbClr val="9999CC"/>
              </a:buClr>
              <a:buFont typeface="Wingdings"/>
              <a:buChar char=""/>
              <a:tabLst>
                <a:tab pos="756920" algn="l"/>
              </a:tabLst>
              <a:defRPr/>
            </a:pPr>
            <a:r>
              <a:rPr sz="1800" spc="-10" dirty="0">
                <a:solidFill>
                  <a:srgbClr val="333333"/>
                </a:solidFill>
                <a:latin typeface="Arial"/>
                <a:cs typeface="Arial"/>
              </a:rPr>
              <a:t>Dynamiquement</a:t>
            </a:r>
            <a:r>
              <a:rPr sz="1800" spc="5" dirty="0">
                <a:solidFill>
                  <a:srgbClr val="333333"/>
                </a:solidFill>
                <a:latin typeface="Arial"/>
                <a:cs typeface="Arial"/>
              </a:rPr>
              <a:t> </a:t>
            </a:r>
            <a:r>
              <a:rPr sz="1800" spc="-5" dirty="0">
                <a:solidFill>
                  <a:srgbClr val="333333"/>
                </a:solidFill>
                <a:latin typeface="Arial"/>
                <a:cs typeface="Arial"/>
              </a:rPr>
              <a:t>(DHCP)</a:t>
            </a:r>
            <a:endParaRPr sz="1800">
              <a:solidFill>
                <a:srgbClr val="333333"/>
              </a:solidFill>
              <a:latin typeface="Arial"/>
              <a:cs typeface="Arial"/>
            </a:endParaRPr>
          </a:p>
        </p:txBody>
      </p:sp>
      <p:sp>
        <p:nvSpPr>
          <p:cNvPr id="56325" name="object 5"/>
          <p:cNvSpPr>
            <a:spLocks noChangeArrowheads="1"/>
          </p:cNvSpPr>
          <p:nvPr/>
        </p:nvSpPr>
        <p:spPr bwMode="auto">
          <a:xfrm>
            <a:off x="949325" y="1071563"/>
            <a:ext cx="7450138" cy="431641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Tree>
    <p:custDataLst>
      <p:tags r:id="rId1"/>
    </p:custDataLst>
    <p:extLst>
      <p:ext uri="{BB962C8B-B14F-4D97-AF65-F5344CB8AC3E}">
        <p14:creationId xmlns:p14="http://schemas.microsoft.com/office/powerpoint/2010/main" val="2068221762"/>
      </p:ext>
    </p:extLst>
  </p:cSld>
  <p:clrMapOvr>
    <a:masterClrMapping/>
  </p:clrMapOvr>
  <p:transition>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734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DHCP – Dynamic Host Configuration Protocol</a:t>
            </a:r>
          </a:p>
        </p:txBody>
      </p:sp>
      <p:pic>
        <p:nvPicPr>
          <p:cNvPr id="5734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071563"/>
            <a:ext cx="5508625"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object 6"/>
          <p:cNvSpPr txBox="1"/>
          <p:nvPr/>
        </p:nvSpPr>
        <p:spPr>
          <a:xfrm>
            <a:off x="428625" y="3286125"/>
            <a:ext cx="6446838" cy="3416300"/>
          </a:xfrm>
          <a:prstGeom prst="rect">
            <a:avLst/>
          </a:prstGeom>
        </p:spPr>
        <p:txBody>
          <a:bodyPr lIns="0" tIns="0" rIns="0" bIns="0">
            <a:spAutoFit/>
          </a:bodyPr>
          <a:lstStyle/>
          <a:p>
            <a:pPr marL="355600" indent="-342900">
              <a:spcBef>
                <a:spcPts val="0"/>
              </a:spcBef>
              <a:buClr>
                <a:srgbClr val="00007C"/>
              </a:buClr>
              <a:buFont typeface="Wingdings"/>
              <a:buChar char=""/>
              <a:tabLst>
                <a:tab pos="355600" algn="l"/>
              </a:tabLst>
              <a:defRPr/>
            </a:pPr>
            <a:r>
              <a:rPr sz="1800" spc="-5" dirty="0">
                <a:solidFill>
                  <a:srgbClr val="333333"/>
                </a:solidFill>
                <a:latin typeface="Arial"/>
                <a:cs typeface="Arial"/>
              </a:rPr>
              <a:t>DHCP peut fournir sous </a:t>
            </a:r>
            <a:r>
              <a:rPr sz="1800" spc="-5">
                <a:solidFill>
                  <a:srgbClr val="333333"/>
                </a:solidFill>
                <a:latin typeface="Arial"/>
                <a:cs typeface="Arial"/>
              </a:rPr>
              <a:t>forme </a:t>
            </a:r>
            <a:endParaRPr lang="fr-FR" sz="1800" spc="-5" dirty="0">
              <a:solidFill>
                <a:srgbClr val="333333"/>
              </a:solidFill>
              <a:latin typeface="Arial"/>
              <a:cs typeface="Arial"/>
            </a:endParaRPr>
          </a:p>
          <a:p>
            <a:pPr marL="355600" indent="-342900">
              <a:spcBef>
                <a:spcPts val="0"/>
              </a:spcBef>
              <a:buClr>
                <a:srgbClr val="00007C"/>
              </a:buClr>
              <a:tabLst>
                <a:tab pos="355600" algn="l"/>
              </a:tabLst>
              <a:defRPr/>
            </a:pPr>
            <a:r>
              <a:rPr lang="fr-FR" sz="1800" spc="-5" dirty="0">
                <a:solidFill>
                  <a:srgbClr val="333333"/>
                </a:solidFill>
                <a:latin typeface="Arial"/>
                <a:cs typeface="Arial"/>
              </a:rPr>
              <a:t>     </a:t>
            </a:r>
            <a:r>
              <a:rPr sz="1800" spc="-5">
                <a:solidFill>
                  <a:srgbClr val="333333"/>
                </a:solidFill>
                <a:latin typeface="Arial"/>
                <a:cs typeface="Arial"/>
              </a:rPr>
              <a:t>d’un </a:t>
            </a:r>
            <a:r>
              <a:rPr sz="1800" spc="-5" dirty="0">
                <a:solidFill>
                  <a:srgbClr val="333333"/>
                </a:solidFill>
                <a:latin typeface="Arial"/>
                <a:cs typeface="Arial"/>
              </a:rPr>
              <a:t>bail à durée</a:t>
            </a:r>
            <a:r>
              <a:rPr sz="1800" spc="65" dirty="0">
                <a:solidFill>
                  <a:srgbClr val="333333"/>
                </a:solidFill>
                <a:latin typeface="Arial"/>
                <a:cs typeface="Arial"/>
              </a:rPr>
              <a:t> </a:t>
            </a:r>
            <a:r>
              <a:rPr sz="1800" spc="-5" dirty="0">
                <a:solidFill>
                  <a:srgbClr val="333333"/>
                </a:solidFill>
                <a:latin typeface="Arial"/>
                <a:cs typeface="Arial"/>
              </a:rPr>
              <a:t>déterminée:</a:t>
            </a:r>
            <a:endParaRPr sz="1800">
              <a:solidFill>
                <a:srgbClr val="333333"/>
              </a:solidFill>
              <a:latin typeface="Arial"/>
              <a:cs typeface="Arial"/>
            </a:endParaRPr>
          </a:p>
          <a:p>
            <a:pPr marL="756285" lvl="1" indent="-286385">
              <a:spcBef>
                <a:spcPts val="0"/>
              </a:spcBef>
              <a:buClr>
                <a:srgbClr val="9999CC"/>
              </a:buClr>
              <a:buFont typeface="Wingdings" pitchFamily="2" charset="2"/>
              <a:buChar char="ü"/>
              <a:tabLst>
                <a:tab pos="756920" algn="l"/>
              </a:tabLst>
              <a:defRPr/>
            </a:pPr>
            <a:r>
              <a:rPr sz="1800" spc="-5" dirty="0">
                <a:solidFill>
                  <a:srgbClr val="333333"/>
                </a:solidFill>
                <a:latin typeface="Arial"/>
                <a:cs typeface="Arial"/>
              </a:rPr>
              <a:t>Une Adresse</a:t>
            </a:r>
            <a:r>
              <a:rPr sz="1800" spc="-85" dirty="0">
                <a:solidFill>
                  <a:srgbClr val="333333"/>
                </a:solidFill>
                <a:latin typeface="Arial"/>
                <a:cs typeface="Arial"/>
              </a:rPr>
              <a:t> </a:t>
            </a:r>
            <a:r>
              <a:rPr sz="1800" dirty="0">
                <a:solidFill>
                  <a:srgbClr val="333333"/>
                </a:solidFill>
                <a:latin typeface="Arial"/>
                <a:cs typeface="Arial"/>
              </a:rPr>
              <a:t>IP</a:t>
            </a:r>
            <a:endParaRPr sz="1800">
              <a:solidFill>
                <a:srgbClr val="333333"/>
              </a:solidFill>
              <a:latin typeface="Arial"/>
              <a:cs typeface="Arial"/>
            </a:endParaRPr>
          </a:p>
          <a:p>
            <a:pPr marL="756285" lvl="1" indent="-286385">
              <a:spcBef>
                <a:spcPts val="0"/>
              </a:spcBef>
              <a:buClr>
                <a:srgbClr val="9999CC"/>
              </a:buClr>
              <a:buFont typeface="Wingdings" pitchFamily="2" charset="2"/>
              <a:buChar char="ü"/>
              <a:tabLst>
                <a:tab pos="756920" algn="l"/>
              </a:tabLst>
              <a:defRPr/>
            </a:pPr>
            <a:r>
              <a:rPr sz="1800" spc="-5" dirty="0">
                <a:solidFill>
                  <a:srgbClr val="333333"/>
                </a:solidFill>
                <a:latin typeface="Arial"/>
                <a:cs typeface="Arial"/>
              </a:rPr>
              <a:t>Un Masque de</a:t>
            </a:r>
            <a:r>
              <a:rPr sz="1800" spc="-35" dirty="0">
                <a:solidFill>
                  <a:srgbClr val="333333"/>
                </a:solidFill>
                <a:latin typeface="Arial"/>
                <a:cs typeface="Arial"/>
              </a:rPr>
              <a:t> </a:t>
            </a:r>
            <a:r>
              <a:rPr sz="1800" spc="-5" dirty="0">
                <a:solidFill>
                  <a:srgbClr val="333333"/>
                </a:solidFill>
                <a:latin typeface="Arial"/>
                <a:cs typeface="Arial"/>
              </a:rPr>
              <a:t>sous-réseau</a:t>
            </a:r>
            <a:endParaRPr sz="1800">
              <a:solidFill>
                <a:srgbClr val="333333"/>
              </a:solidFill>
              <a:latin typeface="Arial"/>
              <a:cs typeface="Arial"/>
            </a:endParaRPr>
          </a:p>
          <a:p>
            <a:pPr marL="756285" lvl="1" indent="-286385">
              <a:spcBef>
                <a:spcPts val="0"/>
              </a:spcBef>
              <a:buClr>
                <a:srgbClr val="9999CC"/>
              </a:buClr>
              <a:buFont typeface="Wingdings" pitchFamily="2" charset="2"/>
              <a:buChar char="ü"/>
              <a:tabLst>
                <a:tab pos="756920" algn="l"/>
              </a:tabLst>
              <a:defRPr/>
            </a:pPr>
            <a:r>
              <a:rPr sz="1800" spc="-5" dirty="0">
                <a:solidFill>
                  <a:srgbClr val="333333"/>
                </a:solidFill>
                <a:latin typeface="Arial"/>
                <a:cs typeface="Arial"/>
              </a:rPr>
              <a:t>Une Passerelle par</a:t>
            </a:r>
            <a:r>
              <a:rPr sz="1800" spc="-35" dirty="0">
                <a:solidFill>
                  <a:srgbClr val="333333"/>
                </a:solidFill>
                <a:latin typeface="Arial"/>
                <a:cs typeface="Arial"/>
              </a:rPr>
              <a:t> </a:t>
            </a:r>
            <a:r>
              <a:rPr sz="1800" spc="-5" dirty="0">
                <a:solidFill>
                  <a:srgbClr val="333333"/>
                </a:solidFill>
                <a:latin typeface="Arial"/>
                <a:cs typeface="Arial"/>
              </a:rPr>
              <a:t>défaut</a:t>
            </a:r>
            <a:endParaRPr sz="1800">
              <a:solidFill>
                <a:srgbClr val="333333"/>
              </a:solidFill>
              <a:latin typeface="Arial"/>
              <a:cs typeface="Arial"/>
            </a:endParaRPr>
          </a:p>
          <a:p>
            <a:pPr marL="756285" lvl="1" indent="-286385">
              <a:spcBef>
                <a:spcPts val="0"/>
              </a:spcBef>
              <a:buClr>
                <a:srgbClr val="9999CC"/>
              </a:buClr>
              <a:buFont typeface="Wingdings" pitchFamily="2" charset="2"/>
              <a:buChar char="ü"/>
              <a:tabLst>
                <a:tab pos="756920" algn="l"/>
              </a:tabLst>
              <a:defRPr/>
            </a:pPr>
            <a:r>
              <a:rPr sz="1800" spc="-5" dirty="0">
                <a:solidFill>
                  <a:srgbClr val="333333"/>
                </a:solidFill>
                <a:latin typeface="Arial"/>
                <a:cs typeface="Arial"/>
              </a:rPr>
              <a:t>Un Nom du</a:t>
            </a:r>
            <a:r>
              <a:rPr sz="1800" spc="-75" dirty="0">
                <a:solidFill>
                  <a:srgbClr val="333333"/>
                </a:solidFill>
                <a:latin typeface="Arial"/>
                <a:cs typeface="Arial"/>
              </a:rPr>
              <a:t> </a:t>
            </a:r>
            <a:r>
              <a:rPr sz="1800" spc="-5" dirty="0">
                <a:solidFill>
                  <a:srgbClr val="333333"/>
                </a:solidFill>
                <a:latin typeface="Arial"/>
                <a:cs typeface="Arial"/>
              </a:rPr>
              <a:t>domaine</a:t>
            </a:r>
            <a:endParaRPr sz="1800">
              <a:solidFill>
                <a:srgbClr val="333333"/>
              </a:solidFill>
              <a:latin typeface="Arial"/>
              <a:cs typeface="Arial"/>
            </a:endParaRPr>
          </a:p>
          <a:p>
            <a:pPr marL="756285" lvl="1" indent="-286385">
              <a:spcBef>
                <a:spcPts val="0"/>
              </a:spcBef>
              <a:buClr>
                <a:srgbClr val="9999CC"/>
              </a:buClr>
              <a:buFont typeface="Wingdings" pitchFamily="2" charset="2"/>
              <a:buChar char="ü"/>
              <a:tabLst>
                <a:tab pos="756920" algn="l"/>
              </a:tabLst>
              <a:defRPr/>
            </a:pPr>
            <a:r>
              <a:rPr sz="1800" spc="-5" dirty="0">
                <a:solidFill>
                  <a:srgbClr val="333333"/>
                </a:solidFill>
                <a:latin typeface="Arial"/>
                <a:cs typeface="Arial"/>
              </a:rPr>
              <a:t>Le serveur</a:t>
            </a:r>
            <a:r>
              <a:rPr sz="1800" spc="-70" dirty="0">
                <a:solidFill>
                  <a:srgbClr val="333333"/>
                </a:solidFill>
                <a:latin typeface="Arial"/>
                <a:cs typeface="Arial"/>
              </a:rPr>
              <a:t> </a:t>
            </a:r>
            <a:r>
              <a:rPr sz="1800" spc="-5" dirty="0">
                <a:solidFill>
                  <a:srgbClr val="333333"/>
                </a:solidFill>
                <a:latin typeface="Arial"/>
                <a:cs typeface="Arial"/>
              </a:rPr>
              <a:t>DNS</a:t>
            </a:r>
            <a:endParaRPr sz="1800">
              <a:solidFill>
                <a:srgbClr val="333333"/>
              </a:solidFill>
              <a:latin typeface="Arial"/>
              <a:cs typeface="Arial"/>
            </a:endParaRPr>
          </a:p>
          <a:p>
            <a:pPr marL="355600" indent="-342900">
              <a:spcBef>
                <a:spcPts val="0"/>
              </a:spcBef>
              <a:buClr>
                <a:srgbClr val="00007C"/>
              </a:buClr>
              <a:buFont typeface="Wingdings"/>
              <a:buChar char=""/>
              <a:tabLst>
                <a:tab pos="355600" algn="l"/>
              </a:tabLst>
              <a:defRPr/>
            </a:pPr>
            <a:r>
              <a:rPr sz="1800" spc="-5" dirty="0">
                <a:solidFill>
                  <a:srgbClr val="333333"/>
                </a:solidFill>
                <a:latin typeface="Arial"/>
                <a:cs typeface="Arial"/>
              </a:rPr>
              <a:t>DHCP utilise le port UDP</a:t>
            </a:r>
            <a:r>
              <a:rPr sz="1800" spc="-30" dirty="0">
                <a:solidFill>
                  <a:srgbClr val="333333"/>
                </a:solidFill>
                <a:latin typeface="Arial"/>
                <a:cs typeface="Arial"/>
              </a:rPr>
              <a:t> </a:t>
            </a:r>
            <a:r>
              <a:rPr sz="1800" spc="-5" dirty="0">
                <a:solidFill>
                  <a:srgbClr val="333333"/>
                </a:solidFill>
                <a:latin typeface="Arial"/>
                <a:cs typeface="Arial"/>
              </a:rPr>
              <a:t>67</a:t>
            </a:r>
            <a:endParaRPr sz="1800">
              <a:solidFill>
                <a:srgbClr val="333333"/>
              </a:solidFill>
              <a:latin typeface="Arial"/>
              <a:cs typeface="Arial"/>
            </a:endParaRPr>
          </a:p>
          <a:p>
            <a:pPr marL="355600" indent="-342900">
              <a:spcBef>
                <a:spcPts val="0"/>
              </a:spcBef>
              <a:buClr>
                <a:srgbClr val="00007C"/>
              </a:buClr>
              <a:buFont typeface="Wingdings"/>
              <a:buChar char=""/>
              <a:tabLst>
                <a:tab pos="355600" algn="l"/>
              </a:tabLst>
              <a:defRPr/>
            </a:pPr>
            <a:r>
              <a:rPr sz="1800" spc="-5" dirty="0">
                <a:solidFill>
                  <a:srgbClr val="333333"/>
                </a:solidFill>
                <a:latin typeface="Arial"/>
                <a:cs typeface="Arial"/>
              </a:rPr>
              <a:t>Les serveurs DHCP peuvent</a:t>
            </a:r>
            <a:r>
              <a:rPr sz="1800" spc="5" dirty="0">
                <a:solidFill>
                  <a:srgbClr val="333333"/>
                </a:solidFill>
                <a:latin typeface="Arial"/>
                <a:cs typeface="Arial"/>
              </a:rPr>
              <a:t> </a:t>
            </a:r>
            <a:r>
              <a:rPr sz="1800" spc="-5">
                <a:solidFill>
                  <a:srgbClr val="333333"/>
                </a:solidFill>
                <a:latin typeface="Arial"/>
                <a:cs typeface="Arial"/>
              </a:rPr>
              <a:t>être:</a:t>
            </a:r>
            <a:endParaRPr lang="fr-FR" sz="1800" spc="-5" dirty="0">
              <a:solidFill>
                <a:srgbClr val="333333"/>
              </a:solidFill>
              <a:latin typeface="Arial"/>
              <a:cs typeface="Arial"/>
            </a:endParaRPr>
          </a:p>
          <a:p>
            <a:pPr marL="1213485" lvl="2" indent="-286385">
              <a:spcBef>
                <a:spcPts val="0"/>
              </a:spcBef>
              <a:buClr>
                <a:srgbClr val="9999CC"/>
              </a:buClr>
              <a:buFont typeface="Wingdings" pitchFamily="2" charset="2"/>
              <a:buChar char="ü"/>
              <a:tabLst>
                <a:tab pos="299720" algn="l"/>
              </a:tabLst>
              <a:defRPr/>
            </a:pPr>
            <a:r>
              <a:rPr lang="fr-FR" sz="1800" spc="-5" dirty="0">
                <a:solidFill>
                  <a:srgbClr val="333333"/>
                </a:solidFill>
                <a:latin typeface="Arial"/>
                <a:cs typeface="Arial"/>
              </a:rPr>
              <a:t>Un Serveur du réseau</a:t>
            </a:r>
            <a:r>
              <a:rPr lang="fr-FR" sz="1800" spc="-35" dirty="0">
                <a:solidFill>
                  <a:srgbClr val="333333"/>
                </a:solidFill>
                <a:latin typeface="Arial"/>
                <a:cs typeface="Arial"/>
              </a:rPr>
              <a:t> </a:t>
            </a:r>
            <a:r>
              <a:rPr lang="fr-FR" sz="1800" spc="-5" dirty="0">
                <a:solidFill>
                  <a:srgbClr val="333333"/>
                </a:solidFill>
                <a:latin typeface="Arial"/>
                <a:cs typeface="Arial"/>
              </a:rPr>
              <a:t>local</a:t>
            </a:r>
            <a:endParaRPr lang="fr-FR" sz="1800" dirty="0">
              <a:solidFill>
                <a:srgbClr val="333333"/>
              </a:solidFill>
              <a:latin typeface="Arial"/>
              <a:cs typeface="Arial"/>
            </a:endParaRPr>
          </a:p>
          <a:p>
            <a:pPr marL="1213485" lvl="2" indent="-286385">
              <a:spcBef>
                <a:spcPts val="0"/>
              </a:spcBef>
              <a:buClr>
                <a:srgbClr val="9999CC"/>
              </a:buClr>
              <a:buFont typeface="Wingdings" pitchFamily="2" charset="2"/>
              <a:buChar char="ü"/>
              <a:tabLst>
                <a:tab pos="299720" algn="l"/>
              </a:tabLst>
              <a:defRPr/>
            </a:pPr>
            <a:r>
              <a:rPr lang="fr-FR" sz="1800" spc="-5" dirty="0">
                <a:solidFill>
                  <a:srgbClr val="333333"/>
                </a:solidFill>
                <a:latin typeface="Arial"/>
                <a:cs typeface="Arial"/>
              </a:rPr>
              <a:t>Un</a:t>
            </a:r>
            <a:r>
              <a:rPr lang="fr-FR" sz="1800" spc="-105" dirty="0">
                <a:solidFill>
                  <a:srgbClr val="333333"/>
                </a:solidFill>
                <a:latin typeface="Arial"/>
                <a:cs typeface="Arial"/>
              </a:rPr>
              <a:t> </a:t>
            </a:r>
            <a:r>
              <a:rPr lang="fr-FR" sz="1800" spc="-5" dirty="0">
                <a:solidFill>
                  <a:srgbClr val="333333"/>
                </a:solidFill>
                <a:latin typeface="Arial"/>
                <a:cs typeface="Arial"/>
              </a:rPr>
              <a:t>Routeur</a:t>
            </a:r>
            <a:endParaRPr lang="fr-FR" sz="1800" dirty="0">
              <a:solidFill>
                <a:srgbClr val="333333"/>
              </a:solidFill>
              <a:latin typeface="Arial"/>
              <a:cs typeface="Arial"/>
            </a:endParaRPr>
          </a:p>
          <a:p>
            <a:pPr marL="1213485" lvl="2" indent="-286385">
              <a:spcBef>
                <a:spcPts val="0"/>
              </a:spcBef>
              <a:buClr>
                <a:srgbClr val="9999CC"/>
              </a:buClr>
              <a:buFont typeface="Wingdings" pitchFamily="2" charset="2"/>
              <a:buChar char="ü"/>
              <a:tabLst>
                <a:tab pos="299720" algn="l"/>
                <a:tab pos="1580515" algn="l"/>
              </a:tabLst>
              <a:defRPr/>
            </a:pPr>
            <a:r>
              <a:rPr lang="fr-FR" sz="1800" spc="-5" dirty="0">
                <a:solidFill>
                  <a:srgbClr val="333333"/>
                </a:solidFill>
                <a:latin typeface="Arial"/>
                <a:cs typeface="Arial"/>
              </a:rPr>
              <a:t>Un  </a:t>
            </a:r>
            <a:r>
              <a:rPr lang="fr-FR" sz="1800" spc="30" dirty="0">
                <a:solidFill>
                  <a:srgbClr val="333333"/>
                </a:solidFill>
                <a:latin typeface="Arial"/>
                <a:cs typeface="Arial"/>
              </a:rPr>
              <a:t> </a:t>
            </a:r>
            <a:r>
              <a:rPr lang="fr-FR" sz="1800" spc="-5" dirty="0">
                <a:solidFill>
                  <a:srgbClr val="333333"/>
                </a:solidFill>
                <a:latin typeface="Arial"/>
                <a:cs typeface="Arial"/>
              </a:rPr>
              <a:t>Serveur du</a:t>
            </a:r>
            <a:r>
              <a:rPr lang="fr-FR" sz="1800" spc="-90" dirty="0">
                <a:solidFill>
                  <a:srgbClr val="333333"/>
                </a:solidFill>
                <a:latin typeface="Arial"/>
                <a:cs typeface="Arial"/>
              </a:rPr>
              <a:t> </a:t>
            </a:r>
            <a:r>
              <a:rPr lang="fr-FR" sz="1800" spc="-5" dirty="0">
                <a:solidFill>
                  <a:srgbClr val="333333"/>
                </a:solidFill>
                <a:latin typeface="Arial"/>
                <a:cs typeface="Arial"/>
              </a:rPr>
              <a:t>FAI</a:t>
            </a:r>
            <a:endParaRPr lang="fr-FR" sz="1800" dirty="0">
              <a:solidFill>
                <a:srgbClr val="333333"/>
              </a:solidFill>
              <a:latin typeface="Arial"/>
              <a:cs typeface="Arial"/>
            </a:endParaRPr>
          </a:p>
        </p:txBody>
      </p:sp>
    </p:spTree>
    <p:custDataLst>
      <p:tags r:id="rId1"/>
    </p:custDataLst>
    <p:extLst>
      <p:ext uri="{BB962C8B-B14F-4D97-AF65-F5344CB8AC3E}">
        <p14:creationId xmlns:p14="http://schemas.microsoft.com/office/powerpoint/2010/main" val="3913793134"/>
      </p:ext>
    </p:extLst>
  </p:cSld>
  <p:clrMapOvr>
    <a:masterClrMapping/>
  </p:clrMapOvr>
  <p:transition>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837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DHCP – Dynamic Host Configuration Protocol</a:t>
            </a:r>
          </a:p>
        </p:txBody>
      </p:sp>
      <p:pic>
        <p:nvPicPr>
          <p:cNvPr id="5837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313" y="1214438"/>
            <a:ext cx="6911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object 4"/>
          <p:cNvSpPr txBox="1"/>
          <p:nvPr/>
        </p:nvSpPr>
        <p:spPr>
          <a:xfrm>
            <a:off x="642938" y="4960938"/>
            <a:ext cx="3924300" cy="284162"/>
          </a:xfrm>
          <a:prstGeom prst="rect">
            <a:avLst/>
          </a:prstGeom>
        </p:spPr>
        <p:txBody>
          <a:bodyPr lIns="0" tIns="0" rIns="0" bIns="0">
            <a:spAutoFit/>
          </a:bodyPr>
          <a:lstStyle/>
          <a:p>
            <a:pPr marL="355600" indent="-342900">
              <a:buClr>
                <a:srgbClr val="00007C"/>
              </a:buClr>
              <a:buFont typeface="Wingdings"/>
              <a:buChar char=""/>
              <a:tabLst>
                <a:tab pos="355600" algn="l"/>
              </a:tabLst>
              <a:defRPr/>
            </a:pPr>
            <a:r>
              <a:rPr sz="1800" spc="-5" dirty="0">
                <a:latin typeface="Arial"/>
                <a:cs typeface="Arial"/>
              </a:rPr>
              <a:t>Plus de détails plus tard avec</a:t>
            </a:r>
            <a:r>
              <a:rPr sz="1800" spc="10" dirty="0">
                <a:latin typeface="Arial"/>
                <a:cs typeface="Arial"/>
              </a:rPr>
              <a:t> </a:t>
            </a:r>
            <a:r>
              <a:rPr sz="1800" spc="-5" dirty="0">
                <a:latin typeface="Arial"/>
                <a:cs typeface="Arial"/>
              </a:rPr>
              <a:t>IPv4.</a:t>
            </a:r>
            <a:endParaRPr sz="1800">
              <a:latin typeface="Arial"/>
              <a:cs typeface="Arial"/>
            </a:endParaRPr>
          </a:p>
        </p:txBody>
      </p:sp>
    </p:spTree>
    <p:custDataLst>
      <p:tags r:id="rId1"/>
    </p:custDataLst>
    <p:extLst>
      <p:ext uri="{BB962C8B-B14F-4D97-AF65-F5344CB8AC3E}">
        <p14:creationId xmlns:p14="http://schemas.microsoft.com/office/powerpoint/2010/main" val="3452762098"/>
      </p:ext>
    </p:extLst>
  </p:cSld>
  <p:clrMapOvr>
    <a:masterClrMapping/>
  </p:clrMapOvr>
  <p:transition>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5939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FTP (File Transfer Protocol)</a:t>
            </a:r>
          </a:p>
        </p:txBody>
      </p:sp>
      <p:sp>
        <p:nvSpPr>
          <p:cNvPr id="59396" name="object 11"/>
          <p:cNvSpPr txBox="1">
            <a:spLocks noChangeArrowheads="1"/>
          </p:cNvSpPr>
          <p:nvPr/>
        </p:nvSpPr>
        <p:spPr bwMode="auto">
          <a:xfrm>
            <a:off x="866775" y="5691188"/>
            <a:ext cx="74787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429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eaLnBrk="1" hangingPunct="1">
              <a:spcBef>
                <a:spcPct val="0"/>
              </a:spcBef>
              <a:buClr>
                <a:srgbClr val="00007C"/>
              </a:buClr>
              <a:buFont typeface="Wingdings" pitchFamily="2" charset="2"/>
              <a:buChar char=""/>
            </a:pPr>
            <a:r>
              <a:rPr lang="fr-FR" sz="1800">
                <a:solidFill>
                  <a:srgbClr val="333333"/>
                </a:solidFill>
                <a:latin typeface="Arial" charset="0"/>
              </a:rPr>
              <a:t>FTP fut développé pour permettre le transfert de fichiers entre client et  serveurs.</a:t>
            </a:r>
          </a:p>
          <a:p>
            <a:pPr eaLnBrk="1" hangingPunct="1">
              <a:spcBef>
                <a:spcPct val="0"/>
              </a:spcBef>
              <a:buClr>
                <a:srgbClr val="00007C"/>
              </a:buClr>
              <a:buFont typeface="Wingdings" pitchFamily="2" charset="2"/>
              <a:buChar char=""/>
            </a:pPr>
            <a:r>
              <a:rPr lang="fr-FR" sz="1800">
                <a:solidFill>
                  <a:srgbClr val="333333"/>
                </a:solidFill>
                <a:latin typeface="Arial" charset="0"/>
              </a:rPr>
              <a:t>Utilise des commandes </a:t>
            </a:r>
            <a:r>
              <a:rPr lang="fr-FR" sz="1800" b="1">
                <a:solidFill>
                  <a:srgbClr val="333333"/>
                </a:solidFill>
                <a:latin typeface="Courier New" pitchFamily="49" charset="0"/>
                <a:cs typeface="Courier New" pitchFamily="49" charset="0"/>
              </a:rPr>
              <a:t>get </a:t>
            </a:r>
            <a:r>
              <a:rPr lang="fr-FR" sz="1800">
                <a:solidFill>
                  <a:srgbClr val="333333"/>
                </a:solidFill>
                <a:latin typeface="Arial" charset="0"/>
              </a:rPr>
              <a:t>et </a:t>
            </a:r>
            <a:r>
              <a:rPr lang="fr-FR" sz="1800" b="1">
                <a:solidFill>
                  <a:srgbClr val="333333"/>
                </a:solidFill>
                <a:latin typeface="Courier New" pitchFamily="49" charset="0"/>
                <a:cs typeface="Courier New" pitchFamily="49" charset="0"/>
              </a:rPr>
              <a:t>put</a:t>
            </a:r>
            <a:r>
              <a:rPr lang="fr-FR" sz="1800">
                <a:solidFill>
                  <a:srgbClr val="333333"/>
                </a:solidFill>
                <a:latin typeface="Arial" charset="0"/>
              </a:rPr>
              <a:t>.</a:t>
            </a:r>
          </a:p>
        </p:txBody>
      </p:sp>
      <p:grpSp>
        <p:nvGrpSpPr>
          <p:cNvPr id="59397" name="Groupe 5"/>
          <p:cNvGrpSpPr>
            <a:grpSpLocks/>
          </p:cNvGrpSpPr>
          <p:nvPr/>
        </p:nvGrpSpPr>
        <p:grpSpPr bwMode="auto">
          <a:xfrm>
            <a:off x="714375" y="928688"/>
            <a:ext cx="8197850" cy="4476750"/>
            <a:chOff x="1081412" y="1263396"/>
            <a:chExt cx="8197852" cy="4477511"/>
          </a:xfrm>
        </p:grpSpPr>
        <p:sp>
          <p:nvSpPr>
            <p:cNvPr id="59399" name="object 4"/>
            <p:cNvSpPr>
              <a:spLocks noChangeArrowheads="1"/>
            </p:cNvSpPr>
            <p:nvPr/>
          </p:nvSpPr>
          <p:spPr bwMode="auto">
            <a:xfrm>
              <a:off x="3060069" y="2101596"/>
              <a:ext cx="4191000" cy="1676399"/>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9400" name="object 5"/>
            <p:cNvSpPr>
              <a:spLocks noChangeArrowheads="1"/>
            </p:cNvSpPr>
            <p:nvPr/>
          </p:nvSpPr>
          <p:spPr bwMode="auto">
            <a:xfrm>
              <a:off x="1231271" y="2830067"/>
              <a:ext cx="2801111" cy="947927"/>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9401" name="object 6"/>
            <p:cNvSpPr>
              <a:spLocks noChangeArrowheads="1"/>
            </p:cNvSpPr>
            <p:nvPr/>
          </p:nvSpPr>
          <p:spPr bwMode="auto">
            <a:xfrm>
              <a:off x="1840869" y="1491995"/>
              <a:ext cx="990600" cy="86106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9402" name="object 7"/>
            <p:cNvSpPr>
              <a:spLocks noChangeArrowheads="1"/>
            </p:cNvSpPr>
            <p:nvPr/>
          </p:nvSpPr>
          <p:spPr bwMode="auto">
            <a:xfrm>
              <a:off x="7479669" y="1263396"/>
              <a:ext cx="1254252" cy="1315211"/>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9403" name="object 8"/>
            <p:cNvSpPr>
              <a:spLocks noChangeArrowheads="1"/>
            </p:cNvSpPr>
            <p:nvPr/>
          </p:nvSpPr>
          <p:spPr bwMode="auto">
            <a:xfrm>
              <a:off x="2679069" y="1796795"/>
              <a:ext cx="5029200" cy="152400"/>
            </a:xfrm>
            <a:custGeom>
              <a:avLst/>
              <a:gdLst>
                <a:gd name="T0" fmla="*/ 0 w 5029200"/>
                <a:gd name="T1" fmla="*/ 0 h 152400"/>
                <a:gd name="T2" fmla="*/ 5029200 w 5029200"/>
                <a:gd name="T3" fmla="*/ 152400 h 152400"/>
              </a:gdLst>
              <a:ahLst/>
              <a:cxnLst/>
              <a:rect l="T0" t="T1" r="T2" b="T3"/>
              <a:pathLst>
                <a:path w="5029200" h="152400">
                  <a:moveTo>
                    <a:pt x="152399" y="51815"/>
                  </a:moveTo>
                  <a:lnTo>
                    <a:pt x="152399" y="0"/>
                  </a:lnTo>
                  <a:lnTo>
                    <a:pt x="0" y="76199"/>
                  </a:lnTo>
                  <a:lnTo>
                    <a:pt x="128015" y="140207"/>
                  </a:lnTo>
                  <a:lnTo>
                    <a:pt x="128015" y="51815"/>
                  </a:lnTo>
                  <a:lnTo>
                    <a:pt x="152399" y="51815"/>
                  </a:lnTo>
                  <a:close/>
                </a:path>
                <a:path w="5029200" h="152400">
                  <a:moveTo>
                    <a:pt x="4902707" y="102107"/>
                  </a:moveTo>
                  <a:lnTo>
                    <a:pt x="4902707" y="51815"/>
                  </a:lnTo>
                  <a:lnTo>
                    <a:pt x="128015" y="51815"/>
                  </a:lnTo>
                  <a:lnTo>
                    <a:pt x="128015" y="102107"/>
                  </a:lnTo>
                  <a:lnTo>
                    <a:pt x="4902707" y="102107"/>
                  </a:lnTo>
                  <a:close/>
                </a:path>
                <a:path w="5029200" h="152400">
                  <a:moveTo>
                    <a:pt x="152399" y="152399"/>
                  </a:moveTo>
                  <a:lnTo>
                    <a:pt x="152399" y="102107"/>
                  </a:lnTo>
                  <a:lnTo>
                    <a:pt x="128015" y="102107"/>
                  </a:lnTo>
                  <a:lnTo>
                    <a:pt x="128015" y="140207"/>
                  </a:lnTo>
                  <a:lnTo>
                    <a:pt x="152399" y="152399"/>
                  </a:lnTo>
                  <a:close/>
                </a:path>
                <a:path w="5029200" h="152400">
                  <a:moveTo>
                    <a:pt x="5029199" y="76199"/>
                  </a:moveTo>
                  <a:lnTo>
                    <a:pt x="4876799" y="0"/>
                  </a:lnTo>
                  <a:lnTo>
                    <a:pt x="4876799" y="51815"/>
                  </a:lnTo>
                  <a:lnTo>
                    <a:pt x="4902707" y="51815"/>
                  </a:lnTo>
                  <a:lnTo>
                    <a:pt x="4902707" y="139445"/>
                  </a:lnTo>
                  <a:lnTo>
                    <a:pt x="5029199" y="76199"/>
                  </a:lnTo>
                  <a:close/>
                </a:path>
                <a:path w="5029200" h="152400">
                  <a:moveTo>
                    <a:pt x="4902707" y="139445"/>
                  </a:moveTo>
                  <a:lnTo>
                    <a:pt x="4902707" y="102107"/>
                  </a:lnTo>
                  <a:lnTo>
                    <a:pt x="4876799" y="102107"/>
                  </a:lnTo>
                  <a:lnTo>
                    <a:pt x="4876799" y="152399"/>
                  </a:lnTo>
                  <a:lnTo>
                    <a:pt x="4902707" y="139445"/>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9404" name="object 9"/>
            <p:cNvSpPr txBox="1">
              <a:spLocks noChangeArrowheads="1"/>
            </p:cNvSpPr>
            <p:nvPr/>
          </p:nvSpPr>
          <p:spPr bwMode="auto">
            <a:xfrm>
              <a:off x="1081412" y="1531729"/>
              <a:ext cx="660400" cy="558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r>
                <a:rPr lang="fr-FR" sz="1800" b="1">
                  <a:latin typeface="Arial" charset="0"/>
                </a:rPr>
                <a:t>Client  FTP</a:t>
              </a:r>
              <a:endParaRPr lang="fr-FR" sz="1800">
                <a:latin typeface="Arial" charset="0"/>
              </a:endParaRPr>
            </a:p>
          </p:txBody>
        </p:sp>
        <p:sp>
          <p:nvSpPr>
            <p:cNvPr id="59405" name="object 10"/>
            <p:cNvSpPr txBox="1">
              <a:spLocks noChangeArrowheads="1"/>
            </p:cNvSpPr>
            <p:nvPr/>
          </p:nvSpPr>
          <p:spPr bwMode="auto">
            <a:xfrm>
              <a:off x="8549014" y="1607942"/>
              <a:ext cx="730250" cy="558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eaLnBrk="1" hangingPunct="1"/>
              <a:r>
                <a:rPr lang="fr-FR" sz="1800" b="1">
                  <a:latin typeface="Arial" charset="0"/>
                </a:rPr>
                <a:t>Server  FTP</a:t>
              </a:r>
              <a:endParaRPr lang="fr-FR" sz="1800">
                <a:latin typeface="Arial" charset="0"/>
              </a:endParaRPr>
            </a:p>
          </p:txBody>
        </p:sp>
        <p:sp>
          <p:nvSpPr>
            <p:cNvPr id="59406" name="object 12"/>
            <p:cNvSpPr>
              <a:spLocks noChangeArrowheads="1"/>
            </p:cNvSpPr>
            <p:nvPr/>
          </p:nvSpPr>
          <p:spPr bwMode="auto">
            <a:xfrm>
              <a:off x="3060069" y="3777995"/>
              <a:ext cx="4191000" cy="1962912"/>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59407" name="object 13"/>
            <p:cNvSpPr>
              <a:spLocks noChangeArrowheads="1"/>
            </p:cNvSpPr>
            <p:nvPr/>
          </p:nvSpPr>
          <p:spPr bwMode="auto">
            <a:xfrm>
              <a:off x="1231271" y="3777995"/>
              <a:ext cx="2801111" cy="995172"/>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grpSp>
    </p:spTree>
    <p:custDataLst>
      <p:tags r:id="rId1"/>
    </p:custDataLst>
    <p:extLst>
      <p:ext uri="{BB962C8B-B14F-4D97-AF65-F5344CB8AC3E}">
        <p14:creationId xmlns:p14="http://schemas.microsoft.com/office/powerpoint/2010/main" val="2542236657"/>
      </p:ext>
    </p:extLst>
  </p:cSld>
  <p:clrMapOvr>
    <a:masterClrMapping/>
  </p:clrMapOvr>
  <p:transition>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6041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FTP (Protocole de Transfert de fichiers )</a:t>
            </a:r>
          </a:p>
        </p:txBody>
      </p:sp>
      <p:pic>
        <p:nvPicPr>
          <p:cNvPr id="6042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7775" y="1000125"/>
            <a:ext cx="664845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0421" name="Rectangle 6"/>
          <p:cNvSpPr>
            <a:spLocks noChangeArrowheads="1"/>
          </p:cNvSpPr>
          <p:nvPr/>
        </p:nvSpPr>
        <p:spPr bwMode="auto">
          <a:xfrm>
            <a:off x="571500" y="3722688"/>
            <a:ext cx="8358188"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5600" indent="-342900">
              <a:lnSpc>
                <a:spcPts val="1938"/>
              </a:lnSpc>
              <a:spcBef>
                <a:spcPts val="725"/>
              </a:spcBef>
              <a:buClr>
                <a:srgbClr val="00007C"/>
              </a:buClr>
              <a:buFont typeface="Wingdings" pitchFamily="2" charset="2"/>
              <a:buChar char=""/>
              <a:tabLst>
                <a:tab pos="355600" algn="l"/>
              </a:tabLst>
            </a:pPr>
            <a:r>
              <a:rPr lang="fr-FR" sz="1800">
                <a:solidFill>
                  <a:srgbClr val="333333"/>
                </a:solidFill>
                <a:latin typeface="Arial" charset="0"/>
              </a:rPr>
              <a:t>Le client établit la première connexion au serveur sur le port TCP 21. Cette  connexion est utilisée pour le trafic de contrôle.</a:t>
            </a:r>
          </a:p>
          <a:p>
            <a:pPr marL="755650" lvl="1" indent="-285750">
              <a:spcBef>
                <a:spcPts val="188"/>
              </a:spcBef>
              <a:buClr>
                <a:srgbClr val="9999CC"/>
              </a:buClr>
              <a:buFont typeface="Wingdings" pitchFamily="2" charset="2"/>
              <a:buChar char=""/>
              <a:tabLst>
                <a:tab pos="355600" algn="l"/>
              </a:tabLst>
            </a:pPr>
            <a:r>
              <a:rPr lang="fr-FR" sz="1800">
                <a:solidFill>
                  <a:srgbClr val="333333"/>
                </a:solidFill>
                <a:latin typeface="Arial" charset="0"/>
              </a:rPr>
              <a:t> Cette connexion </a:t>
            </a:r>
            <a:r>
              <a:rPr lang="fr-FR" sz="1800" b="1">
                <a:solidFill>
                  <a:srgbClr val="333333"/>
                </a:solidFill>
                <a:latin typeface="Arial" charset="0"/>
              </a:rPr>
              <a:t>reste active </a:t>
            </a:r>
            <a:r>
              <a:rPr lang="fr-FR" sz="1800">
                <a:solidFill>
                  <a:srgbClr val="333333"/>
                </a:solidFill>
                <a:latin typeface="Arial" charset="0"/>
              </a:rPr>
              <a:t>jusqu’à ce que l’utilisateur ferme l’application FTP.</a:t>
            </a:r>
          </a:p>
          <a:p>
            <a:pPr marL="755650" lvl="1" indent="-285750">
              <a:spcBef>
                <a:spcPts val="213"/>
              </a:spcBef>
              <a:buClr>
                <a:srgbClr val="9999CC"/>
              </a:buClr>
              <a:buFont typeface="Wingdings" pitchFamily="2" charset="2"/>
              <a:buChar char=""/>
              <a:tabLst>
                <a:tab pos="355600" algn="l"/>
              </a:tabLst>
            </a:pPr>
            <a:r>
              <a:rPr lang="fr-FR" sz="1800" b="1">
                <a:solidFill>
                  <a:srgbClr val="333333"/>
                </a:solidFill>
                <a:latin typeface="Arial" charset="0"/>
              </a:rPr>
              <a:t>La connexion TCP port 21 </a:t>
            </a:r>
            <a:r>
              <a:rPr lang="fr-FR" sz="1800">
                <a:solidFill>
                  <a:srgbClr val="333333"/>
                </a:solidFill>
                <a:latin typeface="Arial" charset="0"/>
              </a:rPr>
              <a:t>inclut habituellement :</a:t>
            </a:r>
          </a:p>
          <a:p>
            <a:pPr marL="1155700" lvl="2" indent="-228600">
              <a:spcBef>
                <a:spcPts val="213"/>
              </a:spcBef>
              <a:buClr>
                <a:srgbClr val="00007C"/>
              </a:buClr>
              <a:buFont typeface="Wingdings" pitchFamily="2" charset="2"/>
              <a:buChar char=""/>
              <a:tabLst>
                <a:tab pos="355600" algn="l"/>
              </a:tabLst>
            </a:pPr>
            <a:r>
              <a:rPr lang="fr-FR" sz="1800" b="1">
                <a:solidFill>
                  <a:srgbClr val="333333"/>
                </a:solidFill>
                <a:latin typeface="Arial" charset="0"/>
              </a:rPr>
              <a:t>Username </a:t>
            </a:r>
            <a:r>
              <a:rPr lang="fr-FR" sz="1800">
                <a:solidFill>
                  <a:srgbClr val="333333"/>
                </a:solidFill>
                <a:latin typeface="Arial" charset="0"/>
              </a:rPr>
              <a:t>et </a:t>
            </a:r>
            <a:r>
              <a:rPr lang="fr-FR" sz="1800" b="1">
                <a:solidFill>
                  <a:srgbClr val="333333"/>
                </a:solidFill>
                <a:latin typeface="Arial" charset="0"/>
              </a:rPr>
              <a:t>password </a:t>
            </a:r>
            <a:r>
              <a:rPr lang="fr-FR" sz="1800">
                <a:solidFill>
                  <a:srgbClr val="333333"/>
                </a:solidFill>
                <a:latin typeface="Arial" charset="0"/>
              </a:rPr>
              <a:t>envoyés sur ce port TCP 21.</a:t>
            </a:r>
          </a:p>
          <a:p>
            <a:pPr marL="1155700" lvl="2" indent="-228600">
              <a:spcBef>
                <a:spcPts val="213"/>
              </a:spcBef>
              <a:buClr>
                <a:srgbClr val="00007C"/>
              </a:buClr>
              <a:buFont typeface="Wingdings" pitchFamily="2" charset="2"/>
              <a:buChar char=""/>
              <a:tabLst>
                <a:tab pos="355600" algn="l"/>
              </a:tabLst>
            </a:pPr>
            <a:r>
              <a:rPr lang="fr-FR" sz="1800" b="1">
                <a:solidFill>
                  <a:srgbClr val="333333"/>
                </a:solidFill>
                <a:latin typeface="Arial" charset="0"/>
              </a:rPr>
              <a:t>Remote directory changes</a:t>
            </a:r>
            <a:endParaRPr lang="fr-FR" sz="1800">
              <a:solidFill>
                <a:srgbClr val="333333"/>
              </a:solidFill>
              <a:latin typeface="Arial" charset="0"/>
            </a:endParaRPr>
          </a:p>
          <a:p>
            <a:pPr marL="1612900" lvl="3" indent="-228600">
              <a:spcBef>
                <a:spcPts val="213"/>
              </a:spcBef>
              <a:buClr>
                <a:srgbClr val="9999CC"/>
              </a:buClr>
              <a:buFont typeface="Wingdings" pitchFamily="2" charset="2"/>
              <a:buChar char=""/>
              <a:tabLst>
                <a:tab pos="355600" algn="l"/>
              </a:tabLst>
            </a:pPr>
            <a:r>
              <a:rPr lang="fr-FR" sz="1800">
                <a:solidFill>
                  <a:srgbClr val="333333"/>
                </a:solidFill>
                <a:latin typeface="Arial" charset="0"/>
              </a:rPr>
              <a:t>Réduit le nombre total de sessions du serveur.</a:t>
            </a:r>
          </a:p>
          <a:p>
            <a:pPr marL="355600" indent="-342900">
              <a:lnSpc>
                <a:spcPts val="1938"/>
              </a:lnSpc>
              <a:spcBef>
                <a:spcPts val="725"/>
              </a:spcBef>
              <a:buClr>
                <a:srgbClr val="00007C"/>
              </a:buClr>
              <a:buFont typeface="Wingdings" pitchFamily="2" charset="2"/>
              <a:buChar char=""/>
              <a:tabLst>
                <a:tab pos="355600" algn="l"/>
              </a:tabLst>
            </a:pPr>
            <a:r>
              <a:rPr lang="fr-FR" sz="1800">
                <a:solidFill>
                  <a:srgbClr val="333333"/>
                </a:solidFill>
                <a:latin typeface="Arial" charset="0"/>
              </a:rPr>
              <a:t>Le client établit la seconde connexion au serveur via le port </a:t>
            </a:r>
            <a:r>
              <a:rPr lang="fr-FR" sz="1800" b="1">
                <a:solidFill>
                  <a:srgbClr val="333333"/>
                </a:solidFill>
                <a:latin typeface="Arial" charset="0"/>
              </a:rPr>
              <a:t>TCP 20</a:t>
            </a:r>
            <a:r>
              <a:rPr lang="fr-FR" sz="1800">
                <a:solidFill>
                  <a:srgbClr val="333333"/>
                </a:solidFill>
                <a:latin typeface="Arial" charset="0"/>
              </a:rPr>
              <a:t>. Cette  connexion est destinée au transfert même des fichiers et est établie à chaque  transfert de fichiers. (à venir)</a:t>
            </a:r>
          </a:p>
          <a:p>
            <a:pPr marL="1612900" lvl="3" indent="-228600">
              <a:spcBef>
                <a:spcPts val="213"/>
              </a:spcBef>
              <a:buClr>
                <a:srgbClr val="9999CC"/>
              </a:buClr>
              <a:tabLst>
                <a:tab pos="355600" algn="l"/>
              </a:tabLst>
            </a:pPr>
            <a:endParaRPr lang="fr-FR" sz="1800">
              <a:solidFill>
                <a:srgbClr val="333333"/>
              </a:solidFill>
              <a:latin typeface="Arial" charset="0"/>
            </a:endParaRPr>
          </a:p>
        </p:txBody>
      </p:sp>
    </p:spTree>
    <p:custDataLst>
      <p:tags r:id="rId1"/>
    </p:custDataLst>
    <p:extLst>
      <p:ext uri="{BB962C8B-B14F-4D97-AF65-F5344CB8AC3E}">
        <p14:creationId xmlns:p14="http://schemas.microsoft.com/office/powerpoint/2010/main" val="1389383454"/>
      </p:ext>
    </p:extLst>
  </p:cSld>
  <p:clrMapOvr>
    <a:masterClrMapping/>
  </p:clrMapOvr>
  <p:transition>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6144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DNS – Domain Name System</a:t>
            </a:r>
          </a:p>
        </p:txBody>
      </p:sp>
      <p:sp>
        <p:nvSpPr>
          <p:cNvPr id="61444" name="object 6"/>
          <p:cNvSpPr>
            <a:spLocks noChangeArrowheads="1"/>
          </p:cNvSpPr>
          <p:nvPr/>
        </p:nvSpPr>
        <p:spPr bwMode="auto">
          <a:xfrm>
            <a:off x="1244600" y="1631950"/>
            <a:ext cx="1362075" cy="484188"/>
          </a:xfrm>
          <a:custGeom>
            <a:avLst/>
            <a:gdLst>
              <a:gd name="T0" fmla="*/ 0 w 1626235"/>
              <a:gd name="T1" fmla="*/ 0 h 483235"/>
              <a:gd name="T2" fmla="*/ 1626235 w 1626235"/>
              <a:gd name="T3" fmla="*/ 483235 h 483235"/>
            </a:gdLst>
            <a:ahLst/>
            <a:cxnLst/>
            <a:rect l="T0" t="T1" r="T2" b="T3"/>
            <a:pathLst>
              <a:path w="1626235" h="483235">
                <a:moveTo>
                  <a:pt x="1626104" y="483107"/>
                </a:moveTo>
                <a:lnTo>
                  <a:pt x="1626104" y="0"/>
                </a:lnTo>
                <a:lnTo>
                  <a:pt x="0" y="0"/>
                </a:lnTo>
                <a:lnTo>
                  <a:pt x="0" y="483107"/>
                </a:lnTo>
                <a:lnTo>
                  <a:pt x="12191" y="483107"/>
                </a:lnTo>
                <a:lnTo>
                  <a:pt x="12191" y="25907"/>
                </a:lnTo>
                <a:lnTo>
                  <a:pt x="25907" y="12191"/>
                </a:lnTo>
                <a:lnTo>
                  <a:pt x="25907" y="25907"/>
                </a:lnTo>
                <a:lnTo>
                  <a:pt x="1600196" y="25907"/>
                </a:lnTo>
                <a:lnTo>
                  <a:pt x="1600196" y="12191"/>
                </a:lnTo>
                <a:lnTo>
                  <a:pt x="1612388" y="25907"/>
                </a:lnTo>
                <a:lnTo>
                  <a:pt x="1612388" y="483107"/>
                </a:lnTo>
                <a:lnTo>
                  <a:pt x="1626104" y="483107"/>
                </a:lnTo>
                <a:close/>
              </a:path>
              <a:path w="1626235" h="483235">
                <a:moveTo>
                  <a:pt x="25907" y="25907"/>
                </a:moveTo>
                <a:lnTo>
                  <a:pt x="25907" y="12191"/>
                </a:lnTo>
                <a:lnTo>
                  <a:pt x="12191" y="25907"/>
                </a:lnTo>
                <a:lnTo>
                  <a:pt x="25907" y="25907"/>
                </a:lnTo>
                <a:close/>
              </a:path>
              <a:path w="1626235" h="483235">
                <a:moveTo>
                  <a:pt x="25907" y="457199"/>
                </a:moveTo>
                <a:lnTo>
                  <a:pt x="25907" y="25907"/>
                </a:lnTo>
                <a:lnTo>
                  <a:pt x="12191" y="25907"/>
                </a:lnTo>
                <a:lnTo>
                  <a:pt x="12191" y="457199"/>
                </a:lnTo>
                <a:lnTo>
                  <a:pt x="25907" y="457199"/>
                </a:lnTo>
                <a:close/>
              </a:path>
              <a:path w="1626235" h="483235">
                <a:moveTo>
                  <a:pt x="1612388" y="457199"/>
                </a:moveTo>
                <a:lnTo>
                  <a:pt x="12191" y="457199"/>
                </a:lnTo>
                <a:lnTo>
                  <a:pt x="25907" y="469391"/>
                </a:lnTo>
                <a:lnTo>
                  <a:pt x="25907" y="483107"/>
                </a:lnTo>
                <a:lnTo>
                  <a:pt x="1600196" y="483107"/>
                </a:lnTo>
                <a:lnTo>
                  <a:pt x="1600196" y="469391"/>
                </a:lnTo>
                <a:lnTo>
                  <a:pt x="1612388" y="457199"/>
                </a:lnTo>
                <a:close/>
              </a:path>
              <a:path w="1626235" h="483235">
                <a:moveTo>
                  <a:pt x="25907" y="483107"/>
                </a:moveTo>
                <a:lnTo>
                  <a:pt x="25907" y="469391"/>
                </a:lnTo>
                <a:lnTo>
                  <a:pt x="12191" y="457199"/>
                </a:lnTo>
                <a:lnTo>
                  <a:pt x="12191" y="483107"/>
                </a:lnTo>
                <a:lnTo>
                  <a:pt x="25907" y="483107"/>
                </a:lnTo>
                <a:close/>
              </a:path>
              <a:path w="1626235" h="483235">
                <a:moveTo>
                  <a:pt x="1612388" y="25907"/>
                </a:moveTo>
                <a:lnTo>
                  <a:pt x="1600196" y="12191"/>
                </a:lnTo>
                <a:lnTo>
                  <a:pt x="1600196" y="25907"/>
                </a:lnTo>
                <a:lnTo>
                  <a:pt x="1612388" y="25907"/>
                </a:lnTo>
                <a:close/>
              </a:path>
              <a:path w="1626235" h="483235">
                <a:moveTo>
                  <a:pt x="1612388" y="457199"/>
                </a:moveTo>
                <a:lnTo>
                  <a:pt x="1612388" y="25907"/>
                </a:lnTo>
                <a:lnTo>
                  <a:pt x="1600196" y="25907"/>
                </a:lnTo>
                <a:lnTo>
                  <a:pt x="1600196" y="457199"/>
                </a:lnTo>
                <a:lnTo>
                  <a:pt x="1612388" y="457199"/>
                </a:lnTo>
                <a:close/>
              </a:path>
              <a:path w="1626235" h="483235">
                <a:moveTo>
                  <a:pt x="1612388" y="483107"/>
                </a:moveTo>
                <a:lnTo>
                  <a:pt x="1612388" y="457199"/>
                </a:lnTo>
                <a:lnTo>
                  <a:pt x="1600196" y="469391"/>
                </a:lnTo>
                <a:lnTo>
                  <a:pt x="1600196" y="483107"/>
                </a:lnTo>
                <a:lnTo>
                  <a:pt x="1612388" y="483107"/>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61445" name="object 7"/>
          <p:cNvSpPr>
            <a:spLocks noChangeArrowheads="1"/>
          </p:cNvSpPr>
          <p:nvPr/>
        </p:nvSpPr>
        <p:spPr bwMode="auto">
          <a:xfrm>
            <a:off x="6121400" y="1631950"/>
            <a:ext cx="1362075" cy="484188"/>
          </a:xfrm>
          <a:custGeom>
            <a:avLst/>
            <a:gdLst>
              <a:gd name="T0" fmla="*/ 0 w 1626234"/>
              <a:gd name="T1" fmla="*/ 0 h 483235"/>
              <a:gd name="T2" fmla="*/ 1626234 w 1626234"/>
              <a:gd name="T3" fmla="*/ 483235 h 483235"/>
            </a:gdLst>
            <a:ahLst/>
            <a:cxnLst/>
            <a:rect l="T0" t="T1" r="T2" b="T3"/>
            <a:pathLst>
              <a:path w="1626234" h="483235">
                <a:moveTo>
                  <a:pt x="1626107" y="483107"/>
                </a:moveTo>
                <a:lnTo>
                  <a:pt x="1626107" y="0"/>
                </a:lnTo>
                <a:lnTo>
                  <a:pt x="0" y="0"/>
                </a:lnTo>
                <a:lnTo>
                  <a:pt x="0" y="483107"/>
                </a:lnTo>
                <a:lnTo>
                  <a:pt x="12191" y="483107"/>
                </a:lnTo>
                <a:lnTo>
                  <a:pt x="12191" y="25907"/>
                </a:lnTo>
                <a:lnTo>
                  <a:pt x="25907" y="12191"/>
                </a:lnTo>
                <a:lnTo>
                  <a:pt x="25907" y="25907"/>
                </a:lnTo>
                <a:lnTo>
                  <a:pt x="1600199" y="25907"/>
                </a:lnTo>
                <a:lnTo>
                  <a:pt x="1600199" y="12191"/>
                </a:lnTo>
                <a:lnTo>
                  <a:pt x="1612391" y="25907"/>
                </a:lnTo>
                <a:lnTo>
                  <a:pt x="1612391" y="483107"/>
                </a:lnTo>
                <a:lnTo>
                  <a:pt x="1626107" y="483107"/>
                </a:lnTo>
                <a:close/>
              </a:path>
              <a:path w="1626234" h="483235">
                <a:moveTo>
                  <a:pt x="25907" y="25907"/>
                </a:moveTo>
                <a:lnTo>
                  <a:pt x="25907" y="12191"/>
                </a:lnTo>
                <a:lnTo>
                  <a:pt x="12191" y="25907"/>
                </a:lnTo>
                <a:lnTo>
                  <a:pt x="25907" y="25907"/>
                </a:lnTo>
                <a:close/>
              </a:path>
              <a:path w="1626234" h="483235">
                <a:moveTo>
                  <a:pt x="25907" y="457199"/>
                </a:moveTo>
                <a:lnTo>
                  <a:pt x="25907" y="25907"/>
                </a:lnTo>
                <a:lnTo>
                  <a:pt x="12191" y="25907"/>
                </a:lnTo>
                <a:lnTo>
                  <a:pt x="12191" y="457199"/>
                </a:lnTo>
                <a:lnTo>
                  <a:pt x="25907" y="457199"/>
                </a:lnTo>
                <a:close/>
              </a:path>
              <a:path w="1626234" h="483235">
                <a:moveTo>
                  <a:pt x="1612391" y="457199"/>
                </a:moveTo>
                <a:lnTo>
                  <a:pt x="12191" y="457199"/>
                </a:lnTo>
                <a:lnTo>
                  <a:pt x="25907" y="469391"/>
                </a:lnTo>
                <a:lnTo>
                  <a:pt x="25907" y="483107"/>
                </a:lnTo>
                <a:lnTo>
                  <a:pt x="1600199" y="483107"/>
                </a:lnTo>
                <a:lnTo>
                  <a:pt x="1600199" y="469391"/>
                </a:lnTo>
                <a:lnTo>
                  <a:pt x="1612391" y="457199"/>
                </a:lnTo>
                <a:close/>
              </a:path>
              <a:path w="1626234" h="483235">
                <a:moveTo>
                  <a:pt x="25907" y="483107"/>
                </a:moveTo>
                <a:lnTo>
                  <a:pt x="25907" y="469391"/>
                </a:lnTo>
                <a:lnTo>
                  <a:pt x="12191" y="457199"/>
                </a:lnTo>
                <a:lnTo>
                  <a:pt x="12191" y="483107"/>
                </a:lnTo>
                <a:lnTo>
                  <a:pt x="25907" y="483107"/>
                </a:lnTo>
                <a:close/>
              </a:path>
              <a:path w="1626234" h="483235">
                <a:moveTo>
                  <a:pt x="1612391" y="25907"/>
                </a:moveTo>
                <a:lnTo>
                  <a:pt x="1600199" y="12191"/>
                </a:lnTo>
                <a:lnTo>
                  <a:pt x="1600199" y="25907"/>
                </a:lnTo>
                <a:lnTo>
                  <a:pt x="1612391" y="25907"/>
                </a:lnTo>
                <a:close/>
              </a:path>
              <a:path w="1626234" h="483235">
                <a:moveTo>
                  <a:pt x="1612391" y="457199"/>
                </a:moveTo>
                <a:lnTo>
                  <a:pt x="1612391" y="25907"/>
                </a:lnTo>
                <a:lnTo>
                  <a:pt x="1600199" y="25907"/>
                </a:lnTo>
                <a:lnTo>
                  <a:pt x="1600199" y="457199"/>
                </a:lnTo>
                <a:lnTo>
                  <a:pt x="1612391" y="457199"/>
                </a:lnTo>
                <a:close/>
              </a:path>
              <a:path w="1626234" h="483235">
                <a:moveTo>
                  <a:pt x="1612391" y="483107"/>
                </a:moveTo>
                <a:lnTo>
                  <a:pt x="1612391" y="457199"/>
                </a:lnTo>
                <a:lnTo>
                  <a:pt x="1600199" y="469391"/>
                </a:lnTo>
                <a:lnTo>
                  <a:pt x="1600199" y="483107"/>
                </a:lnTo>
                <a:lnTo>
                  <a:pt x="1612391" y="483107"/>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61446" name="object 8"/>
          <p:cNvSpPr txBox="1">
            <a:spLocks noChangeArrowheads="1"/>
          </p:cNvSpPr>
          <p:nvPr/>
        </p:nvSpPr>
        <p:spPr bwMode="auto">
          <a:xfrm>
            <a:off x="1031875" y="5434013"/>
            <a:ext cx="76120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 pos="1636713" algn="l"/>
              </a:tabLst>
              <a:defRPr sz="2000">
                <a:solidFill>
                  <a:schemeClr val="tx1"/>
                </a:solidFill>
                <a:latin typeface="Verdana" pitchFamily="34" charset="0"/>
                <a:cs typeface="Arial" charset="0"/>
              </a:defRPr>
            </a:lvl1pPr>
            <a:lvl2pPr marL="742950" indent="-285750" eaLnBrk="0" hangingPunct="0">
              <a:tabLst>
                <a:tab pos="355600" algn="l"/>
                <a:tab pos="1636713" algn="l"/>
              </a:tabLst>
              <a:defRPr sz="2000">
                <a:solidFill>
                  <a:schemeClr val="tx1"/>
                </a:solidFill>
                <a:latin typeface="Verdana" pitchFamily="34" charset="0"/>
                <a:cs typeface="Arial" charset="0"/>
              </a:defRPr>
            </a:lvl2pPr>
            <a:lvl3pPr marL="1143000" indent="-228600" eaLnBrk="0" hangingPunct="0">
              <a:tabLst>
                <a:tab pos="355600" algn="l"/>
                <a:tab pos="1636713" algn="l"/>
              </a:tabLst>
              <a:defRPr sz="2000">
                <a:solidFill>
                  <a:schemeClr val="tx1"/>
                </a:solidFill>
                <a:latin typeface="Verdana" pitchFamily="34" charset="0"/>
                <a:cs typeface="Arial" charset="0"/>
              </a:defRPr>
            </a:lvl3pPr>
            <a:lvl4pPr marL="1600200" indent="-228600" eaLnBrk="0" hangingPunct="0">
              <a:tabLst>
                <a:tab pos="355600" algn="l"/>
                <a:tab pos="1636713" algn="l"/>
              </a:tabLst>
              <a:defRPr sz="2000">
                <a:solidFill>
                  <a:schemeClr val="tx1"/>
                </a:solidFill>
                <a:latin typeface="Verdana" pitchFamily="34" charset="0"/>
                <a:cs typeface="Arial" charset="0"/>
              </a:defRPr>
            </a:lvl4pPr>
            <a:lvl5pPr marL="2057400" indent="-228600" eaLnBrk="0" hangingPunct="0">
              <a:tabLst>
                <a:tab pos="355600" algn="l"/>
                <a:tab pos="1636713"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 pos="1636713"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 pos="1636713"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 pos="1636713"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 pos="1636713" algn="l"/>
              </a:tabLst>
              <a:defRPr sz="2000">
                <a:solidFill>
                  <a:schemeClr val="tx1"/>
                </a:solidFill>
                <a:latin typeface="Verdana" pitchFamily="34" charset="0"/>
                <a:cs typeface="Arial" charset="0"/>
              </a:defRPr>
            </a:lvl9pPr>
          </a:lstStyle>
          <a:p>
            <a:pPr algn="just" eaLnBrk="1" hangingPunct="1">
              <a:spcBef>
                <a:spcPct val="0"/>
              </a:spcBef>
              <a:buFont typeface="Arial" charset="0"/>
              <a:buChar char="•"/>
            </a:pPr>
            <a:r>
              <a:rPr lang="fr-FR" i="1" dirty="0">
                <a:latin typeface="Arial" charset="0"/>
              </a:rPr>
              <a:t>DNS </a:t>
            </a:r>
            <a:r>
              <a:rPr lang="fr-FR" dirty="0">
                <a:latin typeface="Arial" charset="0"/>
              </a:rPr>
              <a:t>(TCP/UDP 53) est une base de données distribuée hiérarchisée qui  contient   les mappages de noms de domaine DNS à divers types de  données, notamment des adresses IP.</a:t>
            </a:r>
          </a:p>
        </p:txBody>
      </p:sp>
      <p:grpSp>
        <p:nvGrpSpPr>
          <p:cNvPr id="61447" name="Groupe 11"/>
          <p:cNvGrpSpPr>
            <a:grpSpLocks/>
          </p:cNvGrpSpPr>
          <p:nvPr/>
        </p:nvGrpSpPr>
        <p:grpSpPr bwMode="auto">
          <a:xfrm>
            <a:off x="571500" y="1492250"/>
            <a:ext cx="3929063" cy="3619500"/>
            <a:chOff x="571472" y="1491996"/>
            <a:chExt cx="3929089" cy="3619499"/>
          </a:xfrm>
        </p:grpSpPr>
        <p:sp>
          <p:nvSpPr>
            <p:cNvPr id="61452" name="object 4"/>
            <p:cNvSpPr>
              <a:spLocks noChangeArrowheads="1"/>
            </p:cNvSpPr>
            <p:nvPr/>
          </p:nvSpPr>
          <p:spPr bwMode="auto">
            <a:xfrm>
              <a:off x="571472" y="1491996"/>
              <a:ext cx="3929089" cy="2285999"/>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61453" name="object 9"/>
            <p:cNvSpPr>
              <a:spLocks noChangeArrowheads="1"/>
            </p:cNvSpPr>
            <p:nvPr/>
          </p:nvSpPr>
          <p:spPr bwMode="auto">
            <a:xfrm>
              <a:off x="571472" y="3777995"/>
              <a:ext cx="3929089" cy="13335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grpSp>
      <p:grpSp>
        <p:nvGrpSpPr>
          <p:cNvPr id="61448" name="Groupe 12"/>
          <p:cNvGrpSpPr>
            <a:grpSpLocks/>
          </p:cNvGrpSpPr>
          <p:nvPr/>
        </p:nvGrpSpPr>
        <p:grpSpPr bwMode="auto">
          <a:xfrm>
            <a:off x="5000625" y="1492250"/>
            <a:ext cx="4000500" cy="3600450"/>
            <a:chOff x="5000629" y="1491996"/>
            <a:chExt cx="4000528" cy="3601211"/>
          </a:xfrm>
        </p:grpSpPr>
        <p:sp>
          <p:nvSpPr>
            <p:cNvPr id="61450" name="object 5"/>
            <p:cNvSpPr>
              <a:spLocks noChangeArrowheads="1"/>
            </p:cNvSpPr>
            <p:nvPr/>
          </p:nvSpPr>
          <p:spPr bwMode="auto">
            <a:xfrm>
              <a:off x="5000629" y="1491996"/>
              <a:ext cx="4000528" cy="2285999"/>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61451" name="object 10"/>
            <p:cNvSpPr>
              <a:spLocks noChangeArrowheads="1"/>
            </p:cNvSpPr>
            <p:nvPr/>
          </p:nvSpPr>
          <p:spPr bwMode="auto">
            <a:xfrm>
              <a:off x="5000629" y="3777995"/>
              <a:ext cx="4000528" cy="1315212"/>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grpSp>
    </p:spTree>
    <p:custDataLst>
      <p:tags r:id="rId1"/>
    </p:custDataLst>
    <p:extLst>
      <p:ext uri="{BB962C8B-B14F-4D97-AF65-F5344CB8AC3E}">
        <p14:creationId xmlns:p14="http://schemas.microsoft.com/office/powerpoint/2010/main" val="4028749345"/>
      </p:ext>
    </p:extLst>
  </p:cSld>
  <p:clrMapOvr>
    <a:masterClrMapping/>
  </p:clrMapOvr>
  <p:transition>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6349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DNS – Domain Name System</a:t>
            </a:r>
          </a:p>
        </p:txBody>
      </p:sp>
      <p:pic>
        <p:nvPicPr>
          <p:cNvPr id="6349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9763" y="1157288"/>
            <a:ext cx="583247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46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3975" y="4143375"/>
            <a:ext cx="70739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09286708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box(in)">
                                      <p:cBhvr>
                                        <p:cTn id="7" dur="500"/>
                                        <p:tgtEl>
                                          <p:spTgt spid="15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645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DNS – Domain Name System</a:t>
            </a:r>
          </a:p>
        </p:txBody>
      </p:sp>
      <p:pic>
        <p:nvPicPr>
          <p:cNvPr id="6451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4050" y="1071563"/>
            <a:ext cx="63293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56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25" y="4446588"/>
            <a:ext cx="6405563" cy="226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35806505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5651"/>
                                        </p:tgtEl>
                                        <p:attrNameLst>
                                          <p:attrName>style.visibility</p:attrName>
                                        </p:attrNameLst>
                                      </p:cBhvr>
                                      <p:to>
                                        <p:strVal val="visible"/>
                                      </p:to>
                                    </p:set>
                                    <p:animEffect transition="in" filter="box(in)">
                                      <p:cBhvr>
                                        <p:cTn id="7" dur="500"/>
                                        <p:tgtEl>
                                          <p:spTgt spid="155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6553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DNS – Domain Name System</a:t>
            </a:r>
          </a:p>
        </p:txBody>
      </p:sp>
      <p:sp>
        <p:nvSpPr>
          <p:cNvPr id="7" name="Rectangle 6"/>
          <p:cNvSpPr/>
          <p:nvPr/>
        </p:nvSpPr>
        <p:spPr>
          <a:xfrm>
            <a:off x="642938" y="962025"/>
            <a:ext cx="8215312" cy="1323439"/>
          </a:xfrm>
          <a:prstGeom prst="rect">
            <a:avLst/>
          </a:prstGeom>
        </p:spPr>
        <p:txBody>
          <a:bodyPr>
            <a:spAutoFit/>
          </a:bodyPr>
          <a:lstStyle/>
          <a:p>
            <a:pPr algn="just">
              <a:defRPr/>
            </a:pPr>
            <a:r>
              <a:rPr lang="fr-FR" dirty="0">
                <a:latin typeface="+mj-lt"/>
              </a:rPr>
              <a:t>Le protocole DNS utilise un système hiérarchique pour créer une base de données afin d’assurer la résolution de noms. La hiérarchie ressemble à une arborescence inversée dont la racine se situe au sommet et les branches en dessous.</a:t>
            </a:r>
          </a:p>
        </p:txBody>
      </p:sp>
      <p:pic>
        <p:nvPicPr>
          <p:cNvPr id="1566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5388" y="2294430"/>
            <a:ext cx="6753225"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60847372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6674"/>
                                        </p:tgtEl>
                                        <p:attrNameLst>
                                          <p:attrName>style.visibility</p:attrName>
                                        </p:attrNameLst>
                                      </p:cBhvr>
                                      <p:to>
                                        <p:strVal val="visible"/>
                                      </p:to>
                                    </p:set>
                                    <p:animEffect transition="in" filter="box(in)">
                                      <p:cBhvr>
                                        <p:cTn id="7" dur="500"/>
                                        <p:tgtEl>
                                          <p:spTgt spid="156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9"/>
          <p:cNvSpPr txBox="1">
            <a:spLocks noChangeArrowheads="1"/>
          </p:cNvSpPr>
          <p:nvPr/>
        </p:nvSpPr>
        <p:spPr bwMode="auto">
          <a:xfrm>
            <a:off x="971550" y="46038"/>
            <a:ext cx="8172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pPr>
            <a:r>
              <a:rPr lang="fr-FR" sz="1800" b="1">
                <a:solidFill>
                  <a:srgbClr val="000000"/>
                </a:solidFill>
                <a:latin typeface="Arial" charset="0"/>
              </a:rPr>
              <a:t>Fonctionnalité et protocoles des  couches applicatives</a:t>
            </a:r>
          </a:p>
        </p:txBody>
      </p:sp>
      <p:sp>
        <p:nvSpPr>
          <p:cNvPr id="6656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charset="0"/>
              </a:rPr>
              <a:t>DNS – Domain Name System</a:t>
            </a:r>
          </a:p>
        </p:txBody>
      </p:sp>
      <p:sp>
        <p:nvSpPr>
          <p:cNvPr id="66564" name="object 5"/>
          <p:cNvSpPr txBox="1">
            <a:spLocks noChangeArrowheads="1"/>
          </p:cNvSpPr>
          <p:nvPr/>
        </p:nvSpPr>
        <p:spPr bwMode="auto">
          <a:xfrm>
            <a:off x="714375" y="1052670"/>
            <a:ext cx="779462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eaLnBrk="0" hangingPunct="0">
              <a:tabLst>
                <a:tab pos="355600" algn="l"/>
              </a:tabLst>
              <a:defRPr sz="2000">
                <a:solidFill>
                  <a:schemeClr val="tx1"/>
                </a:solidFill>
                <a:latin typeface="Verdana" pitchFamily="34" charset="0"/>
                <a:cs typeface="Arial" charset="0"/>
              </a:defRPr>
            </a:lvl1pPr>
            <a:lvl2pPr marL="742950" indent="-285750" eaLnBrk="0" hangingPunct="0">
              <a:tabLst>
                <a:tab pos="355600" algn="l"/>
              </a:tabLst>
              <a:defRPr sz="2000">
                <a:solidFill>
                  <a:schemeClr val="tx1"/>
                </a:solidFill>
                <a:latin typeface="Verdana" pitchFamily="34" charset="0"/>
                <a:cs typeface="Arial" charset="0"/>
              </a:defRPr>
            </a:lvl2pPr>
            <a:lvl3pPr marL="1143000" indent="-228600" eaLnBrk="0" hangingPunct="0">
              <a:tabLst>
                <a:tab pos="355600" algn="l"/>
              </a:tabLst>
              <a:defRPr sz="2000">
                <a:solidFill>
                  <a:schemeClr val="tx1"/>
                </a:solidFill>
                <a:latin typeface="Verdana" pitchFamily="34" charset="0"/>
                <a:cs typeface="Arial" charset="0"/>
              </a:defRPr>
            </a:lvl3pPr>
            <a:lvl4pPr marL="1600200" indent="-228600" eaLnBrk="0" hangingPunct="0">
              <a:tabLst>
                <a:tab pos="355600" algn="l"/>
              </a:tabLst>
              <a:defRPr sz="2000">
                <a:solidFill>
                  <a:schemeClr val="tx1"/>
                </a:solidFill>
                <a:latin typeface="Verdana" pitchFamily="34" charset="0"/>
                <a:cs typeface="Arial" charset="0"/>
              </a:defRPr>
            </a:lvl4pPr>
            <a:lvl5pPr marL="2057400" indent="-228600" eaLnBrk="0" hangingPunct="0">
              <a:tabLst>
                <a:tab pos="355600" algn="l"/>
              </a:tabLst>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charset="0"/>
              </a:defRPr>
            </a:lvl9pPr>
          </a:lstStyle>
          <a:p>
            <a:pPr algn="just" eaLnBrk="1" hangingPunct="1">
              <a:spcBef>
                <a:spcPct val="0"/>
              </a:spcBef>
              <a:buClr>
                <a:srgbClr val="00007C"/>
              </a:buClr>
              <a:buFont typeface="Wingdings" pitchFamily="2" charset="2"/>
              <a:buChar char=""/>
            </a:pPr>
            <a:r>
              <a:rPr lang="fr-FR" dirty="0">
                <a:solidFill>
                  <a:srgbClr val="333333"/>
                </a:solidFill>
                <a:latin typeface="Arial" charset="0"/>
              </a:rPr>
              <a:t>Le serveur DNS stocke différents types d’</a:t>
            </a:r>
            <a:r>
              <a:rPr lang="fr-FR" b="1" u="sng" dirty="0">
                <a:solidFill>
                  <a:srgbClr val="333333"/>
                </a:solidFill>
                <a:latin typeface="Arial" charset="0"/>
              </a:rPr>
              <a:t>enregistrements de ressource </a:t>
            </a:r>
            <a:r>
              <a:rPr lang="fr-FR" dirty="0">
                <a:solidFill>
                  <a:srgbClr val="333333"/>
                </a:solidFill>
                <a:latin typeface="Arial" charset="0"/>
              </a:rPr>
              <a:t>utilisés  pour permettre à ce serveur DNS de trouver les noms ( résoudre les noms). Ces  enregistrements contiennent le nom, l’adresse IP et le type d’enregistrement:</a:t>
            </a:r>
          </a:p>
        </p:txBody>
      </p:sp>
      <p:graphicFrame>
        <p:nvGraphicFramePr>
          <p:cNvPr id="6" name="object 10"/>
          <p:cNvGraphicFramePr>
            <a:graphicFrameLocks noGrp="1"/>
          </p:cNvGraphicFramePr>
          <p:nvPr/>
        </p:nvGraphicFramePr>
        <p:xfrm>
          <a:off x="928688" y="2428875"/>
          <a:ext cx="7715250" cy="2928938"/>
        </p:xfrm>
        <a:graphic>
          <a:graphicData uri="http://schemas.openxmlformats.org/drawingml/2006/table">
            <a:tbl>
              <a:tblPr/>
              <a:tblGrid>
                <a:gridCol w="2254631">
                  <a:extLst>
                    <a:ext uri="{9D8B030D-6E8A-4147-A177-3AD203B41FA5}">
                      <a16:colId xmlns:a16="http://schemas.microsoft.com/office/drawing/2014/main" val="20000"/>
                    </a:ext>
                  </a:extLst>
                </a:gridCol>
                <a:gridCol w="5460619">
                  <a:extLst>
                    <a:ext uri="{9D8B030D-6E8A-4147-A177-3AD203B41FA5}">
                      <a16:colId xmlns:a16="http://schemas.microsoft.com/office/drawing/2014/main" val="20001"/>
                    </a:ext>
                  </a:extLst>
                </a:gridCol>
              </a:tblGrid>
              <a:tr h="856635">
                <a:tc>
                  <a:txBody>
                    <a:bodyPr/>
                    <a:lstStyle/>
                    <a:p>
                      <a:pPr marL="125413" marR="0" lvl="0" indent="503238" algn="l" defTabSz="914400" rtl="0" eaLnBrk="1" fontAlgn="base" latinLnBrk="0" hangingPunct="1">
                        <a:lnSpc>
                          <a:spcPct val="100000"/>
                        </a:lnSpc>
                        <a:spcBef>
                          <a:spcPts val="238"/>
                        </a:spcBef>
                        <a:spcAft>
                          <a:spcPct val="0"/>
                        </a:spcAft>
                        <a:buClrTx/>
                        <a:buSzTx/>
                        <a:buFontTx/>
                        <a:buNone/>
                        <a:tabLst/>
                      </a:pPr>
                      <a:r>
                        <a:rPr kumimoji="0" lang="fr-FR" sz="1500" b="0" i="0" u="none" strike="noStrike" cap="none" normalizeH="0" baseline="0" dirty="0">
                          <a:ln>
                            <a:noFill/>
                          </a:ln>
                          <a:solidFill>
                            <a:schemeClr val="tx1"/>
                          </a:solidFill>
                          <a:effectLst/>
                          <a:latin typeface="Arial" charset="0"/>
                          <a:cs typeface="Arial" charset="0"/>
                        </a:rPr>
                        <a:t>Type  d'enregistrement</a:t>
                      </a:r>
                    </a:p>
                  </a:txBody>
                  <a:tcPr marL="0" marR="0" marT="0" marB="0" horzOverflow="overflow">
                    <a:lnL w="19811" cap="flat" cmpd="sng" algn="ctr">
                      <a:solidFill>
                        <a:srgbClr val="7F7F7F"/>
                      </a:solidFill>
                      <a:prstDash val="solid"/>
                      <a:round/>
                      <a:headEnd type="none" w="med" len="med"/>
                      <a:tailEnd type="none" w="med" len="med"/>
                    </a:lnL>
                    <a:lnR w="18287"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solidFill>
                      <a:srgbClr val="B2C8DF"/>
                    </a:solidFill>
                  </a:tcPr>
                </a:tc>
                <a:tc>
                  <a:txBody>
                    <a:bodyPr/>
                    <a:lstStyle/>
                    <a:p>
                      <a:pPr marL="0" marR="0" lvl="0" indent="0" algn="ctr" defTabSz="914400" rtl="0" eaLnBrk="1" fontAlgn="base" latinLnBrk="0" hangingPunct="1">
                        <a:lnSpc>
                          <a:spcPct val="100000"/>
                        </a:lnSpc>
                        <a:spcBef>
                          <a:spcPts val="1138"/>
                        </a:spcBef>
                        <a:spcAft>
                          <a:spcPct val="0"/>
                        </a:spcAft>
                        <a:buClrTx/>
                        <a:buSzTx/>
                        <a:buFontTx/>
                        <a:buNone/>
                        <a:tabLst/>
                      </a:pPr>
                      <a:r>
                        <a:rPr kumimoji="0" lang="fr-FR" sz="1500" b="0" i="0" u="none" strike="noStrike" cap="none" normalizeH="0" baseline="0" dirty="0">
                          <a:ln>
                            <a:noFill/>
                          </a:ln>
                          <a:solidFill>
                            <a:schemeClr val="tx1"/>
                          </a:solidFill>
                          <a:effectLst/>
                          <a:latin typeface="Arial" charset="0"/>
                          <a:cs typeface="Arial" charset="0"/>
                        </a:rPr>
                        <a:t>Description</a:t>
                      </a:r>
                    </a:p>
                  </a:txBody>
                  <a:tcPr marL="0" marR="0" marT="0" marB="0" horzOverflow="overflow">
                    <a:lnL w="18287" cap="flat" cmpd="sng" algn="ctr">
                      <a:solidFill>
                        <a:srgbClr val="7F7F7F"/>
                      </a:solidFill>
                      <a:prstDash val="solid"/>
                      <a:round/>
                      <a:headEnd type="none" w="med" len="med"/>
                      <a:tailEnd type="none" w="med" len="med"/>
                    </a:lnL>
                    <a:lnR w="19811"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solidFill>
                      <a:srgbClr val="B2C8DF"/>
                    </a:solidFill>
                  </a:tcPr>
                </a:tc>
                <a:extLst>
                  <a:ext uri="{0D108BD9-81ED-4DB2-BD59-A6C34878D82A}">
                    <a16:rowId xmlns:a16="http://schemas.microsoft.com/office/drawing/2014/main" val="10000"/>
                  </a:ext>
                </a:extLst>
              </a:tr>
              <a:tr h="545895">
                <a:tc>
                  <a:txBody>
                    <a:bodyPr/>
                    <a:lstStyle/>
                    <a:p>
                      <a:pPr marL="79375" marR="0" lvl="0" indent="0" algn="l" defTabSz="914400" rtl="0" eaLnBrk="1" fontAlgn="base" latinLnBrk="0" hangingPunct="1">
                        <a:lnSpc>
                          <a:spcPct val="100000"/>
                        </a:lnSpc>
                        <a:spcBef>
                          <a:spcPts val="363"/>
                        </a:spcBef>
                        <a:spcAft>
                          <a:spcPct val="0"/>
                        </a:spcAft>
                        <a:buClrTx/>
                        <a:buSzTx/>
                        <a:buFontTx/>
                        <a:buNone/>
                        <a:tabLst/>
                      </a:pPr>
                      <a:r>
                        <a:rPr kumimoji="0" lang="fr-FR" sz="1500" b="0" i="0" u="none" strike="noStrike" cap="none" normalizeH="0" baseline="0">
                          <a:ln>
                            <a:noFill/>
                          </a:ln>
                          <a:solidFill>
                            <a:schemeClr val="tx1"/>
                          </a:solidFill>
                          <a:effectLst/>
                          <a:latin typeface="Arial" charset="0"/>
                          <a:cs typeface="Arial" charset="0"/>
                        </a:rPr>
                        <a:t>A</a:t>
                      </a:r>
                    </a:p>
                  </a:txBody>
                  <a:tcPr marL="0" marR="0" marT="0" marB="0" horzOverflow="overflow">
                    <a:lnL w="19811" cap="flat" cmpd="sng" algn="ctr">
                      <a:solidFill>
                        <a:srgbClr val="7F7F7F"/>
                      </a:solidFill>
                      <a:prstDash val="solid"/>
                      <a:round/>
                      <a:headEnd type="none" w="med" len="med"/>
                      <a:tailEnd type="none" w="med" len="med"/>
                    </a:lnL>
                    <a:lnR w="18287"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noFill/>
                  </a:tcPr>
                </a:tc>
                <a:tc>
                  <a:txBody>
                    <a:bodyPr/>
                    <a:lstStyle/>
                    <a:p>
                      <a:pPr marL="80963" marR="0" lvl="0" indent="0" algn="l" defTabSz="914400" rtl="0" eaLnBrk="1" fontAlgn="base" latinLnBrk="0" hangingPunct="1">
                        <a:lnSpc>
                          <a:spcPct val="100000"/>
                        </a:lnSpc>
                        <a:spcBef>
                          <a:spcPts val="363"/>
                        </a:spcBef>
                        <a:spcAft>
                          <a:spcPct val="0"/>
                        </a:spcAft>
                        <a:buClrTx/>
                        <a:buSzTx/>
                        <a:buFontTx/>
                        <a:buNone/>
                        <a:tabLst/>
                      </a:pPr>
                      <a:r>
                        <a:rPr kumimoji="0" lang="fr-FR" sz="1500" b="1" i="0" u="none" strike="noStrike" cap="none" normalizeH="0" baseline="0">
                          <a:ln>
                            <a:noFill/>
                          </a:ln>
                          <a:solidFill>
                            <a:schemeClr val="tx1"/>
                          </a:solidFill>
                          <a:effectLst/>
                          <a:latin typeface="Arial" charset="0"/>
                          <a:cs typeface="Arial" charset="0"/>
                        </a:rPr>
                        <a:t>Résout un nom d'hôte en adresse IP</a:t>
                      </a:r>
                      <a:endParaRPr kumimoji="0" lang="fr-FR" sz="1500" b="0" i="0" u="none" strike="noStrike" cap="none" normalizeH="0" baseline="0">
                        <a:ln>
                          <a:noFill/>
                        </a:ln>
                        <a:solidFill>
                          <a:schemeClr val="tx1"/>
                        </a:solidFill>
                        <a:effectLst/>
                        <a:latin typeface="Arial" charset="0"/>
                        <a:cs typeface="Arial" charset="0"/>
                      </a:endParaRPr>
                    </a:p>
                  </a:txBody>
                  <a:tcPr marL="0" marR="0" marT="0" marB="0" horzOverflow="overflow">
                    <a:lnL w="18287" cap="flat" cmpd="sng" algn="ctr">
                      <a:solidFill>
                        <a:srgbClr val="7F7F7F"/>
                      </a:solidFill>
                      <a:prstDash val="solid"/>
                      <a:round/>
                      <a:headEnd type="none" w="med" len="med"/>
                      <a:tailEnd type="none" w="med" len="med"/>
                    </a:lnL>
                    <a:lnR w="19811"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solidFill>
                      <a:srgbClr val="9898FF"/>
                    </a:solidFill>
                  </a:tcPr>
                </a:tc>
                <a:extLst>
                  <a:ext uri="{0D108BD9-81ED-4DB2-BD59-A6C34878D82A}">
                    <a16:rowId xmlns:a16="http://schemas.microsoft.com/office/drawing/2014/main" val="10001"/>
                  </a:ext>
                </a:extLst>
              </a:tr>
              <a:tr h="499704">
                <a:tc>
                  <a:txBody>
                    <a:bodyPr/>
                    <a:lstStyle/>
                    <a:p>
                      <a:pPr marL="79375" marR="0" lvl="0" indent="0" algn="l" defTabSz="914400" rtl="0" eaLnBrk="1" fontAlgn="base" latinLnBrk="0" hangingPunct="1">
                        <a:lnSpc>
                          <a:spcPct val="100000"/>
                        </a:lnSpc>
                        <a:spcBef>
                          <a:spcPts val="238"/>
                        </a:spcBef>
                        <a:spcAft>
                          <a:spcPct val="0"/>
                        </a:spcAft>
                        <a:buClrTx/>
                        <a:buSzTx/>
                        <a:buFontTx/>
                        <a:buNone/>
                        <a:tabLst/>
                      </a:pPr>
                      <a:r>
                        <a:rPr kumimoji="0" lang="fr-FR" sz="1500" b="0" i="0" u="none" strike="noStrike" cap="none" normalizeH="0" baseline="0">
                          <a:ln>
                            <a:noFill/>
                          </a:ln>
                          <a:solidFill>
                            <a:schemeClr val="tx1"/>
                          </a:solidFill>
                          <a:effectLst/>
                          <a:latin typeface="Arial" charset="0"/>
                          <a:cs typeface="Arial" charset="0"/>
                        </a:rPr>
                        <a:t>NS</a:t>
                      </a:r>
                    </a:p>
                  </a:txBody>
                  <a:tcPr marL="0" marR="0" marT="0" marB="0" horzOverflow="overflow">
                    <a:lnL w="19811" cap="flat" cmpd="sng" algn="ctr">
                      <a:solidFill>
                        <a:srgbClr val="7F7F7F"/>
                      </a:solidFill>
                      <a:prstDash val="solid"/>
                      <a:round/>
                      <a:headEnd type="none" w="med" len="med"/>
                      <a:tailEnd type="none" w="med" len="med"/>
                    </a:lnL>
                    <a:lnR w="18287"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noFill/>
                  </a:tcPr>
                </a:tc>
                <a:tc>
                  <a:txBody>
                    <a:bodyPr/>
                    <a:lstStyle/>
                    <a:p>
                      <a:pPr marL="80963" marR="0" lvl="0" indent="0" algn="l" defTabSz="914400" rtl="0" eaLnBrk="1" fontAlgn="base" latinLnBrk="0" hangingPunct="1">
                        <a:lnSpc>
                          <a:spcPct val="100000"/>
                        </a:lnSpc>
                        <a:spcBef>
                          <a:spcPts val="238"/>
                        </a:spcBef>
                        <a:spcAft>
                          <a:spcPct val="0"/>
                        </a:spcAft>
                        <a:buClrTx/>
                        <a:buSzTx/>
                        <a:buFontTx/>
                        <a:buNone/>
                        <a:tabLst/>
                      </a:pPr>
                      <a:r>
                        <a:rPr kumimoji="0" lang="fr-FR" sz="1500" b="1" i="0" u="none" strike="noStrike" cap="none" normalizeH="0" baseline="0">
                          <a:ln>
                            <a:noFill/>
                          </a:ln>
                          <a:solidFill>
                            <a:schemeClr val="tx1"/>
                          </a:solidFill>
                          <a:effectLst/>
                          <a:latin typeface="Arial" charset="0"/>
                          <a:cs typeface="Arial" charset="0"/>
                        </a:rPr>
                        <a:t>Identifie le serveur DNS associé à chaque zone</a:t>
                      </a:r>
                      <a:endParaRPr kumimoji="0" lang="fr-FR" sz="1500" b="0" i="0" u="none" strike="noStrike" cap="none" normalizeH="0" baseline="0">
                        <a:ln>
                          <a:noFill/>
                        </a:ln>
                        <a:solidFill>
                          <a:schemeClr val="tx1"/>
                        </a:solidFill>
                        <a:effectLst/>
                        <a:latin typeface="Arial" charset="0"/>
                        <a:cs typeface="Arial" charset="0"/>
                      </a:endParaRPr>
                    </a:p>
                  </a:txBody>
                  <a:tcPr marL="0" marR="0" marT="0" marB="0" horzOverflow="overflow">
                    <a:lnL w="18287" cap="flat" cmpd="sng" algn="ctr">
                      <a:solidFill>
                        <a:srgbClr val="7F7F7F"/>
                      </a:solidFill>
                      <a:prstDash val="solid"/>
                      <a:round/>
                      <a:headEnd type="none" w="med" len="med"/>
                      <a:tailEnd type="none" w="med" len="med"/>
                    </a:lnL>
                    <a:lnR w="19811"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solidFill>
                      <a:srgbClr val="9898FF"/>
                    </a:solidFill>
                  </a:tcPr>
                </a:tc>
                <a:extLst>
                  <a:ext uri="{0D108BD9-81ED-4DB2-BD59-A6C34878D82A}">
                    <a16:rowId xmlns:a16="http://schemas.microsoft.com/office/drawing/2014/main" val="10002"/>
                  </a:ext>
                </a:extLst>
              </a:tr>
              <a:tr h="527000">
                <a:tc>
                  <a:txBody>
                    <a:bodyPr/>
                    <a:lstStyle/>
                    <a:p>
                      <a:pPr marL="79375" marR="0" lvl="0" indent="0" algn="l" defTabSz="914400" rtl="0" eaLnBrk="1" fontAlgn="base" latinLnBrk="0" hangingPunct="1">
                        <a:lnSpc>
                          <a:spcPct val="100000"/>
                        </a:lnSpc>
                        <a:spcBef>
                          <a:spcPts val="313"/>
                        </a:spcBef>
                        <a:spcAft>
                          <a:spcPct val="0"/>
                        </a:spcAft>
                        <a:buClrTx/>
                        <a:buSzTx/>
                        <a:buFontTx/>
                        <a:buNone/>
                        <a:tabLst/>
                      </a:pPr>
                      <a:r>
                        <a:rPr kumimoji="0" lang="fr-FR" sz="1500" b="0" i="0" u="none" strike="noStrike" cap="none" normalizeH="0" baseline="0">
                          <a:ln>
                            <a:noFill/>
                          </a:ln>
                          <a:solidFill>
                            <a:schemeClr val="tx1"/>
                          </a:solidFill>
                          <a:effectLst/>
                          <a:latin typeface="Arial" charset="0"/>
                          <a:cs typeface="Arial" charset="0"/>
                        </a:rPr>
                        <a:t>MX</a:t>
                      </a:r>
                    </a:p>
                  </a:txBody>
                  <a:tcPr marL="0" marR="0" marT="0" marB="0" horzOverflow="overflow">
                    <a:lnL w="19811" cap="flat" cmpd="sng" algn="ctr">
                      <a:solidFill>
                        <a:srgbClr val="7F7F7F"/>
                      </a:solidFill>
                      <a:prstDash val="solid"/>
                      <a:round/>
                      <a:headEnd type="none" w="med" len="med"/>
                      <a:tailEnd type="none" w="med" len="med"/>
                    </a:lnL>
                    <a:lnR w="18287"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noFill/>
                  </a:tcPr>
                </a:tc>
                <a:tc>
                  <a:txBody>
                    <a:bodyPr/>
                    <a:lstStyle/>
                    <a:p>
                      <a:pPr marL="80963" marR="0" lvl="0" indent="0" algn="l" defTabSz="914400" rtl="0" eaLnBrk="1" fontAlgn="base" latinLnBrk="0" hangingPunct="1">
                        <a:lnSpc>
                          <a:spcPct val="100000"/>
                        </a:lnSpc>
                        <a:spcBef>
                          <a:spcPts val="313"/>
                        </a:spcBef>
                        <a:spcAft>
                          <a:spcPct val="0"/>
                        </a:spcAft>
                        <a:buClrTx/>
                        <a:buSzTx/>
                        <a:buFontTx/>
                        <a:buNone/>
                        <a:tabLst/>
                      </a:pPr>
                      <a:r>
                        <a:rPr kumimoji="0" lang="fr-FR" sz="1500" b="1" i="0" u="none" strike="noStrike" cap="none" normalizeH="0" baseline="0">
                          <a:ln>
                            <a:noFill/>
                          </a:ln>
                          <a:solidFill>
                            <a:schemeClr val="tx1"/>
                          </a:solidFill>
                          <a:effectLst/>
                          <a:latin typeface="Arial" charset="0"/>
                          <a:cs typeface="Arial" charset="0"/>
                        </a:rPr>
                        <a:t>Serveur de messagerie</a:t>
                      </a:r>
                      <a:endParaRPr kumimoji="0" lang="fr-FR" sz="1500" b="0" i="0" u="none" strike="noStrike" cap="none" normalizeH="0" baseline="0">
                        <a:ln>
                          <a:noFill/>
                        </a:ln>
                        <a:solidFill>
                          <a:schemeClr val="tx1"/>
                        </a:solidFill>
                        <a:effectLst/>
                        <a:latin typeface="Arial" charset="0"/>
                        <a:cs typeface="Arial" charset="0"/>
                      </a:endParaRPr>
                    </a:p>
                  </a:txBody>
                  <a:tcPr marL="0" marR="0" marT="0" marB="0" horzOverflow="overflow">
                    <a:lnL w="18287" cap="flat" cmpd="sng" algn="ctr">
                      <a:solidFill>
                        <a:srgbClr val="7F7F7F"/>
                      </a:solidFill>
                      <a:prstDash val="solid"/>
                      <a:round/>
                      <a:headEnd type="none" w="med" len="med"/>
                      <a:tailEnd type="none" w="med" len="med"/>
                    </a:lnL>
                    <a:lnR w="19811"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solidFill>
                      <a:srgbClr val="9898FF"/>
                    </a:solidFill>
                  </a:tcPr>
                </a:tc>
                <a:extLst>
                  <a:ext uri="{0D108BD9-81ED-4DB2-BD59-A6C34878D82A}">
                    <a16:rowId xmlns:a16="http://schemas.microsoft.com/office/drawing/2014/main" val="10003"/>
                  </a:ext>
                </a:extLst>
              </a:tr>
              <a:tr h="499704">
                <a:tc>
                  <a:txBody>
                    <a:bodyPr/>
                    <a:lstStyle/>
                    <a:p>
                      <a:pPr marL="79375" marR="0" lvl="0" indent="0" algn="l" defTabSz="914400" rtl="0" eaLnBrk="1" fontAlgn="base" latinLnBrk="0" hangingPunct="1">
                        <a:lnSpc>
                          <a:spcPct val="100000"/>
                        </a:lnSpc>
                        <a:spcBef>
                          <a:spcPts val="238"/>
                        </a:spcBef>
                        <a:spcAft>
                          <a:spcPct val="0"/>
                        </a:spcAft>
                        <a:buClrTx/>
                        <a:buSzTx/>
                        <a:buFontTx/>
                        <a:buNone/>
                        <a:tabLst/>
                      </a:pPr>
                      <a:r>
                        <a:rPr kumimoji="0" lang="fr-FR" sz="1500" b="0" i="0" u="none" strike="noStrike" cap="none" normalizeH="0" baseline="0">
                          <a:ln>
                            <a:noFill/>
                          </a:ln>
                          <a:solidFill>
                            <a:schemeClr val="tx1"/>
                          </a:solidFill>
                          <a:effectLst/>
                          <a:latin typeface="Arial" charset="0"/>
                          <a:cs typeface="Arial" charset="0"/>
                        </a:rPr>
                        <a:t>CNAME</a:t>
                      </a:r>
                    </a:p>
                  </a:txBody>
                  <a:tcPr marL="0" marR="0" marT="0" marB="0" horzOverflow="overflow">
                    <a:lnL w="19811" cap="flat" cmpd="sng" algn="ctr">
                      <a:solidFill>
                        <a:srgbClr val="7F7F7F"/>
                      </a:solidFill>
                      <a:prstDash val="solid"/>
                      <a:round/>
                      <a:headEnd type="none" w="med" len="med"/>
                      <a:tailEnd type="none" w="med" len="med"/>
                    </a:lnL>
                    <a:lnR w="18287"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noFill/>
                  </a:tcPr>
                </a:tc>
                <a:tc>
                  <a:txBody>
                    <a:bodyPr/>
                    <a:lstStyle/>
                    <a:p>
                      <a:pPr marL="80963" marR="0" lvl="0" indent="0" algn="l" defTabSz="914400" rtl="0" eaLnBrk="1" fontAlgn="base" latinLnBrk="0" hangingPunct="1">
                        <a:lnSpc>
                          <a:spcPct val="100000"/>
                        </a:lnSpc>
                        <a:spcBef>
                          <a:spcPts val="238"/>
                        </a:spcBef>
                        <a:spcAft>
                          <a:spcPct val="0"/>
                        </a:spcAft>
                        <a:buClrTx/>
                        <a:buSzTx/>
                        <a:buFontTx/>
                        <a:buNone/>
                        <a:tabLst/>
                      </a:pPr>
                      <a:r>
                        <a:rPr kumimoji="0" lang="fr-FR" sz="1500" b="1" i="0" u="none" strike="noStrike" cap="none" normalizeH="0" baseline="0" dirty="0">
                          <a:ln>
                            <a:noFill/>
                          </a:ln>
                          <a:solidFill>
                            <a:schemeClr val="tx1"/>
                          </a:solidFill>
                          <a:effectLst/>
                          <a:latin typeface="Arial" charset="0"/>
                          <a:cs typeface="Arial" charset="0"/>
                        </a:rPr>
                        <a:t>Résout un nom d'hôte en nom d'hôte</a:t>
                      </a:r>
                      <a:endParaRPr kumimoji="0" lang="fr-FR" sz="1500" b="0" i="0" u="none" strike="noStrike" cap="none" normalizeH="0" baseline="0" dirty="0">
                        <a:ln>
                          <a:noFill/>
                        </a:ln>
                        <a:solidFill>
                          <a:schemeClr val="tx1"/>
                        </a:solidFill>
                        <a:effectLst/>
                        <a:latin typeface="Arial" charset="0"/>
                        <a:cs typeface="Arial" charset="0"/>
                      </a:endParaRPr>
                    </a:p>
                  </a:txBody>
                  <a:tcPr marL="0" marR="0" marT="0" marB="0" horzOverflow="overflow">
                    <a:lnL w="18287" cap="flat" cmpd="sng" algn="ctr">
                      <a:solidFill>
                        <a:srgbClr val="7F7F7F"/>
                      </a:solidFill>
                      <a:prstDash val="solid"/>
                      <a:round/>
                      <a:headEnd type="none" w="med" len="med"/>
                      <a:tailEnd type="none" w="med" len="med"/>
                    </a:lnL>
                    <a:lnR w="19811" cap="flat" cmpd="sng" algn="ctr">
                      <a:solidFill>
                        <a:srgbClr val="7F7F7F"/>
                      </a:solidFill>
                      <a:prstDash val="solid"/>
                      <a:round/>
                      <a:headEnd type="none" w="med" len="med"/>
                      <a:tailEnd type="none" w="med" len="med"/>
                    </a:lnR>
                    <a:lnT w="19811" cap="flat" cmpd="sng" algn="ctr">
                      <a:solidFill>
                        <a:srgbClr val="7F7F7F"/>
                      </a:solidFill>
                      <a:prstDash val="solid"/>
                      <a:round/>
                      <a:headEnd type="none" w="med" len="med"/>
                      <a:tailEnd type="none" w="med" len="med"/>
                    </a:lnT>
                    <a:lnB w="19811" cap="flat" cmpd="sng" algn="ctr">
                      <a:solidFill>
                        <a:srgbClr val="7F7F7F"/>
                      </a:solidFill>
                      <a:prstDash val="solid"/>
                      <a:round/>
                      <a:headEnd type="none" w="med" len="med"/>
                      <a:tailEnd type="none" w="med" len="med"/>
                    </a:lnB>
                    <a:lnTlToBr>
                      <a:noFill/>
                    </a:lnTlToBr>
                    <a:lnBlToTr>
                      <a:noFill/>
                    </a:lnBlToTr>
                    <a:solidFill>
                      <a:srgbClr val="9898FF"/>
                    </a:solid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4975421"/>
      </p:ext>
    </p:extLst>
  </p:cSld>
  <p:clrMapOvr>
    <a:masterClrMapping/>
  </p:clrMapOvr>
  <p:transition>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8.xml><?xml version="1.0" encoding="utf-8"?>
<p:tagLst xmlns:a="http://schemas.openxmlformats.org/drawingml/2006/main" xmlns:r="http://schemas.openxmlformats.org/officeDocument/2006/relationships" xmlns:p="http://schemas.openxmlformats.org/presentationml/2006/main">
  <p:tag name="ARTICULATE_SLIDE_PAUSE" val="0"/>
</p:tagLst>
</file>

<file path=ppt/theme/theme1.xml><?xml version="1.0" encoding="utf-8"?>
<a:theme xmlns:a="http://schemas.openxmlformats.org/drawingml/2006/main" name="Rapid E-Learning Course Template">
  <a:themeElements>
    <a:clrScheme name="Rapid E-Learning Course Template 2">
      <a:dk1>
        <a:srgbClr val="4D4D4D"/>
      </a:dk1>
      <a:lt1>
        <a:srgbClr val="FFFFFF"/>
      </a:lt1>
      <a:dk2>
        <a:srgbClr val="FFFFC2"/>
      </a:dk2>
      <a:lt2>
        <a:srgbClr val="969696"/>
      </a:lt2>
      <a:accent1>
        <a:srgbClr val="D3D7DB"/>
      </a:accent1>
      <a:accent2>
        <a:srgbClr val="A5C3DB"/>
      </a:accent2>
      <a:accent3>
        <a:srgbClr val="FFFFFF"/>
      </a:accent3>
      <a:accent4>
        <a:srgbClr val="404040"/>
      </a:accent4>
      <a:accent5>
        <a:srgbClr val="E6E8EA"/>
      </a:accent5>
      <a:accent6>
        <a:srgbClr val="95B0C6"/>
      </a:accent6>
      <a:hlink>
        <a:srgbClr val="777777"/>
      </a:hlink>
      <a:folHlink>
        <a:srgbClr val="B2B2B2"/>
      </a:folHlink>
    </a:clrScheme>
    <a:fontScheme name="Rapid E-Learning Cours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0000" tIns="46800" rIns="90000" bIns="46800" numCol="1" anchor="ctr"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defRPr kumimoji="0" lang="fr-FR" sz="2000" b="0" i="0" u="none" strike="noStrike" cap="none" normalizeH="0" baseline="0" smtClean="0">
            <a:ln>
              <a:noFill/>
            </a:ln>
            <a:solidFill>
              <a:schemeClr val="tx1"/>
            </a:solidFill>
            <a:effectLst/>
            <a:latin typeface="Verdana" pitchFamily="34"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0000" tIns="46800" rIns="90000" bIns="46800" numCol="1" anchor="ctr"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defRPr kumimoji="0" lang="fr-FR" sz="2000" b="0" i="0" u="none" strike="noStrike" cap="none" normalizeH="0" baseline="0" smtClean="0">
            <a:ln>
              <a:noFill/>
            </a:ln>
            <a:solidFill>
              <a:schemeClr val="tx1"/>
            </a:solidFill>
            <a:effectLst/>
            <a:latin typeface="Verdana" pitchFamily="34" charset="0"/>
            <a:cs typeface="Arial" charset="0"/>
          </a:defRPr>
        </a:defPPr>
      </a:lstStyle>
    </a:lnDef>
  </a:objectDefaults>
  <a:extraClrSchemeLst>
    <a:extraClrScheme>
      <a:clrScheme name="Rapid E-Learning Course Template 1">
        <a:dk1>
          <a:srgbClr val="336699"/>
        </a:dk1>
        <a:lt1>
          <a:srgbClr val="FFFFFF"/>
        </a:lt1>
        <a:dk2>
          <a:srgbClr val="FFFFC2"/>
        </a:dk2>
        <a:lt2>
          <a:srgbClr val="969696"/>
        </a:lt2>
        <a:accent1>
          <a:srgbClr val="C3F1BD"/>
        </a:accent1>
        <a:accent2>
          <a:srgbClr val="DAE6F0"/>
        </a:accent2>
        <a:accent3>
          <a:srgbClr val="FFFFFF"/>
        </a:accent3>
        <a:accent4>
          <a:srgbClr val="2A5682"/>
        </a:accent4>
        <a:accent5>
          <a:srgbClr val="DEF7DB"/>
        </a:accent5>
        <a:accent6>
          <a:srgbClr val="C5D0D9"/>
        </a:accent6>
        <a:hlink>
          <a:srgbClr val="D68484"/>
        </a:hlink>
        <a:folHlink>
          <a:srgbClr val="6698CC"/>
        </a:folHlink>
      </a:clrScheme>
      <a:clrMap bg1="lt1" tx1="dk1" bg2="lt2" tx2="dk2" accent1="accent1" accent2="accent2" accent3="accent3" accent4="accent4" accent5="accent5" accent6="accent6" hlink="hlink" folHlink="folHlink"/>
    </a:extraClrScheme>
    <a:extraClrScheme>
      <a:clrScheme name="Rapid E-Learning Course Template 2">
        <a:dk1>
          <a:srgbClr val="4D4D4D"/>
        </a:dk1>
        <a:lt1>
          <a:srgbClr val="FFFFFF"/>
        </a:lt1>
        <a:dk2>
          <a:srgbClr val="FFFFC2"/>
        </a:dk2>
        <a:lt2>
          <a:srgbClr val="969696"/>
        </a:lt2>
        <a:accent1>
          <a:srgbClr val="D3D7DB"/>
        </a:accent1>
        <a:accent2>
          <a:srgbClr val="A5C3DB"/>
        </a:accent2>
        <a:accent3>
          <a:srgbClr val="FFFFFF"/>
        </a:accent3>
        <a:accent4>
          <a:srgbClr val="404040"/>
        </a:accent4>
        <a:accent5>
          <a:srgbClr val="E6E8EA"/>
        </a:accent5>
        <a:accent6>
          <a:srgbClr val="95B0C6"/>
        </a:accent6>
        <a:hlink>
          <a:srgbClr val="777777"/>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3288</TotalTime>
  <Words>3602</Words>
  <Application>Microsoft Office PowerPoint</Application>
  <PresentationFormat>Affichage à l'écran (4:3)</PresentationFormat>
  <Paragraphs>646</Paragraphs>
  <Slides>53</Slides>
  <Notes>39</Notes>
  <HiddenSlides>0</HiddenSlides>
  <MMClips>0</MMClips>
  <ScaleCrop>false</ScaleCrop>
  <HeadingPairs>
    <vt:vector size="8" baseType="variant">
      <vt:variant>
        <vt:lpstr>Polices utilisées</vt:lpstr>
      </vt:variant>
      <vt:variant>
        <vt:i4>6</vt:i4>
      </vt:variant>
      <vt:variant>
        <vt:lpstr>Thème</vt:lpstr>
      </vt:variant>
      <vt:variant>
        <vt:i4>2</vt:i4>
      </vt:variant>
      <vt:variant>
        <vt:lpstr>Serveurs OLE incorporés</vt:lpstr>
      </vt:variant>
      <vt:variant>
        <vt:i4>1</vt:i4>
      </vt:variant>
      <vt:variant>
        <vt:lpstr>Titres des diapositives</vt:lpstr>
      </vt:variant>
      <vt:variant>
        <vt:i4>53</vt:i4>
      </vt:variant>
    </vt:vector>
  </HeadingPairs>
  <TitlesOfParts>
    <vt:vector size="62" baseType="lpstr">
      <vt:lpstr>Arial</vt:lpstr>
      <vt:lpstr>Calibri</vt:lpstr>
      <vt:lpstr>Courier New</vt:lpstr>
      <vt:lpstr>Times New Roman</vt:lpstr>
      <vt:lpstr>Verdana</vt:lpstr>
      <vt:lpstr>Wingdings</vt:lpstr>
      <vt:lpstr>Rapid E-Learning Course Template</vt:lpstr>
      <vt:lpstr>Conception personnalisée</vt:lpstr>
      <vt:lpstr>CorelDRAW</vt:lpstr>
      <vt:lpstr>Réseaux Informatiques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Fonctionnalité et protocoles des  couches applicatives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Modèle OSI et TCP/IP</dc:title>
  <dc:subject>CISCO CCNA1</dc:subject>
  <dc:creator>HP</dc:creator>
  <cp:lastModifiedBy>Admin</cp:lastModifiedBy>
  <cp:revision>354</cp:revision>
  <dcterms:created xsi:type="dcterms:W3CDTF">2004-09-23T08:45:48Z</dcterms:created>
  <dcterms:modified xsi:type="dcterms:W3CDTF">2025-02-18T09:00:04Z</dcterms:modified>
</cp:coreProperties>
</file>